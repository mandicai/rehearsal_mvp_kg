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Default Extension="jpg" ContentType="image/jpg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18288000" cy="10287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chemeClr val="tx1"/>
                </a:solidFill>
                <a:latin typeface="Adobe Clean Black"/>
                <a:cs typeface="Adobe Clean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dobe Clean"/>
                <a:cs typeface="Adobe Clean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chemeClr val="tx1"/>
                </a:solidFill>
                <a:latin typeface="Adobe Clean Black"/>
                <a:cs typeface="Adobe Clean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dobe Clean"/>
                <a:cs typeface="Adobe Clean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chemeClr val="tx1"/>
                </a:solidFill>
                <a:latin typeface="Adobe Clean Black"/>
                <a:cs typeface="Adobe Clean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15265" cy="10287000"/>
          </a:xfrm>
          <a:custGeom>
            <a:avLst/>
            <a:gdLst/>
            <a:ahLst/>
            <a:cxnLst/>
            <a:rect l="l" t="t" r="r" b="b"/>
            <a:pathLst>
              <a:path w="215265" h="10287000">
                <a:moveTo>
                  <a:pt x="215061" y="0"/>
                </a:moveTo>
                <a:lnTo>
                  <a:pt x="0" y="0"/>
                </a:lnTo>
                <a:lnTo>
                  <a:pt x="0" y="10287000"/>
                </a:lnTo>
                <a:lnTo>
                  <a:pt x="215061" y="10287000"/>
                </a:lnTo>
                <a:lnTo>
                  <a:pt x="215061" y="0"/>
                </a:lnTo>
                <a:close/>
              </a:path>
            </a:pathLst>
          </a:custGeom>
          <a:solidFill>
            <a:srgbClr val="EB1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chemeClr val="tx1"/>
                </a:solidFill>
                <a:latin typeface="Adobe Clean Black"/>
                <a:cs typeface="Adobe Clean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14400" y="9780257"/>
            <a:ext cx="898461" cy="21584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0"/>
            <a:ext cx="215265" cy="10287000"/>
          </a:xfrm>
          <a:custGeom>
            <a:avLst/>
            <a:gdLst/>
            <a:ahLst/>
            <a:cxnLst/>
            <a:rect l="l" t="t" r="r" b="b"/>
            <a:pathLst>
              <a:path w="215265" h="10287000">
                <a:moveTo>
                  <a:pt x="215061" y="0"/>
                </a:moveTo>
                <a:lnTo>
                  <a:pt x="0" y="0"/>
                </a:lnTo>
                <a:lnTo>
                  <a:pt x="0" y="10287000"/>
                </a:lnTo>
                <a:lnTo>
                  <a:pt x="215061" y="10287000"/>
                </a:lnTo>
                <a:lnTo>
                  <a:pt x="215061" y="0"/>
                </a:lnTo>
                <a:close/>
              </a:path>
            </a:pathLst>
          </a:custGeom>
          <a:solidFill>
            <a:srgbClr val="EB1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02147" y="638325"/>
            <a:ext cx="6682740" cy="7404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chemeClr val="tx1"/>
                </a:solidFill>
                <a:latin typeface="Adobe Clean Black"/>
                <a:cs typeface="Adobe Clean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03457" y="2466172"/>
            <a:ext cx="8369300" cy="55549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dobe Clean"/>
                <a:cs typeface="Adobe Clean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2.jp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6.jp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EB1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500" y="9006337"/>
            <a:ext cx="1960760" cy="471037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911225" y="1955995"/>
            <a:ext cx="10845165" cy="4375150"/>
          </a:xfrm>
          <a:prstGeom prst="rect"/>
        </p:spPr>
        <p:txBody>
          <a:bodyPr wrap="square" lIns="0" tIns="284480" rIns="0" bIns="0" rtlCol="0" vert="horz">
            <a:spAutoFit/>
          </a:bodyPr>
          <a:lstStyle/>
          <a:p>
            <a:pPr marL="12700" marR="19050">
              <a:lnSpc>
                <a:spcPts val="10700"/>
              </a:lnSpc>
              <a:spcBef>
                <a:spcPts val="2240"/>
              </a:spcBef>
            </a:pPr>
            <a:r>
              <a:rPr dirty="0" sz="10700" spc="-190">
                <a:solidFill>
                  <a:srgbClr val="FFFFFF"/>
                </a:solidFill>
                <a:latin typeface="Adobe Clean Black"/>
                <a:cs typeface="Adobe Clean Black"/>
              </a:rPr>
              <a:t>Designing</a:t>
            </a:r>
            <a:r>
              <a:rPr dirty="0" sz="10700" spc="-365">
                <a:solidFill>
                  <a:srgbClr val="FFFFFF"/>
                </a:solidFill>
                <a:latin typeface="Adobe Clean Black"/>
                <a:cs typeface="Adobe Clean Black"/>
              </a:rPr>
              <a:t> </a:t>
            </a:r>
            <a:r>
              <a:rPr dirty="0" sz="10700" spc="-150">
                <a:solidFill>
                  <a:srgbClr val="FFFFFF"/>
                </a:solidFill>
                <a:latin typeface="Adobe Clean Black"/>
                <a:cs typeface="Adobe Clean Black"/>
              </a:rPr>
              <a:t>Election </a:t>
            </a:r>
            <a:r>
              <a:rPr dirty="0" sz="10700" spc="-175">
                <a:solidFill>
                  <a:srgbClr val="FFFFFF"/>
                </a:solidFill>
                <a:latin typeface="Adobe Clean Black"/>
                <a:cs typeface="Adobe Clean Black"/>
              </a:rPr>
              <a:t>Dashboards</a:t>
            </a:r>
            <a:r>
              <a:rPr dirty="0" sz="10700" spc="-385">
                <a:solidFill>
                  <a:srgbClr val="FFFFFF"/>
                </a:solidFill>
                <a:latin typeface="Adobe Clean Black"/>
                <a:cs typeface="Adobe Clean Black"/>
              </a:rPr>
              <a:t> </a:t>
            </a:r>
            <a:r>
              <a:rPr dirty="0" sz="10700" spc="-25">
                <a:solidFill>
                  <a:srgbClr val="FFFFFF"/>
                </a:solidFill>
                <a:latin typeface="Adobe Clean Black"/>
                <a:cs typeface="Adobe Clean Black"/>
              </a:rPr>
              <a:t>for </a:t>
            </a:r>
            <a:r>
              <a:rPr dirty="0" sz="10700" spc="-459">
                <a:solidFill>
                  <a:srgbClr val="FFFFFF"/>
                </a:solidFill>
                <a:latin typeface="Adobe Clean Black"/>
                <a:cs typeface="Adobe Clean Black"/>
              </a:rPr>
              <a:t>T</a:t>
            </a:r>
            <a:r>
              <a:rPr dirty="0" sz="10700" spc="85">
                <a:solidFill>
                  <a:srgbClr val="FFFFFF"/>
                </a:solidFill>
                <a:latin typeface="Adobe Clean Black"/>
                <a:cs typeface="Adobe Clean Black"/>
              </a:rPr>
              <a:t>r</a:t>
            </a:r>
            <a:r>
              <a:rPr dirty="0" sz="10700" spc="95">
                <a:solidFill>
                  <a:srgbClr val="FFFFFF"/>
                </a:solidFill>
                <a:latin typeface="Adobe Clean Black"/>
                <a:cs typeface="Adobe Clean Black"/>
              </a:rPr>
              <a:t>u</a:t>
            </a:r>
            <a:r>
              <a:rPr dirty="0" sz="10700" spc="45">
                <a:solidFill>
                  <a:srgbClr val="FFFFFF"/>
                </a:solidFill>
                <a:latin typeface="Adobe Clean Black"/>
                <a:cs typeface="Adobe Clean Black"/>
              </a:rPr>
              <a:t>s</a:t>
            </a:r>
            <a:r>
              <a:rPr dirty="0" sz="10700" spc="185">
                <a:solidFill>
                  <a:srgbClr val="FFFFFF"/>
                </a:solidFill>
                <a:latin typeface="Adobe Clean Black"/>
                <a:cs typeface="Adobe Clean Black"/>
              </a:rPr>
              <a:t>t</a:t>
            </a:r>
            <a:endParaRPr sz="107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9804120"/>
            <a:ext cx="898461" cy="215849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0"/>
            <a:ext cx="215265" cy="10287000"/>
          </a:xfrm>
          <a:custGeom>
            <a:avLst/>
            <a:gdLst/>
            <a:ahLst/>
            <a:cxnLst/>
            <a:rect l="l" t="t" r="r" b="b"/>
            <a:pathLst>
              <a:path w="215265" h="10287000">
                <a:moveTo>
                  <a:pt x="215061" y="0"/>
                </a:moveTo>
                <a:lnTo>
                  <a:pt x="0" y="0"/>
                </a:lnTo>
                <a:lnTo>
                  <a:pt x="0" y="10287000"/>
                </a:lnTo>
                <a:lnTo>
                  <a:pt x="215061" y="10287000"/>
                </a:lnTo>
                <a:lnTo>
                  <a:pt x="215061" y="0"/>
                </a:lnTo>
                <a:close/>
              </a:path>
            </a:pathLst>
          </a:custGeom>
          <a:solidFill>
            <a:srgbClr val="EB1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8917856" y="9856739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1700" y="2061728"/>
            <a:ext cx="3927475" cy="18992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388620" indent="-322580">
              <a:lnSpc>
                <a:spcPct val="100000"/>
              </a:lnSpc>
              <a:spcBef>
                <a:spcPts val="125"/>
              </a:spcBef>
              <a:buAutoNum type="arabicPeriod"/>
              <a:tabLst>
                <a:tab pos="388620" algn="l"/>
              </a:tabLst>
            </a:pPr>
            <a:r>
              <a:rPr dirty="0" sz="2550" spc="-45">
                <a:latin typeface="Adobe Clean"/>
                <a:cs typeface="Adobe Clean"/>
              </a:rPr>
              <a:t>Background</a:t>
            </a:r>
            <a:r>
              <a:rPr dirty="0" sz="2550" spc="-8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and</a:t>
            </a:r>
            <a:r>
              <a:rPr dirty="0" sz="2550" spc="-75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Problem</a:t>
            </a:r>
            <a:endParaRPr sz="2550">
              <a:latin typeface="Adobe Clean"/>
              <a:cs typeface="Adobe Clean"/>
            </a:endParaRPr>
          </a:p>
          <a:p>
            <a:pPr marL="389255" indent="-372745">
              <a:lnSpc>
                <a:spcPct val="100000"/>
              </a:lnSpc>
              <a:spcBef>
                <a:spcPts val="2770"/>
              </a:spcBef>
              <a:buAutoNum type="arabicPeriod"/>
              <a:tabLst>
                <a:tab pos="389255" algn="l"/>
              </a:tabLst>
            </a:pPr>
            <a:r>
              <a:rPr dirty="0" sz="2550" spc="-30">
                <a:latin typeface="Adobe Clean"/>
                <a:cs typeface="Adobe Clean"/>
              </a:rPr>
              <a:t>Design</a:t>
            </a:r>
            <a:r>
              <a:rPr dirty="0" sz="2550" spc="-10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and</a:t>
            </a:r>
            <a:r>
              <a:rPr dirty="0" sz="2550" spc="-10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Study</a:t>
            </a:r>
            <a:r>
              <a:rPr dirty="0" sz="2550" spc="-100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Execution</a:t>
            </a:r>
            <a:endParaRPr sz="2550">
              <a:latin typeface="Adobe Clean"/>
              <a:cs typeface="Adobe Clean"/>
            </a:endParaRPr>
          </a:p>
          <a:p>
            <a:pPr marL="389255" indent="-376555">
              <a:lnSpc>
                <a:spcPct val="100000"/>
              </a:lnSpc>
              <a:spcBef>
                <a:spcPts val="2775"/>
              </a:spcBef>
              <a:buAutoNum type="arabicPeriod"/>
              <a:tabLst>
                <a:tab pos="389255" algn="l"/>
              </a:tabLst>
            </a:pPr>
            <a:r>
              <a:rPr dirty="0" sz="2550" spc="-50">
                <a:latin typeface="Adobe Clean"/>
                <a:cs typeface="Adobe Clean"/>
              </a:rPr>
              <a:t>Findings</a:t>
            </a:r>
            <a:r>
              <a:rPr dirty="0" sz="2550" spc="-9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and</a:t>
            </a:r>
            <a:r>
              <a:rPr dirty="0" sz="2550" spc="-90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Insights</a:t>
            </a:r>
            <a:endParaRPr sz="2550">
              <a:latin typeface="Adobe Clean"/>
              <a:cs typeface="Adobe Clean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065">
              <a:lnSpc>
                <a:spcPct val="100000"/>
              </a:lnSpc>
              <a:spcBef>
                <a:spcPts val="90"/>
              </a:spcBef>
            </a:pPr>
            <a:r>
              <a:rPr dirty="0" sz="4700" spc="-70">
                <a:latin typeface="Adobe Clean Black"/>
                <a:cs typeface="Adobe Clean Black"/>
              </a:rPr>
              <a:t>Agenda</a:t>
            </a:r>
            <a:endParaRPr sz="4700">
              <a:latin typeface="Adobe Clean Black"/>
              <a:cs typeface="Adobe Clean Black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38533" y="0"/>
            <a:ext cx="6449466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01700" y="4378993"/>
            <a:ext cx="11534775" cy="1277620"/>
          </a:xfrm>
          <a:prstGeom prst="rect"/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8200" spc="-125">
                <a:latin typeface="Adobe Clean Black"/>
                <a:cs typeface="Adobe Clean Black"/>
              </a:rPr>
              <a:t>Background</a:t>
            </a:r>
            <a:r>
              <a:rPr dirty="0" sz="8200" spc="-315">
                <a:latin typeface="Adobe Clean Black"/>
                <a:cs typeface="Adobe Clean Black"/>
              </a:rPr>
              <a:t> </a:t>
            </a:r>
            <a:r>
              <a:rPr dirty="0" sz="8200" spc="-100">
                <a:latin typeface="Adobe Clean Black"/>
                <a:cs typeface="Adobe Clean Black"/>
              </a:rPr>
              <a:t>and</a:t>
            </a:r>
            <a:r>
              <a:rPr dirty="0" sz="8200" spc="-310">
                <a:latin typeface="Adobe Clean Black"/>
                <a:cs typeface="Adobe Clean Black"/>
              </a:rPr>
              <a:t> </a:t>
            </a:r>
            <a:r>
              <a:rPr dirty="0" sz="8200" spc="-114">
                <a:latin typeface="Adobe Clean Black"/>
                <a:cs typeface="Adobe Clean Black"/>
              </a:rPr>
              <a:t>Problem</a:t>
            </a:r>
            <a:endParaRPr sz="82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42825" y="6421289"/>
            <a:ext cx="4849495" cy="1409700"/>
          </a:xfrm>
          <a:prstGeom prst="rect">
            <a:avLst/>
          </a:prstGeom>
        </p:spPr>
        <p:txBody>
          <a:bodyPr wrap="square" lIns="0" tIns="1758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85"/>
              </a:spcBef>
            </a:pPr>
            <a:r>
              <a:rPr dirty="0" sz="2300" spc="-25" b="1">
                <a:latin typeface="Adobe Clean"/>
                <a:cs typeface="Adobe Clean"/>
              </a:rPr>
              <a:t>What</a:t>
            </a:r>
            <a:r>
              <a:rPr dirty="0" sz="2300" spc="-90" b="1">
                <a:latin typeface="Adobe Clean"/>
                <a:cs typeface="Adobe Clean"/>
              </a:rPr>
              <a:t> </a:t>
            </a:r>
            <a:r>
              <a:rPr dirty="0" sz="2300" spc="-25" b="1">
                <a:latin typeface="Adobe Clean"/>
                <a:cs typeface="Adobe Clean"/>
              </a:rPr>
              <a:t>this</a:t>
            </a:r>
            <a:r>
              <a:rPr dirty="0" sz="2300" spc="-85" b="1">
                <a:latin typeface="Adobe Clean"/>
                <a:cs typeface="Adobe Clean"/>
              </a:rPr>
              <a:t> </a:t>
            </a:r>
            <a:r>
              <a:rPr dirty="0" sz="2300" spc="-25" b="1">
                <a:latin typeface="Adobe Clean"/>
                <a:cs typeface="Adobe Clean"/>
              </a:rPr>
              <a:t>research</a:t>
            </a:r>
            <a:r>
              <a:rPr dirty="0" sz="2300" spc="-90" b="1">
                <a:latin typeface="Adobe Clean"/>
                <a:cs typeface="Adobe Clean"/>
              </a:rPr>
              <a:t> </a:t>
            </a:r>
            <a:r>
              <a:rPr dirty="0" sz="2300" spc="-20" b="1">
                <a:latin typeface="Adobe Clean"/>
                <a:cs typeface="Adobe Clean"/>
              </a:rPr>
              <a:t>tests</a:t>
            </a:r>
            <a:endParaRPr sz="2300">
              <a:latin typeface="Adobe Clean"/>
              <a:cs typeface="Adobe Clean"/>
            </a:endParaRPr>
          </a:p>
          <a:p>
            <a:pPr marL="264160" marR="5080" indent="-252095">
              <a:lnSpc>
                <a:spcPct val="101400"/>
              </a:lnSpc>
              <a:spcBef>
                <a:spcPts val="1250"/>
              </a:spcBef>
              <a:buFont typeface="Times New Roman"/>
              <a:buChar char="•"/>
              <a:tabLst>
                <a:tab pos="264160" algn="l"/>
              </a:tabLst>
            </a:pPr>
            <a:r>
              <a:rPr dirty="0" sz="2300" spc="-10">
                <a:latin typeface="Adobe Clean"/>
                <a:cs typeface="Adobe Clean"/>
              </a:rPr>
              <a:t>Can</a:t>
            </a:r>
            <a:r>
              <a:rPr dirty="0" sz="2300" spc="-95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a</a:t>
            </a:r>
            <a:r>
              <a:rPr dirty="0" sz="2300" spc="-95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dashboard</a:t>
            </a:r>
            <a:r>
              <a:rPr dirty="0" sz="2300" spc="-9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that</a:t>
            </a:r>
            <a:r>
              <a:rPr dirty="0" sz="2300" spc="-9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emphasizes </a:t>
            </a:r>
            <a:r>
              <a:rPr dirty="0" sz="2300" spc="-25">
                <a:latin typeface="Adobe Clean"/>
                <a:cs typeface="Adobe Clean"/>
              </a:rPr>
              <a:t>progress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and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uncertainty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improve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trust?</a:t>
            </a:r>
            <a:endParaRPr sz="2300">
              <a:latin typeface="Adobe Clean"/>
              <a:cs typeface="Adobe Cle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67434" y="6421273"/>
            <a:ext cx="4624070" cy="2160270"/>
          </a:xfrm>
          <a:prstGeom prst="rect">
            <a:avLst/>
          </a:prstGeom>
        </p:spPr>
        <p:txBody>
          <a:bodyPr wrap="square" lIns="0" tIns="1758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85"/>
              </a:spcBef>
            </a:pPr>
            <a:r>
              <a:rPr dirty="0" sz="2300" spc="-25" b="1">
                <a:latin typeface="Adobe Clean"/>
                <a:cs typeface="Adobe Clean"/>
              </a:rPr>
              <a:t>Partial</a:t>
            </a:r>
            <a:r>
              <a:rPr dirty="0" sz="2300" spc="-80" b="1">
                <a:latin typeface="Adobe Clean"/>
                <a:cs typeface="Adobe Clean"/>
              </a:rPr>
              <a:t> </a:t>
            </a:r>
            <a:r>
              <a:rPr dirty="0" sz="2300" spc="-25" b="1">
                <a:latin typeface="Adobe Clean"/>
                <a:cs typeface="Adobe Clean"/>
              </a:rPr>
              <a:t>counts</a:t>
            </a:r>
            <a:r>
              <a:rPr dirty="0" sz="2300" spc="-75" b="1">
                <a:latin typeface="Adobe Clean"/>
                <a:cs typeface="Adobe Clean"/>
              </a:rPr>
              <a:t> </a:t>
            </a:r>
            <a:r>
              <a:rPr dirty="0" sz="2300" spc="-35" b="1">
                <a:latin typeface="Adobe Clean"/>
                <a:cs typeface="Adobe Clean"/>
              </a:rPr>
              <a:t>invite</a:t>
            </a:r>
            <a:r>
              <a:rPr dirty="0" sz="2300" spc="-75" b="1">
                <a:latin typeface="Adobe Clean"/>
                <a:cs typeface="Adobe Clean"/>
              </a:rPr>
              <a:t> </a:t>
            </a:r>
            <a:r>
              <a:rPr dirty="0" sz="2300" spc="-10" b="1">
                <a:latin typeface="Adobe Clean"/>
                <a:cs typeface="Adobe Clean"/>
              </a:rPr>
              <a:t>misreadings</a:t>
            </a:r>
            <a:endParaRPr sz="2300">
              <a:latin typeface="Adobe Clean"/>
              <a:cs typeface="Adobe Clean"/>
            </a:endParaRPr>
          </a:p>
          <a:p>
            <a:pPr marL="264160" marR="315595" indent="-252095">
              <a:lnSpc>
                <a:spcPct val="101400"/>
              </a:lnSpc>
              <a:spcBef>
                <a:spcPts val="1250"/>
              </a:spcBef>
              <a:buFont typeface="Times New Roman"/>
              <a:buChar char="•"/>
              <a:tabLst>
                <a:tab pos="264160" algn="l"/>
              </a:tabLst>
            </a:pPr>
            <a:r>
              <a:rPr dirty="0" sz="2300" spc="-35">
                <a:latin typeface="Adobe Clean"/>
                <a:cs typeface="Adobe Clean"/>
              </a:rPr>
              <a:t>Visible</a:t>
            </a:r>
            <a:r>
              <a:rPr dirty="0" sz="2300" spc="-100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shifts</a:t>
            </a:r>
            <a:r>
              <a:rPr dirty="0" sz="2300" spc="-110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in</a:t>
            </a:r>
            <a:r>
              <a:rPr dirty="0" sz="2300" spc="-10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trends</a:t>
            </a:r>
            <a:r>
              <a:rPr dirty="0" sz="2300" spc="-105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can</a:t>
            </a:r>
            <a:r>
              <a:rPr dirty="0" sz="2300" spc="-105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look </a:t>
            </a:r>
            <a:r>
              <a:rPr dirty="0" sz="2300" spc="-30">
                <a:latin typeface="Adobe Clean"/>
                <a:cs typeface="Adobe Clean"/>
              </a:rPr>
              <a:t>suspicious</a:t>
            </a:r>
            <a:r>
              <a:rPr dirty="0" sz="2300" spc="-90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without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process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context.</a:t>
            </a:r>
            <a:endParaRPr sz="2300">
              <a:latin typeface="Adobe Clean"/>
              <a:cs typeface="Adobe Clean"/>
            </a:endParaRPr>
          </a:p>
          <a:p>
            <a:pPr marL="264160" marR="5080" indent="-252095">
              <a:lnSpc>
                <a:spcPct val="101400"/>
              </a:lnSpc>
              <a:spcBef>
                <a:spcPts val="315"/>
              </a:spcBef>
              <a:buFont typeface="Times New Roman"/>
              <a:buChar char="•"/>
              <a:tabLst>
                <a:tab pos="264160" algn="l"/>
              </a:tabLst>
            </a:pPr>
            <a:r>
              <a:rPr dirty="0" sz="2300">
                <a:latin typeface="Adobe Clean"/>
                <a:cs typeface="Adobe Clean"/>
              </a:rPr>
              <a:t>In</a:t>
            </a:r>
            <a:r>
              <a:rPr dirty="0" sz="2300" spc="-114">
                <a:latin typeface="Adobe Clean"/>
                <a:cs typeface="Adobe Clean"/>
              </a:rPr>
              <a:t> </a:t>
            </a:r>
            <a:r>
              <a:rPr dirty="0" sz="2300" spc="-50">
                <a:latin typeface="Adobe Clean"/>
                <a:cs typeface="Adobe Clean"/>
              </a:rPr>
              <a:t>2020,</a:t>
            </a:r>
            <a:r>
              <a:rPr dirty="0" sz="2300" spc="-90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some</a:t>
            </a:r>
            <a:r>
              <a:rPr dirty="0" sz="2300" spc="-10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late</a:t>
            </a:r>
            <a:r>
              <a:rPr dirty="0" sz="2300" spc="-100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shifts</a:t>
            </a:r>
            <a:r>
              <a:rPr dirty="0" sz="2300" spc="-100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were</a:t>
            </a:r>
            <a:r>
              <a:rPr dirty="0" sz="2300" spc="-105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wrongly </a:t>
            </a:r>
            <a:r>
              <a:rPr dirty="0" sz="2300" spc="-25">
                <a:latin typeface="Adobe Clean"/>
                <a:cs typeface="Adobe Clean"/>
              </a:rPr>
              <a:t>framed</a:t>
            </a:r>
            <a:r>
              <a:rPr dirty="0" sz="2300" spc="-100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as</a:t>
            </a:r>
            <a:r>
              <a:rPr dirty="0" sz="2300" spc="-95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fraud</a:t>
            </a:r>
            <a:r>
              <a:rPr dirty="0" sz="2300" spc="-9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signals.</a:t>
            </a:r>
            <a:endParaRPr sz="2300">
              <a:latin typeface="Adobe Clean"/>
              <a:cs typeface="Adobe Cle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2108" y="6421420"/>
            <a:ext cx="4649470" cy="2160270"/>
          </a:xfrm>
          <a:prstGeom prst="rect">
            <a:avLst/>
          </a:prstGeom>
        </p:spPr>
        <p:txBody>
          <a:bodyPr wrap="square" lIns="0" tIns="1752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80"/>
              </a:spcBef>
            </a:pPr>
            <a:r>
              <a:rPr dirty="0" sz="2300" spc="-10" b="1">
                <a:latin typeface="Adobe Clean"/>
                <a:cs typeface="Adobe Clean"/>
              </a:rPr>
              <a:t>Live</a:t>
            </a:r>
            <a:r>
              <a:rPr dirty="0" sz="2300" spc="-90" b="1">
                <a:latin typeface="Adobe Clean"/>
                <a:cs typeface="Adobe Clean"/>
              </a:rPr>
              <a:t> </a:t>
            </a:r>
            <a:r>
              <a:rPr dirty="0" sz="2300" spc="-20" b="1">
                <a:latin typeface="Adobe Clean"/>
                <a:cs typeface="Adobe Clean"/>
              </a:rPr>
              <a:t>results</a:t>
            </a:r>
            <a:r>
              <a:rPr dirty="0" sz="2300" spc="-85" b="1">
                <a:latin typeface="Adobe Clean"/>
                <a:cs typeface="Adobe Clean"/>
              </a:rPr>
              <a:t> </a:t>
            </a:r>
            <a:r>
              <a:rPr dirty="0" sz="2300" spc="-10" b="1">
                <a:latin typeface="Adobe Clean"/>
                <a:cs typeface="Adobe Clean"/>
              </a:rPr>
              <a:t>are</a:t>
            </a:r>
            <a:r>
              <a:rPr dirty="0" sz="2300" spc="-85" b="1">
                <a:latin typeface="Adobe Clean"/>
                <a:cs typeface="Adobe Clean"/>
              </a:rPr>
              <a:t> </a:t>
            </a:r>
            <a:r>
              <a:rPr dirty="0" sz="2300" spc="-35" b="1">
                <a:latin typeface="Adobe Clean"/>
                <a:cs typeface="Adobe Clean"/>
              </a:rPr>
              <a:t>inherently</a:t>
            </a:r>
            <a:r>
              <a:rPr dirty="0" sz="2300" spc="-85" b="1">
                <a:latin typeface="Adobe Clean"/>
                <a:cs typeface="Adobe Clean"/>
              </a:rPr>
              <a:t> </a:t>
            </a:r>
            <a:r>
              <a:rPr dirty="0" sz="2300" spc="-10" b="1">
                <a:latin typeface="Adobe Clean"/>
                <a:cs typeface="Adobe Clean"/>
              </a:rPr>
              <a:t>incomplete</a:t>
            </a:r>
            <a:endParaRPr sz="2300">
              <a:latin typeface="Adobe Clean"/>
              <a:cs typeface="Adobe Clean"/>
            </a:endParaRPr>
          </a:p>
          <a:p>
            <a:pPr marL="264160" marR="318770" indent="-252095">
              <a:lnSpc>
                <a:spcPct val="101400"/>
              </a:lnSpc>
              <a:spcBef>
                <a:spcPts val="1255"/>
              </a:spcBef>
              <a:buFont typeface="Times New Roman"/>
              <a:buChar char="•"/>
              <a:tabLst>
                <a:tab pos="264160" algn="l"/>
              </a:tabLst>
            </a:pPr>
            <a:r>
              <a:rPr dirty="0" sz="2300" spc="-20">
                <a:latin typeface="Adobe Clean"/>
                <a:cs typeface="Adobe Clean"/>
              </a:rPr>
              <a:t>U.S.</a:t>
            </a:r>
            <a:r>
              <a:rPr dirty="0" sz="2300" spc="-90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vote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totals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update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in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batches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as </a:t>
            </a:r>
            <a:r>
              <a:rPr dirty="0" sz="2300" spc="-35">
                <a:latin typeface="Adobe Clean"/>
                <a:cs typeface="Adobe Clean"/>
              </a:rPr>
              <a:t>jurisdictions</a:t>
            </a:r>
            <a:r>
              <a:rPr dirty="0" sz="2300" spc="-6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report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over</a:t>
            </a:r>
            <a:r>
              <a:rPr dirty="0" sz="2300" spc="-6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time.</a:t>
            </a:r>
            <a:endParaRPr sz="2300">
              <a:latin typeface="Adobe Clean"/>
              <a:cs typeface="Adobe Clean"/>
            </a:endParaRPr>
          </a:p>
          <a:p>
            <a:pPr marL="264160" marR="5080" indent="-252095">
              <a:lnSpc>
                <a:spcPct val="101400"/>
              </a:lnSpc>
              <a:spcBef>
                <a:spcPts val="310"/>
              </a:spcBef>
              <a:buFont typeface="Times New Roman"/>
              <a:buChar char="•"/>
              <a:tabLst>
                <a:tab pos="264160" algn="l"/>
              </a:tabLst>
            </a:pPr>
            <a:r>
              <a:rPr dirty="0" sz="2300" spc="-10">
                <a:latin typeface="Adobe Clean"/>
                <a:cs typeface="Adobe Clean"/>
              </a:rPr>
              <a:t>Early</a:t>
            </a:r>
            <a:r>
              <a:rPr dirty="0" sz="2300" spc="-114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leads</a:t>
            </a:r>
            <a:r>
              <a:rPr dirty="0" sz="2300" spc="-105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can</a:t>
            </a:r>
            <a:r>
              <a:rPr dirty="0" sz="2300" spc="-100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be</a:t>
            </a:r>
            <a:r>
              <a:rPr dirty="0" sz="2300" spc="-105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misleading</a:t>
            </a:r>
            <a:r>
              <a:rPr dirty="0" sz="2300" spc="-9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because </a:t>
            </a:r>
            <a:r>
              <a:rPr dirty="0" sz="2300" spc="-25">
                <a:latin typeface="Adobe Clean"/>
                <a:cs typeface="Adobe Clean"/>
              </a:rPr>
              <a:t>many</a:t>
            </a:r>
            <a:r>
              <a:rPr dirty="0" sz="2300" spc="-90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ballots</a:t>
            </a:r>
            <a:r>
              <a:rPr dirty="0" sz="2300" spc="-90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remain</a:t>
            </a:r>
            <a:r>
              <a:rPr dirty="0" sz="2300" spc="-90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uncounted.</a:t>
            </a:r>
            <a:endParaRPr sz="2300">
              <a:latin typeface="Adobe Clean"/>
              <a:cs typeface="Adobe Cle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5512" y="2520467"/>
            <a:ext cx="4893348" cy="375715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80187" y="2520467"/>
            <a:ext cx="4893360" cy="375715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4875" y="2520467"/>
            <a:ext cx="4893348" cy="3757159"/>
          </a:xfrm>
          <a:prstGeom prst="rect">
            <a:avLst/>
          </a:prstGeom>
        </p:spPr>
      </p:pic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4200" spc="-110">
                <a:latin typeface="Adobe Clean Black"/>
                <a:cs typeface="Adobe Clean Black"/>
              </a:rPr>
              <a:t>Why</a:t>
            </a:r>
            <a:r>
              <a:rPr dirty="0" sz="4200" spc="-155">
                <a:latin typeface="Adobe Clean Black"/>
                <a:cs typeface="Adobe Clean Black"/>
              </a:rPr>
              <a:t> </a:t>
            </a:r>
            <a:r>
              <a:rPr dirty="0" sz="4200" spc="-655">
                <a:latin typeface="Adobe Clean Black"/>
                <a:cs typeface="Adobe Clean Black"/>
              </a:rPr>
              <a:t>This</a:t>
            </a:r>
            <a:r>
              <a:rPr dirty="0" sz="4200" spc="-150">
                <a:latin typeface="Adobe Clean Black"/>
                <a:cs typeface="Adobe Clean Black"/>
              </a:rPr>
              <a:t> </a:t>
            </a:r>
            <a:r>
              <a:rPr dirty="0" sz="4200" spc="-80">
                <a:latin typeface="Adobe Clean Black"/>
                <a:cs typeface="Adobe Clean Black"/>
              </a:rPr>
              <a:t>Study</a:t>
            </a:r>
            <a:r>
              <a:rPr dirty="0" sz="4200" spc="-150">
                <a:latin typeface="Adobe Clean Black"/>
                <a:cs typeface="Adobe Clean Black"/>
              </a:rPr>
              <a:t> </a:t>
            </a:r>
            <a:r>
              <a:rPr dirty="0" sz="4200" spc="-20">
                <a:latin typeface="Adobe Clean Black"/>
                <a:cs typeface="Adobe Clean Black"/>
              </a:rPr>
              <a:t>MaOers</a:t>
            </a:r>
            <a:endParaRPr sz="42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42825" y="6281775"/>
            <a:ext cx="4457065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50" b="1">
                <a:latin typeface="Adobe Clean"/>
                <a:cs typeface="Adobe Clean"/>
              </a:rPr>
              <a:t>Why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patterns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30" b="1">
                <a:latin typeface="Adobe Clean"/>
                <a:cs typeface="Adobe Clean"/>
              </a:rPr>
              <a:t>can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35" b="1">
                <a:latin typeface="Adobe Clean"/>
                <a:cs typeface="Adobe Clean"/>
              </a:rPr>
              <a:t>look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25" b="1">
                <a:latin typeface="Adobe Clean"/>
                <a:cs typeface="Adobe Clean"/>
              </a:rPr>
              <a:t>odd</a:t>
            </a:r>
            <a:endParaRPr sz="2600">
              <a:latin typeface="Adobe Clean"/>
              <a:cs typeface="Adobe Clean"/>
            </a:endParaRPr>
          </a:p>
          <a:p>
            <a:pPr marL="292735" marR="42545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>
                <a:latin typeface="Adobe Clean"/>
                <a:cs typeface="Adobe Clean"/>
              </a:rPr>
              <a:t>As</a:t>
            </a:r>
            <a:r>
              <a:rPr dirty="0" sz="2600" spc="-8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vote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batches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arrive,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leads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can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175">
                <a:latin typeface="Adobe Clean"/>
                <a:cs typeface="Adobe Clean"/>
              </a:rPr>
              <a:t>shift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without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wrongdoing.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50">
                <a:latin typeface="Adobe Clean"/>
                <a:cs typeface="Adobe Clean"/>
              </a:rPr>
              <a:t>Election-</a:t>
            </a:r>
            <a:r>
              <a:rPr dirty="0" sz="2600" spc="-60">
                <a:latin typeface="Adobe Clean"/>
                <a:cs typeface="Adobe Clean"/>
              </a:rPr>
              <a:t>night</a:t>
            </a:r>
            <a:r>
              <a:rPr dirty="0" sz="2600" spc="-3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numbers</a:t>
            </a:r>
            <a:r>
              <a:rPr dirty="0" sz="2600" spc="-3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are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45" b="1">
                <a:latin typeface="Adobe Clean"/>
                <a:cs typeface="Adobe Clean"/>
              </a:rPr>
              <a:t>unoﬃcial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until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later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75">
                <a:latin typeface="Adobe Clean"/>
                <a:cs typeface="Adobe Clean"/>
              </a:rPr>
              <a:t>certification.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67492" y="6281909"/>
            <a:ext cx="4675505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35" b="1">
                <a:latin typeface="Adobe Clean"/>
                <a:cs typeface="Adobe Clean"/>
              </a:rPr>
              <a:t>How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30" b="1">
                <a:latin typeface="Adobe Clean"/>
                <a:cs typeface="Adobe Clean"/>
              </a:rPr>
              <a:t>results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40" b="1">
                <a:latin typeface="Adobe Clean"/>
                <a:cs typeface="Adobe Clean"/>
              </a:rPr>
              <a:t>reach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35" b="1">
                <a:latin typeface="Adobe Clean"/>
                <a:cs typeface="Adobe Clean"/>
              </a:rPr>
              <a:t>the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public</a:t>
            </a:r>
            <a:endParaRPr sz="2600">
              <a:latin typeface="Adobe Clean"/>
              <a:cs typeface="Adobe Clean"/>
            </a:endParaRPr>
          </a:p>
          <a:p>
            <a:pPr marL="292735" marR="273685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Newsrooms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do</a:t>
            </a:r>
            <a:r>
              <a:rPr dirty="0" sz="2600" spc="-12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not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count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votes;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25">
                <a:latin typeface="Adobe Clean"/>
                <a:cs typeface="Adobe Clean"/>
              </a:rPr>
              <a:t>they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publish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reported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tallies.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50">
                <a:latin typeface="Adobe Clean"/>
                <a:cs typeface="Adobe Clean"/>
              </a:rPr>
              <a:t>Organizations</a:t>
            </a:r>
            <a:r>
              <a:rPr dirty="0" sz="2600" spc="-8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like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500" b="1">
                <a:latin typeface="Adobe Clean"/>
                <a:cs typeface="Adobe Clean"/>
              </a:rPr>
              <a:t>The</a:t>
            </a:r>
            <a:r>
              <a:rPr dirty="0" sz="2600" spc="-75" b="1">
                <a:latin typeface="Adobe Clean"/>
                <a:cs typeface="Adobe Clean"/>
              </a:rPr>
              <a:t> </a:t>
            </a:r>
            <a:r>
              <a:rPr dirty="0" sz="2600" spc="-25" b="1">
                <a:latin typeface="Adobe Clean"/>
                <a:cs typeface="Adobe Clean"/>
              </a:rPr>
              <a:t>Associated </a:t>
            </a:r>
            <a:r>
              <a:rPr dirty="0" sz="2600" spc="-25" b="1">
                <a:latin typeface="Adobe Clean"/>
                <a:cs typeface="Adobe Clean"/>
              </a:rPr>
              <a:t>	</a:t>
            </a:r>
            <a:r>
              <a:rPr dirty="0" sz="2600" spc="-30" b="1">
                <a:latin typeface="Adobe Clean"/>
                <a:cs typeface="Adobe Clean"/>
              </a:rPr>
              <a:t>Press</a:t>
            </a:r>
            <a:r>
              <a:rPr dirty="0" sz="2600" spc="-95" b="1">
                <a:latin typeface="Adobe Clean"/>
                <a:cs typeface="Adobe Clean"/>
              </a:rPr>
              <a:t> </a:t>
            </a:r>
            <a:r>
              <a:rPr dirty="0" sz="2600" spc="-60">
                <a:latin typeface="Adobe Clean"/>
                <a:cs typeface="Adobe Clean"/>
              </a:rPr>
              <a:t>aggregate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local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reports.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2167" y="6281909"/>
            <a:ext cx="4730115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50" b="1">
                <a:latin typeface="Adobe Clean"/>
                <a:cs typeface="Adobe Clean"/>
              </a:rPr>
              <a:t>Decentralized</a:t>
            </a:r>
            <a:r>
              <a:rPr dirty="0" sz="2600" spc="-30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administration</a:t>
            </a:r>
            <a:endParaRPr sz="2600">
              <a:latin typeface="Adobe Clean"/>
              <a:cs typeface="Adobe Clean"/>
            </a:endParaRPr>
          </a:p>
          <a:p>
            <a:pPr marL="292735" marR="202565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Elections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are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run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by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local </a:t>
            </a:r>
            <a:r>
              <a:rPr dirty="0" sz="2600" spc="-20">
                <a:latin typeface="Adobe Clean"/>
                <a:cs typeface="Adobe Clean"/>
              </a:rPr>
              <a:t>	</a:t>
            </a:r>
            <a:r>
              <a:rPr dirty="0" sz="2600" spc="-40">
                <a:latin typeface="Adobe Clean"/>
                <a:cs typeface="Adobe Clean"/>
              </a:rPr>
              <a:t>jurisdictions,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not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a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national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oﬃce.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55">
                <a:latin typeface="Adobe Clean"/>
                <a:cs typeface="Adobe Clean"/>
              </a:rPr>
              <a:t>Rules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54">
                <a:latin typeface="Adobe Clean"/>
                <a:cs typeface="Adobe Clean"/>
              </a:rPr>
              <a:t>differ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across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states,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so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results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35">
                <a:latin typeface="Adobe Clean"/>
                <a:cs typeface="Adobe Clean"/>
              </a:rPr>
              <a:t>arrive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at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85">
                <a:latin typeface="Adobe Clean"/>
                <a:cs typeface="Adobe Clean"/>
              </a:rPr>
              <a:t>different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speeds.</a:t>
            </a:r>
            <a:endParaRPr sz="2600">
              <a:latin typeface="Adobe Clean"/>
              <a:cs typeface="Adobe Cle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5525" y="2405557"/>
            <a:ext cx="4893348" cy="375716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80200" y="2405557"/>
            <a:ext cx="4893360" cy="3757162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4875" y="2405557"/>
            <a:ext cx="4893348" cy="3757162"/>
          </a:xfrm>
          <a:prstGeom prst="rect">
            <a:avLst/>
          </a:prstGeom>
        </p:spPr>
      </p:pic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4700" spc="-1630">
                <a:latin typeface="Adobe Clean Black"/>
                <a:cs typeface="Adobe Clean Black"/>
              </a:rPr>
              <a:t>The</a:t>
            </a:r>
            <a:r>
              <a:rPr dirty="0" sz="4700" spc="-165">
                <a:latin typeface="Adobe Clean Black"/>
                <a:cs typeface="Adobe Clean Black"/>
              </a:rPr>
              <a:t> </a:t>
            </a:r>
            <a:r>
              <a:rPr dirty="0" sz="4700" spc="-75">
                <a:latin typeface="Adobe Clean Black"/>
                <a:cs typeface="Adobe Clean Black"/>
              </a:rPr>
              <a:t>U.S.</a:t>
            </a:r>
            <a:r>
              <a:rPr dirty="0" sz="4700" spc="-165">
                <a:latin typeface="Adobe Clean Black"/>
                <a:cs typeface="Adobe Clean Black"/>
              </a:rPr>
              <a:t> </a:t>
            </a:r>
            <a:r>
              <a:rPr dirty="0" sz="4700" spc="-75">
                <a:latin typeface="Adobe Clean Black"/>
                <a:cs typeface="Adobe Clean Black"/>
              </a:rPr>
              <a:t>Conlexl</a:t>
            </a:r>
            <a:r>
              <a:rPr dirty="0" sz="4700" spc="-165">
                <a:latin typeface="Adobe Clean Black"/>
                <a:cs typeface="Adobe Clean Black"/>
              </a:rPr>
              <a:t> </a:t>
            </a:r>
            <a:r>
              <a:rPr dirty="0" sz="4700" spc="-10">
                <a:latin typeface="Adobe Clean Black"/>
                <a:cs typeface="Adobe Clean Black"/>
              </a:rPr>
              <a:t>Fi~sl</a:t>
            </a:r>
            <a:endParaRPr sz="47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07929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0"/>
            <a:ext cx="9144000" cy="102870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1700" y="2575698"/>
            <a:ext cx="7499350" cy="5593080"/>
          </a:xfrm>
          <a:prstGeom prst="rect">
            <a:avLst/>
          </a:prstGeom>
        </p:spPr>
        <p:txBody>
          <a:bodyPr wrap="square" lIns="0" tIns="1892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dirty="0" sz="2550" spc="-60" b="1">
                <a:latin typeface="Adobe Clean"/>
                <a:cs typeface="Adobe Clean"/>
              </a:rPr>
              <a:t>Misread</a:t>
            </a:r>
            <a:r>
              <a:rPr dirty="0" sz="2550" spc="-85" b="1">
                <a:latin typeface="Adobe Clean"/>
                <a:cs typeface="Adobe Clean"/>
              </a:rPr>
              <a:t> </a:t>
            </a:r>
            <a:r>
              <a:rPr dirty="0" sz="2550" spc="-40" b="1">
                <a:latin typeface="Adobe Clean"/>
                <a:cs typeface="Adobe Clean"/>
              </a:rPr>
              <a:t>patterns</a:t>
            </a:r>
            <a:r>
              <a:rPr dirty="0" sz="2550" spc="-80" b="1">
                <a:latin typeface="Adobe Clean"/>
                <a:cs typeface="Adobe Clean"/>
              </a:rPr>
              <a:t> </a:t>
            </a:r>
            <a:r>
              <a:rPr dirty="0" sz="2550" spc="-30" b="1">
                <a:latin typeface="Adobe Clean"/>
                <a:cs typeface="Adobe Clean"/>
              </a:rPr>
              <a:t>in</a:t>
            </a:r>
            <a:r>
              <a:rPr dirty="0" sz="2550" spc="-85" b="1">
                <a:latin typeface="Adobe Clean"/>
                <a:cs typeface="Adobe Clean"/>
              </a:rPr>
              <a:t> </a:t>
            </a:r>
            <a:r>
              <a:rPr dirty="0" sz="2550" spc="-50" b="1">
                <a:latin typeface="Adobe Clean"/>
                <a:cs typeface="Adobe Clean"/>
              </a:rPr>
              <a:t>live</a:t>
            </a:r>
            <a:r>
              <a:rPr dirty="0" sz="2550" spc="-80" b="1">
                <a:latin typeface="Adobe Clean"/>
                <a:cs typeface="Adobe Clean"/>
              </a:rPr>
              <a:t> </a:t>
            </a:r>
            <a:r>
              <a:rPr dirty="0" sz="2550" spc="-10" b="1">
                <a:latin typeface="Adobe Clean"/>
                <a:cs typeface="Adobe Clean"/>
              </a:rPr>
              <a:t>counts</a:t>
            </a:r>
            <a:endParaRPr sz="2550">
              <a:latin typeface="Adobe Clean"/>
              <a:cs typeface="Adobe Clean"/>
            </a:endParaRPr>
          </a:p>
          <a:p>
            <a:pPr marL="290195" indent="-277495">
              <a:lnSpc>
                <a:spcPct val="100000"/>
              </a:lnSpc>
              <a:spcBef>
                <a:spcPts val="1430"/>
              </a:spcBef>
              <a:buFont typeface="Times New Roman"/>
              <a:buChar char="•"/>
              <a:tabLst>
                <a:tab pos="290195" algn="l"/>
              </a:tabLst>
            </a:pPr>
            <a:r>
              <a:rPr dirty="0" sz="2550" spc="-10">
                <a:latin typeface="Adobe Clean"/>
                <a:cs typeface="Adobe Clean"/>
              </a:rPr>
              <a:t>In</a:t>
            </a:r>
            <a:r>
              <a:rPr dirty="0" sz="2550" spc="-125">
                <a:latin typeface="Adobe Clean"/>
                <a:cs typeface="Adobe Clean"/>
              </a:rPr>
              <a:t> </a:t>
            </a:r>
            <a:r>
              <a:rPr dirty="0" sz="2550" spc="-60">
                <a:latin typeface="Adobe Clean"/>
                <a:cs typeface="Adobe Clean"/>
              </a:rPr>
              <a:t>2020,</a:t>
            </a:r>
            <a:r>
              <a:rPr dirty="0" sz="2550" spc="-10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late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shifts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>
                <a:latin typeface="Adobe Clean"/>
                <a:cs typeface="Adobe Clean"/>
              </a:rPr>
              <a:t>in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some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25">
                <a:latin typeface="Adobe Clean"/>
                <a:cs typeface="Adobe Clean"/>
              </a:rPr>
              <a:t>states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20">
                <a:latin typeface="Adobe Clean"/>
                <a:cs typeface="Adobe Clean"/>
              </a:rPr>
              <a:t>were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 spc="-25">
                <a:latin typeface="Adobe Clean"/>
                <a:cs typeface="Adobe Clean"/>
              </a:rPr>
              <a:t>cited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as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“fraud.”</a:t>
            </a:r>
            <a:endParaRPr sz="2550">
              <a:latin typeface="Adobe Clean"/>
              <a:cs typeface="Adobe Clean"/>
            </a:endParaRPr>
          </a:p>
          <a:p>
            <a:pPr marL="290195" marR="5080" indent="-278130">
              <a:lnSpc>
                <a:spcPct val="101000"/>
              </a:lnSpc>
              <a:spcBef>
                <a:spcPts val="350"/>
              </a:spcBef>
              <a:buFont typeface="Times New Roman"/>
              <a:buChar char="•"/>
              <a:tabLst>
                <a:tab pos="290195" algn="l"/>
              </a:tabLst>
            </a:pPr>
            <a:r>
              <a:rPr dirty="0" sz="2550" spc="-35">
                <a:latin typeface="Adobe Clean"/>
                <a:cs typeface="Adobe Clean"/>
              </a:rPr>
              <a:t>But</a:t>
            </a:r>
            <a:r>
              <a:rPr dirty="0" sz="2550" spc="-100">
                <a:latin typeface="Adobe Clean"/>
                <a:cs typeface="Adobe Clean"/>
              </a:rPr>
              <a:t> </a:t>
            </a:r>
            <a:r>
              <a:rPr dirty="0" sz="2550" spc="-30">
                <a:latin typeface="Adobe Clean"/>
                <a:cs typeface="Adobe Clean"/>
              </a:rPr>
              <a:t>reporting</a:t>
            </a:r>
            <a:r>
              <a:rPr dirty="0" sz="2550" spc="-95">
                <a:latin typeface="Adobe Clean"/>
                <a:cs typeface="Adobe Clean"/>
              </a:rPr>
              <a:t> </a:t>
            </a:r>
            <a:r>
              <a:rPr dirty="0" sz="2550" spc="-35">
                <a:latin typeface="Adobe Clean"/>
                <a:cs typeface="Adobe Clean"/>
              </a:rPr>
              <a:t>delays</a:t>
            </a:r>
            <a:r>
              <a:rPr dirty="0" sz="2550" spc="-95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and</a:t>
            </a:r>
            <a:r>
              <a:rPr dirty="0" sz="2550" spc="-95">
                <a:latin typeface="Adobe Clean"/>
                <a:cs typeface="Adobe Clean"/>
              </a:rPr>
              <a:t> </a:t>
            </a:r>
            <a:r>
              <a:rPr dirty="0" sz="2550" spc="-35">
                <a:latin typeface="Adobe Clean"/>
                <a:cs typeface="Adobe Clean"/>
              </a:rPr>
              <a:t>ballot</a:t>
            </a:r>
            <a:r>
              <a:rPr dirty="0" sz="2550" spc="-10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processing</a:t>
            </a:r>
            <a:r>
              <a:rPr dirty="0" sz="2550" spc="-95">
                <a:latin typeface="Adobe Clean"/>
                <a:cs typeface="Adobe Clean"/>
              </a:rPr>
              <a:t> </a:t>
            </a:r>
            <a:r>
              <a:rPr dirty="0" sz="2550" spc="-20">
                <a:latin typeface="Adobe Clean"/>
                <a:cs typeface="Adobe Clean"/>
              </a:rPr>
              <a:t>can</a:t>
            </a:r>
            <a:r>
              <a:rPr dirty="0" sz="2550" spc="-95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create</a:t>
            </a:r>
            <a:r>
              <a:rPr dirty="0" sz="2550" spc="-95">
                <a:latin typeface="Adobe Clean"/>
                <a:cs typeface="Adobe Clean"/>
              </a:rPr>
              <a:t> </a:t>
            </a:r>
            <a:r>
              <a:rPr dirty="0" sz="2550" spc="-20">
                <a:latin typeface="Adobe Clean"/>
                <a:cs typeface="Adobe Clean"/>
              </a:rPr>
              <a:t>real </a:t>
            </a:r>
            <a:r>
              <a:rPr dirty="0" sz="2550" spc="-10">
                <a:latin typeface="Adobe Clean"/>
                <a:cs typeface="Adobe Clean"/>
              </a:rPr>
              <a:t>swings.</a:t>
            </a:r>
            <a:endParaRPr sz="2550">
              <a:latin typeface="Adobe Clean"/>
              <a:cs typeface="Adobe Clean"/>
            </a:endParaRPr>
          </a:p>
          <a:p>
            <a:pPr marL="12700">
              <a:lnSpc>
                <a:spcPct val="100000"/>
              </a:lnSpc>
              <a:spcBef>
                <a:spcPts val="1820"/>
              </a:spcBef>
            </a:pPr>
            <a:r>
              <a:rPr dirty="0" sz="2550" spc="-40" b="1">
                <a:latin typeface="Adobe Clean"/>
                <a:cs typeface="Adobe Clean"/>
              </a:rPr>
              <a:t>Partial</a:t>
            </a:r>
            <a:r>
              <a:rPr dirty="0" sz="2550" spc="-95" b="1">
                <a:latin typeface="Adobe Clean"/>
                <a:cs typeface="Adobe Clean"/>
              </a:rPr>
              <a:t> </a:t>
            </a:r>
            <a:r>
              <a:rPr dirty="0" sz="2550" spc="-45" b="1">
                <a:latin typeface="Adobe Clean"/>
                <a:cs typeface="Adobe Clean"/>
              </a:rPr>
              <a:t>data</a:t>
            </a:r>
            <a:r>
              <a:rPr dirty="0" sz="2550" spc="-90" b="1">
                <a:latin typeface="Adobe Clean"/>
                <a:cs typeface="Adobe Clean"/>
              </a:rPr>
              <a:t> </a:t>
            </a:r>
            <a:r>
              <a:rPr dirty="0" sz="2550" spc="-30" b="1">
                <a:latin typeface="Adobe Clean"/>
                <a:cs typeface="Adobe Clean"/>
              </a:rPr>
              <a:t>feels</a:t>
            </a:r>
            <a:r>
              <a:rPr dirty="0" sz="2550" spc="-95" b="1">
                <a:latin typeface="Adobe Clean"/>
                <a:cs typeface="Adobe Clean"/>
              </a:rPr>
              <a:t> </a:t>
            </a:r>
            <a:r>
              <a:rPr dirty="0" sz="2550" spc="-10" b="1">
                <a:latin typeface="Adobe Clean"/>
                <a:cs typeface="Adobe Clean"/>
              </a:rPr>
              <a:t>final</a:t>
            </a:r>
            <a:endParaRPr sz="2550">
              <a:latin typeface="Adobe Clean"/>
              <a:cs typeface="Adobe Clean"/>
            </a:endParaRPr>
          </a:p>
          <a:p>
            <a:pPr marL="290195" indent="-277495">
              <a:lnSpc>
                <a:spcPct val="100000"/>
              </a:lnSpc>
              <a:spcBef>
                <a:spcPts val="1430"/>
              </a:spcBef>
              <a:buFont typeface="Times New Roman"/>
              <a:buChar char="•"/>
              <a:tabLst>
                <a:tab pos="290195" algn="l"/>
              </a:tabLst>
            </a:pPr>
            <a:r>
              <a:rPr dirty="0" sz="2550" spc="-30">
                <a:latin typeface="Adobe Clean"/>
                <a:cs typeface="Adobe Clean"/>
              </a:rPr>
              <a:t>Viewers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25">
                <a:latin typeface="Adobe Clean"/>
                <a:cs typeface="Adobe Clean"/>
              </a:rPr>
              <a:t>often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35">
                <a:latin typeface="Adobe Clean"/>
                <a:cs typeface="Adobe Clean"/>
              </a:rPr>
              <a:t>treat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30">
                <a:latin typeface="Adobe Clean"/>
                <a:cs typeface="Adobe Clean"/>
              </a:rPr>
              <a:t>early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 spc="-30">
                <a:latin typeface="Adobe Clean"/>
                <a:cs typeface="Adobe Clean"/>
              </a:rPr>
              <a:t>totals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as</a:t>
            </a:r>
            <a:r>
              <a:rPr dirty="0" sz="2550" spc="-110">
                <a:latin typeface="Adobe Clean"/>
                <a:cs typeface="Adobe Clean"/>
              </a:rPr>
              <a:t> </a:t>
            </a:r>
            <a:r>
              <a:rPr dirty="0" sz="2550" spc="-25">
                <a:latin typeface="Adobe Clean"/>
                <a:cs typeface="Adobe Clean"/>
              </a:rPr>
              <a:t>stable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trends.</a:t>
            </a:r>
            <a:endParaRPr sz="2550">
              <a:latin typeface="Adobe Clean"/>
              <a:cs typeface="Adobe Clean"/>
            </a:endParaRPr>
          </a:p>
          <a:p>
            <a:pPr marL="290195" marR="521334" indent="-278130">
              <a:lnSpc>
                <a:spcPct val="101000"/>
              </a:lnSpc>
              <a:spcBef>
                <a:spcPts val="350"/>
              </a:spcBef>
              <a:buFont typeface="Times New Roman"/>
              <a:buChar char="•"/>
              <a:tabLst>
                <a:tab pos="290195" algn="l"/>
              </a:tabLst>
            </a:pPr>
            <a:r>
              <a:rPr dirty="0" sz="2550" spc="-375">
                <a:latin typeface="Adobe Clean"/>
                <a:cs typeface="Adobe Clean"/>
              </a:rPr>
              <a:t>That</a:t>
            </a:r>
            <a:r>
              <a:rPr dirty="0" sz="2550" spc="-70">
                <a:latin typeface="Adobe Clean"/>
                <a:cs typeface="Adobe Clean"/>
              </a:rPr>
              <a:t> </a:t>
            </a:r>
            <a:r>
              <a:rPr dirty="0" sz="2550" spc="-50">
                <a:latin typeface="Adobe Clean"/>
                <a:cs typeface="Adobe Clean"/>
              </a:rPr>
              <a:t>encourages</a:t>
            </a:r>
            <a:r>
              <a:rPr dirty="0" sz="2550" spc="-65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overconfidence</a:t>
            </a:r>
            <a:r>
              <a:rPr dirty="0" sz="2550" spc="-70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and</a:t>
            </a:r>
            <a:r>
              <a:rPr dirty="0" sz="2550" spc="-65">
                <a:latin typeface="Adobe Clean"/>
                <a:cs typeface="Adobe Clean"/>
              </a:rPr>
              <a:t> </a:t>
            </a:r>
            <a:r>
              <a:rPr dirty="0" sz="2550" spc="-45">
                <a:latin typeface="Adobe Clean"/>
                <a:cs typeface="Adobe Clean"/>
              </a:rPr>
              <a:t>suspicion</a:t>
            </a:r>
            <a:r>
              <a:rPr dirty="0" sz="2550" spc="-70">
                <a:latin typeface="Adobe Clean"/>
                <a:cs typeface="Adobe Clean"/>
              </a:rPr>
              <a:t> </a:t>
            </a:r>
            <a:r>
              <a:rPr dirty="0" sz="2550" spc="-20">
                <a:latin typeface="Adobe Clean"/>
                <a:cs typeface="Adobe Clean"/>
              </a:rPr>
              <a:t>when </a:t>
            </a:r>
            <a:r>
              <a:rPr dirty="0" sz="2550" spc="-30">
                <a:latin typeface="Adobe Clean"/>
                <a:cs typeface="Adobe Clean"/>
              </a:rPr>
              <a:t>numbers</a:t>
            </a:r>
            <a:r>
              <a:rPr dirty="0" sz="2550" spc="-114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change.</a:t>
            </a:r>
            <a:endParaRPr sz="2550">
              <a:latin typeface="Adobe Clean"/>
              <a:cs typeface="Adobe Clean"/>
            </a:endParaRPr>
          </a:p>
          <a:p>
            <a:pPr marL="12700">
              <a:lnSpc>
                <a:spcPct val="100000"/>
              </a:lnSpc>
              <a:spcBef>
                <a:spcPts val="1820"/>
              </a:spcBef>
            </a:pPr>
            <a:r>
              <a:rPr dirty="0" sz="2550" spc="-50" b="1">
                <a:latin typeface="Adobe Clean"/>
                <a:cs typeface="Adobe Clean"/>
              </a:rPr>
              <a:t>Design</a:t>
            </a:r>
            <a:r>
              <a:rPr dirty="0" sz="2550" spc="-100" b="1">
                <a:latin typeface="Adobe Clean"/>
                <a:cs typeface="Adobe Clean"/>
              </a:rPr>
              <a:t> </a:t>
            </a:r>
            <a:r>
              <a:rPr dirty="0" sz="2550" spc="-10" b="1">
                <a:latin typeface="Adobe Clean"/>
                <a:cs typeface="Adobe Clean"/>
              </a:rPr>
              <a:t>question</a:t>
            </a:r>
            <a:endParaRPr sz="2550">
              <a:latin typeface="Adobe Clean"/>
              <a:cs typeface="Adobe Clean"/>
            </a:endParaRPr>
          </a:p>
          <a:p>
            <a:pPr marL="290195" marR="100965" indent="-278130">
              <a:lnSpc>
                <a:spcPct val="101000"/>
              </a:lnSpc>
              <a:spcBef>
                <a:spcPts val="1400"/>
              </a:spcBef>
              <a:buFont typeface="Times New Roman"/>
              <a:buChar char="•"/>
              <a:tabLst>
                <a:tab pos="290195" algn="l"/>
              </a:tabLst>
            </a:pPr>
            <a:r>
              <a:rPr dirty="0" sz="2550" spc="-20">
                <a:latin typeface="Adobe Clean"/>
                <a:cs typeface="Adobe Clean"/>
              </a:rPr>
              <a:t>Can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 spc="-40">
                <a:latin typeface="Adobe Clean"/>
                <a:cs typeface="Adobe Clean"/>
              </a:rPr>
              <a:t>dashboards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>
                <a:latin typeface="Adobe Clean"/>
                <a:cs typeface="Adobe Clean"/>
              </a:rPr>
              <a:t>set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 spc="-20" b="1">
                <a:latin typeface="Adobe Clean"/>
                <a:cs typeface="Adobe Clean"/>
              </a:rPr>
              <a:t>better</a:t>
            </a:r>
            <a:r>
              <a:rPr dirty="0" sz="2550" spc="-105" b="1">
                <a:latin typeface="Adobe Clean"/>
                <a:cs typeface="Adobe Clean"/>
              </a:rPr>
              <a:t> </a:t>
            </a:r>
            <a:r>
              <a:rPr dirty="0" sz="2550" spc="-30" b="1">
                <a:latin typeface="Adobe Clean"/>
                <a:cs typeface="Adobe Clean"/>
              </a:rPr>
              <a:t>expectations</a:t>
            </a:r>
            <a:r>
              <a:rPr dirty="0" sz="2550" spc="-100" b="1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as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 spc="-25">
                <a:latin typeface="Adobe Clean"/>
                <a:cs typeface="Adobe Clean"/>
              </a:rPr>
              <a:t>results</a:t>
            </a:r>
            <a:r>
              <a:rPr dirty="0" sz="2550" spc="-105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arrive </a:t>
            </a:r>
            <a:r>
              <a:rPr dirty="0" sz="2550" spc="-20">
                <a:latin typeface="Adobe Clean"/>
                <a:cs typeface="Adobe Clean"/>
              </a:rPr>
              <a:t>over</a:t>
            </a:r>
            <a:r>
              <a:rPr dirty="0" sz="2550" spc="-120">
                <a:latin typeface="Adobe Clean"/>
                <a:cs typeface="Adobe Clean"/>
              </a:rPr>
              <a:t> </a:t>
            </a:r>
            <a:r>
              <a:rPr dirty="0" sz="2550" spc="-10">
                <a:latin typeface="Adobe Clean"/>
                <a:cs typeface="Adobe Clean"/>
              </a:rPr>
              <a:t>time?</a:t>
            </a:r>
            <a:endParaRPr sz="2550">
              <a:latin typeface="Adobe Clean"/>
              <a:cs typeface="Adobe Clean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902127" y="638325"/>
            <a:ext cx="5090160" cy="1455420"/>
          </a:xfrm>
          <a:prstGeom prst="rect"/>
        </p:spPr>
        <p:txBody>
          <a:bodyPr wrap="square" lIns="0" tIns="24765" rIns="0" bIns="0" rtlCol="0" vert="horz">
            <a:spAutoFit/>
          </a:bodyPr>
          <a:lstStyle/>
          <a:p>
            <a:pPr marL="12700" marR="5080">
              <a:lnSpc>
                <a:spcPts val="5630"/>
              </a:lnSpc>
              <a:spcBef>
                <a:spcPts val="195"/>
              </a:spcBef>
            </a:pPr>
            <a:r>
              <a:rPr dirty="0" sz="4700" spc="-105">
                <a:latin typeface="Adobe Clean Black"/>
                <a:cs typeface="Adobe Clean Black"/>
              </a:rPr>
              <a:t>What</a:t>
            </a:r>
            <a:r>
              <a:rPr dirty="0" sz="4700" spc="-150">
                <a:latin typeface="Adobe Clean Black"/>
                <a:cs typeface="Adobe Clean Black"/>
              </a:rPr>
              <a:t> </a:t>
            </a:r>
            <a:r>
              <a:rPr dirty="0" sz="4700" spc="-110">
                <a:latin typeface="Adobe Clean Black"/>
                <a:cs typeface="Adobe Clean Black"/>
              </a:rPr>
              <a:t>Problem</a:t>
            </a:r>
            <a:r>
              <a:rPr dirty="0" sz="4700" spc="-145">
                <a:latin typeface="Adobe Clean Black"/>
                <a:cs typeface="Adobe Clean Black"/>
              </a:rPr>
              <a:t> </a:t>
            </a:r>
            <a:r>
              <a:rPr dirty="0" sz="4700" spc="-775">
                <a:latin typeface="Adobe Clean Black"/>
                <a:cs typeface="Adobe Clean Black"/>
              </a:rPr>
              <a:t>They </a:t>
            </a:r>
            <a:r>
              <a:rPr dirty="0" sz="4700" spc="-10">
                <a:latin typeface="Adobe Clean Black"/>
                <a:cs typeface="Adobe Clean Black"/>
              </a:rPr>
              <a:t>Addressed</a:t>
            </a:r>
            <a:endParaRPr sz="47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01700" y="4378993"/>
            <a:ext cx="12420600" cy="1277620"/>
          </a:xfrm>
          <a:prstGeom prst="rect"/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8200" spc="-105">
                <a:latin typeface="Adobe Clean Black"/>
                <a:cs typeface="Adobe Clean Black"/>
              </a:rPr>
              <a:t>Design</a:t>
            </a:r>
            <a:r>
              <a:rPr dirty="0" sz="8200" spc="-345">
                <a:latin typeface="Adobe Clean Black"/>
                <a:cs typeface="Adobe Clean Black"/>
              </a:rPr>
              <a:t> </a:t>
            </a:r>
            <a:r>
              <a:rPr dirty="0" sz="8200" spc="-100">
                <a:latin typeface="Adobe Clean Black"/>
                <a:cs typeface="Adobe Clean Black"/>
              </a:rPr>
              <a:t>and</a:t>
            </a:r>
            <a:r>
              <a:rPr dirty="0" sz="8200" spc="-345">
                <a:latin typeface="Adobe Clean Black"/>
                <a:cs typeface="Adobe Clean Black"/>
              </a:rPr>
              <a:t> </a:t>
            </a:r>
            <a:r>
              <a:rPr dirty="0" sz="8200" spc="-114">
                <a:latin typeface="Adobe Clean Black"/>
                <a:cs typeface="Adobe Clean Black"/>
              </a:rPr>
              <a:t>Study</a:t>
            </a:r>
            <a:r>
              <a:rPr dirty="0" sz="8200" spc="-340">
                <a:latin typeface="Adobe Clean Black"/>
                <a:cs typeface="Adobe Clean Black"/>
              </a:rPr>
              <a:t> </a:t>
            </a:r>
            <a:r>
              <a:rPr dirty="0" sz="8200" spc="-90">
                <a:latin typeface="Adobe Clean Black"/>
                <a:cs typeface="Adobe Clean Black"/>
              </a:rPr>
              <a:t>Execution</a:t>
            </a:r>
            <a:endParaRPr sz="82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15265" cy="10287000"/>
          </a:xfrm>
          <a:custGeom>
            <a:avLst/>
            <a:gdLst/>
            <a:ahLst/>
            <a:cxnLst/>
            <a:rect l="l" t="t" r="r" b="b"/>
            <a:pathLst>
              <a:path w="215265" h="10287000">
                <a:moveTo>
                  <a:pt x="215061" y="0"/>
                </a:moveTo>
                <a:lnTo>
                  <a:pt x="0" y="0"/>
                </a:lnTo>
                <a:lnTo>
                  <a:pt x="0" y="10287000"/>
                </a:lnTo>
                <a:lnTo>
                  <a:pt x="215061" y="10287000"/>
                </a:lnTo>
                <a:lnTo>
                  <a:pt x="215061" y="0"/>
                </a:lnTo>
                <a:close/>
              </a:path>
            </a:pathLst>
          </a:custGeom>
          <a:solidFill>
            <a:srgbClr val="EB1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4700" spc="-1630">
                <a:latin typeface="Adobe Clean Black"/>
                <a:cs typeface="Adobe Clean Black"/>
              </a:rPr>
              <a:t>The</a:t>
            </a:r>
            <a:r>
              <a:rPr dirty="0" sz="4700" spc="-175">
                <a:latin typeface="Adobe Clean Black"/>
                <a:cs typeface="Adobe Clean Black"/>
              </a:rPr>
              <a:t> </a:t>
            </a:r>
            <a:r>
              <a:rPr dirty="0" sz="4700" spc="-85">
                <a:latin typeface="Adobe Clean Black"/>
                <a:cs typeface="Adobe Clean Black"/>
              </a:rPr>
              <a:t>Design</a:t>
            </a:r>
            <a:r>
              <a:rPr dirty="0" sz="4700" spc="-175">
                <a:latin typeface="Adobe Clean Black"/>
                <a:cs typeface="Adobe Clean Black"/>
              </a:rPr>
              <a:t> </a:t>
            </a:r>
            <a:r>
              <a:rPr dirty="0" sz="4700" spc="-30">
                <a:latin typeface="Adobe Clean Black"/>
                <a:cs typeface="Adobe Clean Black"/>
              </a:rPr>
              <a:t>Strategy</a:t>
            </a:r>
            <a:endParaRPr sz="4700">
              <a:latin typeface="Adobe Clean Black"/>
              <a:cs typeface="Adobe Clean Black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9780257"/>
            <a:ext cx="898461" cy="21584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03457" y="2469618"/>
            <a:ext cx="8181975" cy="525272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250" spc="-10" b="1">
                <a:latin typeface="Adobe Clean"/>
                <a:cs typeface="Adobe Clean"/>
              </a:rPr>
              <a:t>Teach</a:t>
            </a:r>
            <a:r>
              <a:rPr dirty="0" sz="2250" spc="35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the</a:t>
            </a:r>
            <a:r>
              <a:rPr dirty="0" sz="2250" spc="40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process,</a:t>
            </a:r>
            <a:r>
              <a:rPr dirty="0" sz="2250" spc="45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not</a:t>
            </a:r>
            <a:r>
              <a:rPr dirty="0" sz="2250" spc="40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the</a:t>
            </a:r>
            <a:r>
              <a:rPr dirty="0" sz="2250" spc="45" b="1">
                <a:latin typeface="Adobe Clean"/>
                <a:cs typeface="Adobe Clean"/>
              </a:rPr>
              <a:t> </a:t>
            </a:r>
            <a:r>
              <a:rPr dirty="0" sz="2250" spc="-20" b="1">
                <a:latin typeface="Adobe Clean"/>
                <a:cs typeface="Adobe Clean"/>
              </a:rPr>
              <a:t>race</a:t>
            </a:r>
            <a:endParaRPr sz="2250">
              <a:latin typeface="Adobe Clean"/>
              <a:cs typeface="Adobe Clean"/>
            </a:endParaRPr>
          </a:p>
          <a:p>
            <a:pPr marL="257810" indent="-245110">
              <a:lnSpc>
                <a:spcPct val="100000"/>
              </a:lnSpc>
              <a:spcBef>
                <a:spcPts val="2130"/>
              </a:spcBef>
              <a:buFont typeface="Times New Roman"/>
              <a:buChar char="•"/>
              <a:tabLst>
                <a:tab pos="257810" algn="l"/>
              </a:tabLst>
            </a:pPr>
            <a:r>
              <a:rPr dirty="0" sz="2250" spc="-400">
                <a:latin typeface="Adobe Clean"/>
                <a:cs typeface="Adobe Clean"/>
              </a:rPr>
              <a:t>The</a:t>
            </a:r>
            <a:r>
              <a:rPr dirty="0" sz="2250" spc="5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dashboard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focused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on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how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counts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evolve,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not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only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who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 spc="-10">
                <a:latin typeface="Adobe Clean"/>
                <a:cs typeface="Adobe Clean"/>
              </a:rPr>
              <a:t>leads.</a:t>
            </a:r>
            <a:endParaRPr sz="2250">
              <a:latin typeface="Adobe Clean"/>
              <a:cs typeface="Adobe Clean"/>
            </a:endParaRPr>
          </a:p>
          <a:p>
            <a:pPr marL="257810" indent="-245110">
              <a:lnSpc>
                <a:spcPct val="100000"/>
              </a:lnSpc>
              <a:spcBef>
                <a:spcPts val="555"/>
              </a:spcBef>
              <a:buFont typeface="Times New Roman"/>
              <a:buChar char="•"/>
              <a:tabLst>
                <a:tab pos="257810" algn="l"/>
              </a:tabLst>
            </a:pPr>
            <a:r>
              <a:rPr dirty="0" sz="2250">
                <a:latin typeface="Adobe Clean"/>
                <a:cs typeface="Adobe Clean"/>
              </a:rPr>
              <a:t>It</a:t>
            </a:r>
            <a:r>
              <a:rPr dirty="0" sz="2250" spc="5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treated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live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results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as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an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unfolding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process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audiences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can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 spc="-10">
                <a:latin typeface="Adobe Clean"/>
                <a:cs typeface="Adobe Clean"/>
              </a:rPr>
              <a:t>learn.</a:t>
            </a:r>
            <a:endParaRPr sz="2250">
              <a:latin typeface="Adobe Clean"/>
              <a:cs typeface="Adobe Clean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Times New Roman"/>
              <a:buChar char="•"/>
            </a:pPr>
            <a:endParaRPr sz="2250">
              <a:latin typeface="Adobe Clean"/>
              <a:cs typeface="Adobe Clean"/>
            </a:endParaRPr>
          </a:p>
          <a:p>
            <a:pPr marL="12700">
              <a:lnSpc>
                <a:spcPct val="100000"/>
              </a:lnSpc>
            </a:pPr>
            <a:r>
              <a:rPr dirty="0" sz="2250" b="1">
                <a:latin typeface="Adobe Clean"/>
                <a:cs typeface="Adobe Clean"/>
              </a:rPr>
              <a:t>Three</a:t>
            </a:r>
            <a:r>
              <a:rPr dirty="0" sz="2250" spc="15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design</a:t>
            </a:r>
            <a:r>
              <a:rPr dirty="0" sz="2250" spc="30" b="1">
                <a:latin typeface="Adobe Clean"/>
                <a:cs typeface="Adobe Clean"/>
              </a:rPr>
              <a:t> </a:t>
            </a:r>
            <a:r>
              <a:rPr dirty="0" sz="2250" spc="-20" b="1">
                <a:latin typeface="Adobe Clean"/>
                <a:cs typeface="Adobe Clean"/>
              </a:rPr>
              <a:t>goals</a:t>
            </a:r>
            <a:endParaRPr sz="2250">
              <a:latin typeface="Adobe Clean"/>
              <a:cs typeface="Adobe Clean"/>
            </a:endParaRPr>
          </a:p>
          <a:p>
            <a:pPr marL="257810" indent="-245110">
              <a:lnSpc>
                <a:spcPct val="100000"/>
              </a:lnSpc>
              <a:spcBef>
                <a:spcPts val="2130"/>
              </a:spcBef>
              <a:buFont typeface="Times New Roman"/>
              <a:buChar char="•"/>
              <a:tabLst>
                <a:tab pos="257810" algn="l"/>
              </a:tabLst>
            </a:pPr>
            <a:r>
              <a:rPr dirty="0" sz="2250">
                <a:latin typeface="Adobe Clean"/>
                <a:cs typeface="Adobe Clean"/>
              </a:rPr>
              <a:t>Make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it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clear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that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reported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votes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are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still</a:t>
            </a:r>
            <a:r>
              <a:rPr dirty="0" sz="2250" spc="65">
                <a:latin typeface="Adobe Clean"/>
                <a:cs typeface="Adobe Clean"/>
              </a:rPr>
              <a:t> </a:t>
            </a:r>
            <a:r>
              <a:rPr dirty="0" sz="2250" spc="-10" b="1">
                <a:latin typeface="Adobe Clean"/>
                <a:cs typeface="Adobe Clean"/>
              </a:rPr>
              <a:t>partial</a:t>
            </a:r>
            <a:r>
              <a:rPr dirty="0" sz="2250" spc="-10">
                <a:latin typeface="Adobe Clean"/>
                <a:cs typeface="Adobe Clean"/>
              </a:rPr>
              <a:t>.</a:t>
            </a:r>
            <a:endParaRPr sz="2250">
              <a:latin typeface="Adobe Clean"/>
              <a:cs typeface="Adobe Clean"/>
            </a:endParaRPr>
          </a:p>
          <a:p>
            <a:pPr marL="257810" indent="-245110">
              <a:lnSpc>
                <a:spcPct val="100000"/>
              </a:lnSpc>
              <a:spcBef>
                <a:spcPts val="555"/>
              </a:spcBef>
              <a:buFont typeface="Times New Roman"/>
              <a:buChar char="•"/>
              <a:tabLst>
                <a:tab pos="257810" algn="l"/>
              </a:tabLst>
            </a:pPr>
            <a:r>
              <a:rPr dirty="0" sz="2250">
                <a:latin typeface="Adobe Clean"/>
                <a:cs typeface="Adobe Clean"/>
              </a:rPr>
              <a:t>Show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that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apparent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trends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can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shift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as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more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votes</a:t>
            </a:r>
            <a:r>
              <a:rPr dirty="0" sz="2250" spc="60">
                <a:latin typeface="Adobe Clean"/>
                <a:cs typeface="Adobe Clean"/>
              </a:rPr>
              <a:t> </a:t>
            </a:r>
            <a:r>
              <a:rPr dirty="0" sz="2250" spc="-10">
                <a:latin typeface="Adobe Clean"/>
                <a:cs typeface="Adobe Clean"/>
              </a:rPr>
              <a:t>arrive.</a:t>
            </a:r>
            <a:endParaRPr sz="2250">
              <a:latin typeface="Adobe Clean"/>
              <a:cs typeface="Adobe Clean"/>
            </a:endParaRPr>
          </a:p>
          <a:p>
            <a:pPr marL="257810" indent="-245110">
              <a:lnSpc>
                <a:spcPct val="100000"/>
              </a:lnSpc>
              <a:spcBef>
                <a:spcPts val="555"/>
              </a:spcBef>
              <a:buFont typeface="Times New Roman"/>
              <a:buChar char="•"/>
              <a:tabLst>
                <a:tab pos="257810" algn="l"/>
              </a:tabLst>
            </a:pPr>
            <a:r>
              <a:rPr dirty="0" sz="2250">
                <a:latin typeface="Adobe Clean"/>
                <a:cs typeface="Adobe Clean"/>
              </a:rPr>
              <a:t>Link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visible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shifts</a:t>
            </a:r>
            <a:r>
              <a:rPr dirty="0" sz="2250" spc="7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to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counting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procedures,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not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assumed</a:t>
            </a:r>
            <a:r>
              <a:rPr dirty="0" sz="2250" spc="70">
                <a:latin typeface="Adobe Clean"/>
                <a:cs typeface="Adobe Clean"/>
              </a:rPr>
              <a:t> </a:t>
            </a:r>
            <a:r>
              <a:rPr dirty="0" sz="2250" spc="-10">
                <a:latin typeface="Adobe Clean"/>
                <a:cs typeface="Adobe Clean"/>
              </a:rPr>
              <a:t>wrongdoing.</a:t>
            </a:r>
            <a:endParaRPr sz="2250">
              <a:latin typeface="Adobe Clean"/>
              <a:cs typeface="Adobe Clean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Times New Roman"/>
              <a:buChar char="•"/>
            </a:pPr>
            <a:endParaRPr sz="2250">
              <a:latin typeface="Adobe Clean"/>
              <a:cs typeface="Adobe Cle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sz="2250" b="1">
                <a:latin typeface="Adobe Clean"/>
                <a:cs typeface="Adobe Clean"/>
              </a:rPr>
              <a:t>How</a:t>
            </a:r>
            <a:r>
              <a:rPr dirty="0" sz="2250" spc="100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viewers</a:t>
            </a:r>
            <a:r>
              <a:rPr dirty="0" sz="2250" spc="100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form</a:t>
            </a:r>
            <a:r>
              <a:rPr dirty="0" sz="2250" spc="100" b="1">
                <a:latin typeface="Adobe Clean"/>
                <a:cs typeface="Adobe Clean"/>
              </a:rPr>
              <a:t> </a:t>
            </a:r>
            <a:r>
              <a:rPr dirty="0" sz="2250" spc="-10" b="1">
                <a:latin typeface="Adobe Clean"/>
                <a:cs typeface="Adobe Clean"/>
              </a:rPr>
              <a:t>expectations</a:t>
            </a:r>
            <a:endParaRPr sz="2250">
              <a:latin typeface="Adobe Clean"/>
              <a:cs typeface="Adobe Clean"/>
            </a:endParaRPr>
          </a:p>
          <a:p>
            <a:pPr marL="257810" indent="-245110">
              <a:lnSpc>
                <a:spcPct val="100000"/>
              </a:lnSpc>
              <a:spcBef>
                <a:spcPts val="2130"/>
              </a:spcBef>
              <a:buFont typeface="Times New Roman"/>
              <a:buChar char="•"/>
              <a:tabLst>
                <a:tab pos="257810" algn="l"/>
              </a:tabLst>
            </a:pPr>
            <a:r>
              <a:rPr dirty="0" sz="2250">
                <a:latin typeface="Adobe Clean"/>
                <a:cs typeface="Adobe Clean"/>
              </a:rPr>
              <a:t>Assumed</a:t>
            </a:r>
            <a:r>
              <a:rPr dirty="0" sz="2250" spc="8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viewers</a:t>
            </a:r>
            <a:r>
              <a:rPr dirty="0" sz="2250" spc="9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enter</a:t>
            </a:r>
            <a:r>
              <a:rPr dirty="0" sz="2250" spc="9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with</a:t>
            </a:r>
            <a:r>
              <a:rPr dirty="0" sz="2250" spc="9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a</a:t>
            </a:r>
            <a:r>
              <a:rPr dirty="0" sz="2250" spc="9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“mental</a:t>
            </a:r>
            <a:r>
              <a:rPr dirty="0" sz="2250" spc="9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forecast”</a:t>
            </a:r>
            <a:r>
              <a:rPr dirty="0" sz="2250" spc="9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of</a:t>
            </a:r>
            <a:r>
              <a:rPr dirty="0" sz="2250" spc="9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the</a:t>
            </a:r>
            <a:r>
              <a:rPr dirty="0" sz="2250" spc="95">
                <a:latin typeface="Adobe Clean"/>
                <a:cs typeface="Adobe Clean"/>
              </a:rPr>
              <a:t> </a:t>
            </a:r>
            <a:r>
              <a:rPr dirty="0" sz="2250" spc="-10">
                <a:latin typeface="Adobe Clean"/>
                <a:cs typeface="Adobe Clean"/>
              </a:rPr>
              <a:t>outcome.</a:t>
            </a:r>
            <a:endParaRPr sz="2250">
              <a:latin typeface="Adobe Clean"/>
              <a:cs typeface="Adobe Clean"/>
            </a:endParaRPr>
          </a:p>
          <a:p>
            <a:pPr marL="257810" indent="-245110">
              <a:lnSpc>
                <a:spcPct val="100000"/>
              </a:lnSpc>
              <a:spcBef>
                <a:spcPts val="555"/>
              </a:spcBef>
              <a:buFont typeface="Times New Roman"/>
              <a:buChar char="•"/>
              <a:tabLst>
                <a:tab pos="257810" algn="l"/>
              </a:tabLst>
            </a:pPr>
            <a:r>
              <a:rPr dirty="0" sz="2250">
                <a:latin typeface="Adobe Clean"/>
                <a:cs typeface="Adobe Clean"/>
              </a:rPr>
              <a:t>As</a:t>
            </a:r>
            <a:r>
              <a:rPr dirty="0" sz="2250" spc="105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new</a:t>
            </a:r>
            <a:r>
              <a:rPr dirty="0" sz="2250" spc="12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batches</a:t>
            </a:r>
            <a:r>
              <a:rPr dirty="0" sz="2250" spc="114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report,</a:t>
            </a:r>
            <a:r>
              <a:rPr dirty="0" sz="2250" spc="12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viewers</a:t>
            </a:r>
            <a:r>
              <a:rPr dirty="0" sz="2250" spc="114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revise</a:t>
            </a:r>
            <a:r>
              <a:rPr dirty="0" sz="2250" spc="12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expectations</a:t>
            </a:r>
            <a:r>
              <a:rPr dirty="0" sz="2250" spc="114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over</a:t>
            </a:r>
            <a:r>
              <a:rPr dirty="0" sz="2250" spc="120">
                <a:latin typeface="Adobe Clean"/>
                <a:cs typeface="Adobe Clean"/>
              </a:rPr>
              <a:t> </a:t>
            </a:r>
            <a:r>
              <a:rPr dirty="0" sz="2250">
                <a:latin typeface="Adobe Clean"/>
                <a:cs typeface="Adobe Clean"/>
              </a:rPr>
              <a:t>the</a:t>
            </a:r>
            <a:r>
              <a:rPr dirty="0" sz="2250" spc="114">
                <a:latin typeface="Adobe Clean"/>
                <a:cs typeface="Adobe Clean"/>
              </a:rPr>
              <a:t> </a:t>
            </a:r>
            <a:r>
              <a:rPr dirty="0" sz="2250" spc="-10">
                <a:latin typeface="Adobe Clean"/>
                <a:cs typeface="Adobe Clean"/>
              </a:rPr>
              <a:t>night.</a:t>
            </a:r>
            <a:endParaRPr sz="2250">
              <a:latin typeface="Adobe Clean"/>
              <a:cs typeface="Adobe Clean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617814" y="2530576"/>
            <a:ext cx="7754134" cy="58156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42825" y="6083102"/>
            <a:ext cx="4796155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35" b="1">
                <a:latin typeface="Adobe Clean"/>
                <a:cs typeface="Adobe Clean"/>
              </a:rPr>
              <a:t>Explain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175" b="1">
                <a:latin typeface="Adobe Clean"/>
                <a:cs typeface="Adobe Clean"/>
              </a:rPr>
              <a:t>shifts</a:t>
            </a:r>
            <a:r>
              <a:rPr dirty="0" sz="2600" spc="-85" b="1">
                <a:latin typeface="Adobe Clean"/>
                <a:cs typeface="Adobe Clean"/>
              </a:rPr>
              <a:t> </a:t>
            </a:r>
            <a:r>
              <a:rPr dirty="0" sz="2600" spc="-40" b="1">
                <a:latin typeface="Adobe Clean"/>
                <a:cs typeface="Adobe Clean"/>
              </a:rPr>
              <a:t>without</a:t>
            </a:r>
            <a:r>
              <a:rPr dirty="0" sz="2600" spc="-85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drama</a:t>
            </a:r>
            <a:endParaRPr sz="2600">
              <a:latin typeface="Adobe Clean"/>
              <a:cs typeface="Adobe Clean"/>
            </a:endParaRPr>
          </a:p>
          <a:p>
            <a:pPr marL="292735" marR="29845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20">
                <a:latin typeface="Adobe Clean"/>
                <a:cs typeface="Adobe Clean"/>
              </a:rPr>
              <a:t>Short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text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linked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flips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and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surges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to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55">
                <a:latin typeface="Adobe Clean"/>
                <a:cs typeface="Adobe Clean"/>
              </a:rPr>
              <a:t>counting</a:t>
            </a:r>
            <a:r>
              <a:rPr dirty="0" sz="2600" spc="-8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procedures.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84">
                <a:latin typeface="Adobe Clean"/>
                <a:cs typeface="Adobe Clean"/>
              </a:rPr>
              <a:t>The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goal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was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to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reduce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fraud </a:t>
            </a:r>
            <a:r>
              <a:rPr dirty="0" sz="2600" spc="-20">
                <a:latin typeface="Adobe Clean"/>
                <a:cs typeface="Adobe Clean"/>
              </a:rPr>
              <a:t>	</a:t>
            </a:r>
            <a:r>
              <a:rPr dirty="0" sz="2600" spc="-50">
                <a:latin typeface="Adobe Clean"/>
                <a:cs typeface="Adobe Clean"/>
              </a:rPr>
              <a:t>assumptions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from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normal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patterns.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67492" y="6083239"/>
            <a:ext cx="4891405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45" b="1">
                <a:latin typeface="Adobe Clean"/>
                <a:cs typeface="Adobe Clean"/>
              </a:rPr>
              <a:t>Show</a:t>
            </a:r>
            <a:r>
              <a:rPr dirty="0" sz="2600" spc="-95" b="1">
                <a:latin typeface="Adobe Clean"/>
                <a:cs typeface="Adobe Clean"/>
              </a:rPr>
              <a:t> </a:t>
            </a:r>
            <a:r>
              <a:rPr dirty="0" sz="2600" spc="-50" b="1">
                <a:latin typeface="Adobe Clean"/>
                <a:cs typeface="Adobe Clean"/>
              </a:rPr>
              <a:t>what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could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happen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20" b="1">
                <a:latin typeface="Adobe Clean"/>
                <a:cs typeface="Adobe Clean"/>
              </a:rPr>
              <a:t>next</a:t>
            </a:r>
            <a:endParaRPr sz="2600">
              <a:latin typeface="Adobe Clean"/>
              <a:cs typeface="Adobe Clean"/>
            </a:endParaRPr>
          </a:p>
          <a:p>
            <a:pPr marL="292735" marR="315595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20">
                <a:latin typeface="Adobe Clean"/>
                <a:cs typeface="Adobe Clean"/>
              </a:rPr>
              <a:t>Live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forecasts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previewed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possible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40">
                <a:latin typeface="Adobe Clean"/>
                <a:cs typeface="Adobe Clean"/>
              </a:rPr>
              <a:t>paths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for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vote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share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over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time.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>
                <a:latin typeface="Adobe Clean"/>
                <a:cs typeface="Adobe Clean"/>
              </a:rPr>
              <a:t>A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second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forecast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showed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expected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45">
                <a:latin typeface="Adobe Clean"/>
                <a:cs typeface="Adobe Clean"/>
              </a:rPr>
              <a:t>pace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of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counting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for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days.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2167" y="6083239"/>
            <a:ext cx="4876165" cy="280987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50" b="1">
                <a:latin typeface="Adobe Clean"/>
                <a:cs typeface="Adobe Clean"/>
              </a:rPr>
              <a:t>Make</a:t>
            </a:r>
            <a:r>
              <a:rPr dirty="0" sz="2600" spc="-95" b="1">
                <a:latin typeface="Adobe Clean"/>
                <a:cs typeface="Adobe Clean"/>
              </a:rPr>
              <a:t> </a:t>
            </a:r>
            <a:r>
              <a:rPr dirty="0" sz="2600" spc="-25" b="1">
                <a:latin typeface="Adobe Clean"/>
                <a:cs typeface="Adobe Clean"/>
              </a:rPr>
              <a:t>partial</a:t>
            </a:r>
            <a:r>
              <a:rPr dirty="0" sz="2600" spc="-95" b="1">
                <a:latin typeface="Adobe Clean"/>
                <a:cs typeface="Adobe Clean"/>
              </a:rPr>
              <a:t> </a:t>
            </a:r>
            <a:r>
              <a:rPr dirty="0" sz="2600" spc="-30" b="1">
                <a:latin typeface="Adobe Clean"/>
                <a:cs typeface="Adobe Clean"/>
              </a:rPr>
              <a:t>results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obvious</a:t>
            </a:r>
            <a:endParaRPr sz="2600">
              <a:latin typeface="Adobe Clean"/>
              <a:cs typeface="Adobe Clean"/>
            </a:endParaRPr>
          </a:p>
          <a:p>
            <a:pPr marL="292735" marR="401955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>
                <a:latin typeface="Adobe Clean"/>
                <a:cs typeface="Adobe Clean"/>
              </a:rPr>
              <a:t>A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large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progress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bar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emphasized 	votes</a:t>
            </a:r>
            <a:r>
              <a:rPr dirty="0" sz="2600" spc="-12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counted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versus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votes 	outstanding</a:t>
            </a:r>
            <a:r>
              <a:rPr dirty="0" sz="2600" spc="-10">
                <a:latin typeface="Adobe Clean"/>
                <a:cs typeface="Adobe Clean"/>
              </a:rPr>
              <a:t>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7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County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maps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also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showed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55">
                <a:latin typeface="Adobe Clean"/>
                <a:cs typeface="Adobe Clean"/>
              </a:rPr>
              <a:t>remaining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votes,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not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just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who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leads.</a:t>
            </a:r>
            <a:endParaRPr sz="2600">
              <a:latin typeface="Adobe Clean"/>
              <a:cs typeface="Adobe Cle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59202" y="2206883"/>
            <a:ext cx="4389696" cy="375716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80187" y="2206883"/>
            <a:ext cx="4893360" cy="375716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4875" y="2206883"/>
            <a:ext cx="4893348" cy="3757163"/>
          </a:xfrm>
          <a:prstGeom prst="rect">
            <a:avLst/>
          </a:prstGeom>
        </p:spPr>
      </p:pic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902147" y="663318"/>
            <a:ext cx="5335270" cy="565150"/>
          </a:xfrm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pc="-85">
                <a:latin typeface="Adobe Clean Black"/>
                <a:cs typeface="Adobe Clean Black"/>
              </a:rPr>
              <a:t>What</a:t>
            </a:r>
            <a:r>
              <a:rPr dirty="0" spc="-135">
                <a:latin typeface="Adobe Clean Black"/>
                <a:cs typeface="Adobe Clean Black"/>
              </a:rPr>
              <a:t> </a:t>
            </a:r>
            <a:r>
              <a:rPr dirty="0" spc="-55">
                <a:latin typeface="Adobe Clean Black"/>
                <a:cs typeface="Adobe Clean Black"/>
              </a:rPr>
              <a:t>the</a:t>
            </a:r>
            <a:r>
              <a:rPr dirty="0" spc="-135">
                <a:latin typeface="Adobe Clean Black"/>
                <a:cs typeface="Adobe Clean Black"/>
              </a:rPr>
              <a:t> </a:t>
            </a:r>
            <a:r>
              <a:rPr dirty="0" spc="-80">
                <a:latin typeface="Adobe Clean Black"/>
                <a:cs typeface="Adobe Clean Black"/>
              </a:rPr>
              <a:t>Dashboard</a:t>
            </a:r>
            <a:r>
              <a:rPr dirty="0" spc="-135">
                <a:latin typeface="Adobe Clean Black"/>
                <a:cs typeface="Adobe Clean Black"/>
              </a:rPr>
              <a:t> </a:t>
            </a:r>
            <a:r>
              <a:rPr dirty="0" spc="-10">
                <a:latin typeface="Adobe Clean Black"/>
                <a:cs typeface="Adobe Clean Black"/>
              </a:rPr>
              <a:t>Added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15265" cy="10287000"/>
          </a:xfrm>
          <a:custGeom>
            <a:avLst/>
            <a:gdLst/>
            <a:ahLst/>
            <a:cxnLst/>
            <a:rect l="l" t="t" r="r" b="b"/>
            <a:pathLst>
              <a:path w="215265" h="10287000">
                <a:moveTo>
                  <a:pt x="215061" y="0"/>
                </a:moveTo>
                <a:lnTo>
                  <a:pt x="0" y="0"/>
                </a:lnTo>
                <a:lnTo>
                  <a:pt x="0" y="10287000"/>
                </a:lnTo>
                <a:lnTo>
                  <a:pt x="215061" y="10287000"/>
                </a:lnTo>
                <a:lnTo>
                  <a:pt x="215061" y="0"/>
                </a:lnTo>
                <a:close/>
              </a:path>
            </a:pathLst>
          </a:custGeom>
          <a:solidFill>
            <a:srgbClr val="EB1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4700" spc="-135">
                <a:latin typeface="Adobe Clean Black"/>
                <a:cs typeface="Adobe Clean Black"/>
              </a:rPr>
              <a:t>How</a:t>
            </a:r>
            <a:r>
              <a:rPr dirty="0" sz="4700" spc="-160">
                <a:latin typeface="Adobe Clean Black"/>
                <a:cs typeface="Adobe Clean Black"/>
              </a:rPr>
              <a:t> </a:t>
            </a:r>
            <a:r>
              <a:rPr dirty="0" sz="4700" spc="-85">
                <a:latin typeface="Adobe Clean Black"/>
                <a:cs typeface="Adobe Clean Black"/>
              </a:rPr>
              <a:t>the</a:t>
            </a:r>
            <a:r>
              <a:rPr dirty="0" sz="4700" spc="-160">
                <a:latin typeface="Adobe Clean Black"/>
                <a:cs typeface="Adobe Clean Black"/>
              </a:rPr>
              <a:t> </a:t>
            </a:r>
            <a:r>
              <a:rPr dirty="0" sz="4700" spc="-100">
                <a:latin typeface="Adobe Clean Black"/>
                <a:cs typeface="Adobe Clean Black"/>
              </a:rPr>
              <a:t>Study</a:t>
            </a:r>
            <a:r>
              <a:rPr dirty="0" sz="4700" spc="-160">
                <a:latin typeface="Adobe Clean Black"/>
                <a:cs typeface="Adobe Clean Black"/>
              </a:rPr>
              <a:t> </a:t>
            </a:r>
            <a:r>
              <a:rPr dirty="0" sz="4700" spc="-25">
                <a:latin typeface="Adobe Clean Black"/>
                <a:cs typeface="Adobe Clean Black"/>
              </a:rPr>
              <a:t>Ran</a:t>
            </a:r>
            <a:endParaRPr sz="4700">
              <a:latin typeface="Adobe Clean Black"/>
              <a:cs typeface="Adobe Clean Black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9780257"/>
            <a:ext cx="898461" cy="21584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Real-election</a:t>
            </a:r>
            <a:r>
              <a:rPr dirty="0" spc="229"/>
              <a:t> </a:t>
            </a:r>
            <a:r>
              <a:rPr dirty="0" spc="-10"/>
              <a:t>deployment</a:t>
            </a:r>
          </a:p>
          <a:p>
            <a:pPr marL="274955" indent="-262255">
              <a:lnSpc>
                <a:spcPct val="100000"/>
              </a:lnSpc>
              <a:spcBef>
                <a:spcPts val="2295"/>
              </a:spcBef>
              <a:buFont typeface="Times New Roman"/>
              <a:buChar char="•"/>
              <a:tabLst>
                <a:tab pos="274955" algn="l"/>
              </a:tabLst>
            </a:pPr>
            <a:r>
              <a:rPr dirty="0" spc="-430" b="0">
                <a:latin typeface="Adobe Clean"/>
                <a:cs typeface="Adobe Clean"/>
              </a:rPr>
              <a:t>The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dashboard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ran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live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during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the</a:t>
            </a:r>
            <a:r>
              <a:rPr dirty="0" spc="7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2024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U.S.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presidential</a:t>
            </a:r>
            <a:r>
              <a:rPr dirty="0" spc="65" b="0">
                <a:latin typeface="Adobe Clean"/>
                <a:cs typeface="Adobe Clean"/>
              </a:rPr>
              <a:t> </a:t>
            </a:r>
            <a:r>
              <a:rPr dirty="0" spc="-10" b="0">
                <a:latin typeface="Adobe Clean"/>
                <a:cs typeface="Adobe Clean"/>
              </a:rPr>
              <a:t>count.</a:t>
            </a:r>
          </a:p>
          <a:p>
            <a:pPr marL="274955" indent="-262255">
              <a:lnSpc>
                <a:spcPct val="100000"/>
              </a:lnSpc>
              <a:spcBef>
                <a:spcPts val="610"/>
              </a:spcBef>
              <a:buFont typeface="Times New Roman"/>
              <a:buChar char="•"/>
              <a:tabLst>
                <a:tab pos="274955" algn="l"/>
              </a:tabLst>
            </a:pPr>
            <a:r>
              <a:rPr dirty="0" b="0">
                <a:latin typeface="Adobe Clean"/>
                <a:cs typeface="Adobe Clean"/>
              </a:rPr>
              <a:t>It</a:t>
            </a:r>
            <a:r>
              <a:rPr dirty="0" spc="11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used</a:t>
            </a:r>
            <a:r>
              <a:rPr dirty="0" spc="114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real-time</a:t>
            </a:r>
            <a:r>
              <a:rPr dirty="0" spc="114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results</a:t>
            </a:r>
            <a:r>
              <a:rPr dirty="0" spc="114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from</a:t>
            </a:r>
            <a:r>
              <a:rPr dirty="0" spc="114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the</a:t>
            </a:r>
            <a:r>
              <a:rPr dirty="0" spc="114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Associated</a:t>
            </a:r>
            <a:r>
              <a:rPr dirty="0" spc="114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Press</a:t>
            </a:r>
            <a:r>
              <a:rPr dirty="0" spc="114" b="0">
                <a:latin typeface="Adobe Clean"/>
                <a:cs typeface="Adobe Clean"/>
              </a:rPr>
              <a:t> </a:t>
            </a:r>
            <a:r>
              <a:rPr dirty="0" spc="-10" b="0">
                <a:latin typeface="Adobe Clean"/>
                <a:cs typeface="Adobe Clean"/>
              </a:rPr>
              <a:t>(AP).</a:t>
            </a:r>
          </a:p>
          <a:p>
            <a:pPr>
              <a:lnSpc>
                <a:spcPct val="100000"/>
              </a:lnSpc>
              <a:spcBef>
                <a:spcPts val="40"/>
              </a:spcBef>
              <a:buFont typeface="Times New Roman"/>
              <a:buChar char="•"/>
            </a:p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/>
              <a:t>Participants</a:t>
            </a:r>
            <a:r>
              <a:rPr dirty="0" spc="145"/>
              <a:t> </a:t>
            </a:r>
            <a:r>
              <a:rPr dirty="0"/>
              <a:t>and</a:t>
            </a:r>
            <a:r>
              <a:rPr dirty="0" spc="145"/>
              <a:t> </a:t>
            </a:r>
            <a:r>
              <a:rPr dirty="0" spc="-10"/>
              <a:t>engagement</a:t>
            </a:r>
          </a:p>
          <a:p>
            <a:pPr marL="274955" indent="-262255">
              <a:lnSpc>
                <a:spcPct val="100000"/>
              </a:lnSpc>
              <a:spcBef>
                <a:spcPts val="2295"/>
              </a:spcBef>
              <a:buFont typeface="Times New Roman"/>
              <a:buChar char="•"/>
              <a:tabLst>
                <a:tab pos="274955" algn="l"/>
              </a:tabLst>
            </a:pPr>
            <a:r>
              <a:rPr dirty="0">
                <a:latin typeface="Adobe Clean"/>
                <a:cs typeface="Adobe Clean"/>
              </a:rPr>
              <a:t>795</a:t>
            </a:r>
            <a:r>
              <a:rPr dirty="0" spc="40" b="0">
                <a:latin typeface="Liberation Serif"/>
                <a:cs typeface="Liberation Serif"/>
              </a:rPr>
              <a:t> </a:t>
            </a:r>
            <a:r>
              <a:rPr dirty="0" b="0">
                <a:latin typeface="Adobe Clean"/>
                <a:cs typeface="Adobe Clean"/>
              </a:rPr>
              <a:t>U.S.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adults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were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recruited</a:t>
            </a:r>
            <a:r>
              <a:rPr dirty="0" spc="8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and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assigned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dashboard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spc="-10" b="0">
                <a:latin typeface="Adobe Clean"/>
                <a:cs typeface="Adobe Clean"/>
              </a:rPr>
              <a:t>version.</a:t>
            </a:r>
          </a:p>
          <a:p>
            <a:pPr marL="274955" indent="-262255">
              <a:lnSpc>
                <a:spcPct val="100000"/>
              </a:lnSpc>
              <a:spcBef>
                <a:spcPts val="605"/>
              </a:spcBef>
              <a:buFont typeface="Times New Roman"/>
              <a:buChar char="•"/>
              <a:tabLst>
                <a:tab pos="274955" algn="l"/>
              </a:tabLst>
            </a:pPr>
            <a:r>
              <a:rPr dirty="0">
                <a:latin typeface="Adobe Clean"/>
                <a:cs typeface="Adobe Clean"/>
              </a:rPr>
              <a:t>308</a:t>
            </a:r>
            <a:r>
              <a:rPr dirty="0" spc="40" b="0">
                <a:latin typeface="Liberation Serif"/>
                <a:cs typeface="Liberation Serif"/>
              </a:rPr>
              <a:t> </a:t>
            </a:r>
            <a:r>
              <a:rPr dirty="0" b="0">
                <a:latin typeface="Adobe Clean"/>
                <a:cs typeface="Adobe Clean"/>
              </a:rPr>
              <a:t>visited</a:t>
            </a:r>
            <a:r>
              <a:rPr dirty="0" spc="8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at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least</a:t>
            </a:r>
            <a:r>
              <a:rPr dirty="0" spc="8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one</a:t>
            </a:r>
            <a:r>
              <a:rPr dirty="0" spc="9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swing-state</a:t>
            </a:r>
            <a:r>
              <a:rPr dirty="0" spc="8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results</a:t>
            </a:r>
            <a:r>
              <a:rPr dirty="0" spc="85" b="0">
                <a:latin typeface="Adobe Clean"/>
                <a:cs typeface="Adobe Clean"/>
              </a:rPr>
              <a:t> </a:t>
            </a:r>
            <a:r>
              <a:rPr dirty="0" spc="-10" b="0">
                <a:latin typeface="Adobe Clean"/>
                <a:cs typeface="Adobe Clean"/>
              </a:rPr>
              <a:t>page.</a:t>
            </a:r>
          </a:p>
          <a:p>
            <a:pPr>
              <a:lnSpc>
                <a:spcPct val="100000"/>
              </a:lnSpc>
              <a:spcBef>
                <a:spcPts val="45"/>
              </a:spcBef>
              <a:buFont typeface="Times New Roman"/>
              <a:buChar char="•"/>
            </a:pPr>
          </a:p>
          <a:p>
            <a:pPr marL="12700">
              <a:lnSpc>
                <a:spcPct val="100000"/>
              </a:lnSpc>
            </a:pPr>
            <a:r>
              <a:rPr dirty="0"/>
              <a:t>Mixed-method</a:t>
            </a:r>
            <a:r>
              <a:rPr dirty="0" spc="220"/>
              <a:t> </a:t>
            </a:r>
            <a:r>
              <a:rPr dirty="0" spc="-10"/>
              <a:t>evaluation</a:t>
            </a:r>
          </a:p>
          <a:p>
            <a:pPr marL="274955" indent="-262255">
              <a:lnSpc>
                <a:spcPct val="100000"/>
              </a:lnSpc>
              <a:spcBef>
                <a:spcPts val="2295"/>
              </a:spcBef>
              <a:buFont typeface="Times New Roman"/>
              <a:buChar char="•"/>
              <a:tabLst>
                <a:tab pos="274955" algn="l"/>
              </a:tabLst>
            </a:pPr>
            <a:r>
              <a:rPr dirty="0" b="0">
                <a:latin typeface="Adobe Clean"/>
                <a:cs typeface="Adobe Clean"/>
              </a:rPr>
              <a:t>Surveys</a:t>
            </a:r>
            <a:r>
              <a:rPr dirty="0" spc="14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were</a:t>
            </a:r>
            <a:r>
              <a:rPr dirty="0" spc="15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collected</a:t>
            </a:r>
            <a:r>
              <a:rPr dirty="0" spc="15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before,</a:t>
            </a:r>
            <a:r>
              <a:rPr dirty="0" spc="15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during,</a:t>
            </a:r>
            <a:r>
              <a:rPr dirty="0" spc="15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and</a:t>
            </a:r>
            <a:r>
              <a:rPr dirty="0" spc="15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after</a:t>
            </a:r>
            <a:r>
              <a:rPr dirty="0" spc="15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election</a:t>
            </a:r>
            <a:r>
              <a:rPr dirty="0" spc="150" b="0">
                <a:latin typeface="Adobe Clean"/>
                <a:cs typeface="Adobe Clean"/>
              </a:rPr>
              <a:t> </a:t>
            </a:r>
            <a:r>
              <a:rPr dirty="0" spc="-10" b="0">
                <a:latin typeface="Adobe Clean"/>
                <a:cs typeface="Adobe Clean"/>
              </a:rPr>
              <a:t>night.</a:t>
            </a:r>
          </a:p>
          <a:p>
            <a:pPr marL="274320" marR="850900" indent="-262255">
              <a:lnSpc>
                <a:spcPct val="101600"/>
              </a:lnSpc>
              <a:spcBef>
                <a:spcPts val="560"/>
              </a:spcBef>
              <a:buFont typeface="Times New Roman"/>
              <a:buChar char="•"/>
              <a:tabLst>
                <a:tab pos="275590" algn="l"/>
              </a:tabLst>
            </a:pPr>
            <a:r>
              <a:rPr dirty="0" b="0">
                <a:latin typeface="Adobe Clean"/>
                <a:cs typeface="Adobe Clean"/>
              </a:rPr>
              <a:t>Usage</a:t>
            </a:r>
            <a:r>
              <a:rPr dirty="0" spc="13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logs</a:t>
            </a:r>
            <a:r>
              <a:rPr dirty="0" spc="13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plus</a:t>
            </a:r>
            <a:r>
              <a:rPr dirty="0" spc="135" b="0">
                <a:latin typeface="Adobe Clean"/>
                <a:cs typeface="Adobe Clean"/>
              </a:rPr>
              <a:t> </a:t>
            </a:r>
            <a:r>
              <a:rPr dirty="0">
                <a:latin typeface="Adobe Clean"/>
                <a:cs typeface="Adobe Clean"/>
              </a:rPr>
              <a:t>16</a:t>
            </a:r>
            <a:r>
              <a:rPr dirty="0" spc="90" b="0">
                <a:latin typeface="Liberation Serif"/>
                <a:cs typeface="Liberation Serif"/>
              </a:rPr>
              <a:t> </a:t>
            </a:r>
            <a:r>
              <a:rPr dirty="0" b="0">
                <a:latin typeface="Adobe Clean"/>
                <a:cs typeface="Adobe Clean"/>
              </a:rPr>
              <a:t>post-election</a:t>
            </a:r>
            <a:r>
              <a:rPr dirty="0" spc="135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interviews</a:t>
            </a:r>
            <a:r>
              <a:rPr dirty="0" spc="140" b="0">
                <a:latin typeface="Adobe Clean"/>
                <a:cs typeface="Adobe Clean"/>
              </a:rPr>
              <a:t> </a:t>
            </a:r>
            <a:r>
              <a:rPr dirty="0" b="0">
                <a:latin typeface="Adobe Clean"/>
                <a:cs typeface="Adobe Clean"/>
              </a:rPr>
              <a:t>captured</a:t>
            </a:r>
            <a:r>
              <a:rPr dirty="0" spc="135" b="0">
                <a:latin typeface="Adobe Clean"/>
                <a:cs typeface="Adobe Clean"/>
              </a:rPr>
              <a:t> </a:t>
            </a:r>
            <a:r>
              <a:rPr dirty="0" spc="-10" b="0">
                <a:latin typeface="Adobe Clean"/>
                <a:cs typeface="Adobe Clean"/>
              </a:rPr>
              <a:t>lived 	experience.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44228" y="2856725"/>
            <a:ext cx="7827466" cy="52183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01700" y="4378993"/>
            <a:ext cx="9491980" cy="1277620"/>
          </a:xfrm>
          <a:prstGeom prst="rect"/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8200" spc="-125">
                <a:latin typeface="Adobe Clean Black"/>
                <a:cs typeface="Adobe Clean Black"/>
              </a:rPr>
              <a:t>Findings</a:t>
            </a:r>
            <a:r>
              <a:rPr dirty="0" sz="8200" spc="-335">
                <a:latin typeface="Adobe Clean Black"/>
                <a:cs typeface="Adobe Clean Black"/>
              </a:rPr>
              <a:t> </a:t>
            </a:r>
            <a:r>
              <a:rPr dirty="0" sz="8200" spc="-100">
                <a:latin typeface="Adobe Clean Black"/>
                <a:cs typeface="Adobe Clean Black"/>
              </a:rPr>
              <a:t>and</a:t>
            </a:r>
            <a:r>
              <a:rPr dirty="0" sz="8200" spc="-325">
                <a:latin typeface="Adobe Clean Black"/>
                <a:cs typeface="Adobe Clean Black"/>
              </a:rPr>
              <a:t> </a:t>
            </a:r>
            <a:r>
              <a:rPr dirty="0" sz="8200" spc="-95">
                <a:latin typeface="Adobe Clean Black"/>
                <a:cs typeface="Adobe Clean Black"/>
              </a:rPr>
              <a:t>Insights</a:t>
            </a:r>
            <a:endParaRPr sz="82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42825" y="6083102"/>
            <a:ext cx="4908550" cy="197040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55" b="1">
                <a:latin typeface="Adobe Clean"/>
                <a:cs typeface="Adobe Clean"/>
              </a:rPr>
              <a:t>Role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of</a:t>
            </a:r>
            <a:r>
              <a:rPr dirty="0" sz="2600" spc="-114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explanations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20">
                <a:latin typeface="Adobe Clean"/>
                <a:cs typeface="Adobe Clean"/>
              </a:rPr>
              <a:t>Short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text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explanations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alone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40">
                <a:latin typeface="Adobe Clean"/>
                <a:cs typeface="Adobe Clean"/>
              </a:rPr>
              <a:t>showed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no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clear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measurable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survey 	effect.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67492" y="6083082"/>
            <a:ext cx="4909185" cy="320738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65" b="1">
                <a:latin typeface="Adobe Clean"/>
                <a:cs typeface="Adobe Clean"/>
              </a:rPr>
              <a:t>Fraud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perceptions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Forecasts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were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linked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to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slightly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35">
                <a:latin typeface="Adobe Clean"/>
                <a:cs typeface="Adobe Clean"/>
              </a:rPr>
              <a:t>lower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agreement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that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“spikes”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imply 	fraud.</a:t>
            </a:r>
            <a:endParaRPr sz="2600">
              <a:latin typeface="Adobe Clean"/>
              <a:cs typeface="Adobe Clean"/>
            </a:endParaRPr>
          </a:p>
          <a:p>
            <a:pPr marL="292735" marR="81280" indent="-280670">
              <a:lnSpc>
                <a:spcPct val="100000"/>
              </a:lnSpc>
              <a:spcBef>
                <a:spcPts val="37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375">
                <a:latin typeface="Adobe Clean"/>
                <a:cs typeface="Adobe Clean"/>
              </a:rPr>
              <a:t>This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matters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because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partial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counts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20">
                <a:latin typeface="Adobe Clean"/>
                <a:cs typeface="Adobe Clean"/>
              </a:rPr>
              <a:t>can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look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suspicious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without 	context.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2167" y="6083237"/>
            <a:ext cx="4848860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45" b="1">
                <a:latin typeface="Adobe Clean"/>
                <a:cs typeface="Adobe Clean"/>
              </a:rPr>
              <a:t>Confidence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in</a:t>
            </a:r>
            <a:r>
              <a:rPr dirty="0" sz="2600" spc="-85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counting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5">
                <a:latin typeface="Adobe Clean"/>
                <a:cs typeface="Adobe Clean"/>
              </a:rPr>
              <a:t>Seeing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live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forecasts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was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linked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to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a </a:t>
            </a:r>
            <a:r>
              <a:rPr dirty="0" sz="2600" spc="-50">
                <a:latin typeface="Adobe Clean"/>
                <a:cs typeface="Adobe Clean"/>
              </a:rPr>
              <a:t>	</a:t>
            </a:r>
            <a:r>
              <a:rPr dirty="0" sz="2600" spc="-45">
                <a:latin typeface="Adobe Clean"/>
                <a:cs typeface="Adobe Clean"/>
              </a:rPr>
              <a:t>small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rise</a:t>
            </a:r>
            <a:r>
              <a:rPr dirty="0" sz="2600" spc="-12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in</a:t>
            </a:r>
            <a:r>
              <a:rPr dirty="0" sz="2600" spc="-13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confidence.</a:t>
            </a:r>
            <a:endParaRPr sz="2600">
              <a:latin typeface="Adobe Clean"/>
              <a:cs typeface="Adobe Clean"/>
            </a:endParaRPr>
          </a:p>
          <a:p>
            <a:pPr marL="292735" marR="31115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84">
                <a:latin typeface="Adobe Clean"/>
                <a:cs typeface="Adobe Clean"/>
              </a:rPr>
              <a:t>The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size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of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the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60">
                <a:latin typeface="Adobe Clean"/>
                <a:cs typeface="Adobe Clean"/>
              </a:rPr>
              <a:t>change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was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modest,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25">
                <a:latin typeface="Adobe Clean"/>
                <a:cs typeface="Adobe Clean"/>
              </a:rPr>
              <a:t>not</a:t>
            </a:r>
            <a:r>
              <a:rPr dirty="0" sz="2600" spc="-120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a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dramatic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shift.</a:t>
            </a:r>
            <a:endParaRPr sz="2600">
              <a:latin typeface="Adobe Clean"/>
              <a:cs typeface="Adobe Cle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5537" y="2206883"/>
            <a:ext cx="4893360" cy="375716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80187" y="2206883"/>
            <a:ext cx="4893360" cy="375716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4875" y="2206883"/>
            <a:ext cx="4893348" cy="3757163"/>
          </a:xfrm>
          <a:prstGeom prst="rect">
            <a:avLst/>
          </a:prstGeom>
        </p:spPr>
      </p:pic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902147" y="663318"/>
            <a:ext cx="4251960" cy="565150"/>
          </a:xfrm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pc="-85">
                <a:latin typeface="Adobe Clean Black"/>
                <a:cs typeface="Adobe Clean Black"/>
              </a:rPr>
              <a:t>What</a:t>
            </a:r>
            <a:r>
              <a:rPr dirty="0" spc="-100">
                <a:latin typeface="Adobe Clean Black"/>
                <a:cs typeface="Adobe Clean Black"/>
              </a:rPr>
              <a:t> </a:t>
            </a:r>
            <a:r>
              <a:rPr dirty="0" spc="-60">
                <a:latin typeface="Adobe Clean Black"/>
                <a:cs typeface="Adobe Clean Black"/>
              </a:rPr>
              <a:t>Surveys</a:t>
            </a:r>
            <a:r>
              <a:rPr dirty="0" spc="-100">
                <a:latin typeface="Adobe Clean Black"/>
                <a:cs typeface="Adobe Clean Black"/>
              </a:rPr>
              <a:t> </a:t>
            </a:r>
            <a:r>
              <a:rPr dirty="0" spc="-20">
                <a:latin typeface="Adobe Clean Black"/>
                <a:cs typeface="Adobe Clean Black"/>
              </a:rPr>
              <a:t>Suggest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42825" y="6281775"/>
            <a:ext cx="4855845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40" b="1">
                <a:latin typeface="Adobe Clean"/>
                <a:cs typeface="Adobe Clean"/>
              </a:rPr>
              <a:t>Forecasts:</a:t>
            </a:r>
            <a:r>
              <a:rPr dirty="0" sz="2600" spc="-70" b="1">
                <a:latin typeface="Adobe Clean"/>
                <a:cs typeface="Adobe Clean"/>
              </a:rPr>
              <a:t> </a:t>
            </a:r>
            <a:r>
              <a:rPr dirty="0" sz="2600" spc="-35" b="1">
                <a:latin typeface="Adobe Clean"/>
                <a:cs typeface="Adobe Clean"/>
              </a:rPr>
              <a:t>trusted,</a:t>
            </a:r>
            <a:r>
              <a:rPr dirty="0" sz="2600" spc="-70" b="1">
                <a:latin typeface="Adobe Clean"/>
                <a:cs typeface="Adobe Clean"/>
              </a:rPr>
              <a:t> </a:t>
            </a:r>
            <a:r>
              <a:rPr dirty="0" sz="2600" spc="-35" b="1">
                <a:latin typeface="Adobe Clean"/>
                <a:cs typeface="Adobe Clean"/>
              </a:rPr>
              <a:t>not</a:t>
            </a:r>
            <a:r>
              <a:rPr dirty="0" sz="2600" spc="-70" b="1">
                <a:latin typeface="Adobe Clean"/>
                <a:cs typeface="Adobe Clean"/>
              </a:rPr>
              <a:t> </a:t>
            </a:r>
            <a:r>
              <a:rPr dirty="0" sz="2600" spc="-55" b="1">
                <a:latin typeface="Adobe Clean"/>
                <a:cs typeface="Adobe Clean"/>
              </a:rPr>
              <a:t>always</a:t>
            </a:r>
            <a:r>
              <a:rPr dirty="0" sz="2600" spc="-70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useful</a:t>
            </a:r>
            <a:endParaRPr sz="2600">
              <a:latin typeface="Adobe Clean"/>
              <a:cs typeface="Adobe Clean"/>
            </a:endParaRPr>
          </a:p>
          <a:p>
            <a:pPr marL="292735" marR="59055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50">
                <a:latin typeface="Adobe Clean"/>
                <a:cs typeface="Adobe Clean"/>
              </a:rPr>
              <a:t>Many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found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early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forecasts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too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40">
                <a:latin typeface="Adobe Clean"/>
                <a:cs typeface="Adobe Clean"/>
              </a:rPr>
              <a:t>wide</a:t>
            </a:r>
            <a:r>
              <a:rPr dirty="0" sz="2600" spc="-12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to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guide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expectations.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60">
                <a:latin typeface="Adobe Clean"/>
                <a:cs typeface="Adobe Clean"/>
              </a:rPr>
              <a:t>Later,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forecasts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often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matched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what </a:t>
            </a:r>
            <a:r>
              <a:rPr dirty="0" sz="2600" spc="-20">
                <a:latin typeface="Adobe Clean"/>
                <a:cs typeface="Adobe Clean"/>
              </a:rPr>
              <a:t>	</a:t>
            </a:r>
            <a:r>
              <a:rPr dirty="0" sz="2600" spc="-35">
                <a:latin typeface="Adobe Clean"/>
                <a:cs typeface="Adobe Clean"/>
              </a:rPr>
              <a:t>seemed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already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obvious.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67492" y="6281909"/>
            <a:ext cx="4579620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40" b="1">
                <a:latin typeface="Adobe Clean"/>
                <a:cs typeface="Adobe Clean"/>
              </a:rPr>
              <a:t>Agency</a:t>
            </a:r>
            <a:r>
              <a:rPr dirty="0" sz="2600" spc="-75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over</a:t>
            </a:r>
            <a:r>
              <a:rPr dirty="0" sz="2600" spc="-70" b="1">
                <a:latin typeface="Adobe Clean"/>
                <a:cs typeface="Adobe Clean"/>
              </a:rPr>
              <a:t> </a:t>
            </a:r>
            <a:r>
              <a:rPr dirty="0" sz="2600" spc="-60" b="1">
                <a:latin typeface="Adobe Clean"/>
                <a:cs typeface="Adobe Clean"/>
              </a:rPr>
              <a:t>“media</a:t>
            </a:r>
            <a:r>
              <a:rPr dirty="0" sz="2600" spc="-75" b="1">
                <a:latin typeface="Adobe Clean"/>
                <a:cs typeface="Adobe Clean"/>
              </a:rPr>
              <a:t> </a:t>
            </a:r>
            <a:r>
              <a:rPr dirty="0" sz="2600" spc="-20" b="1">
                <a:latin typeface="Adobe Clean"/>
                <a:cs typeface="Adobe Clean"/>
              </a:rPr>
              <a:t>hype”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50">
                <a:latin typeface="Adobe Clean"/>
                <a:cs typeface="Adobe Clean"/>
              </a:rPr>
              <a:t>People</a:t>
            </a:r>
            <a:r>
              <a:rPr dirty="0" sz="2600" spc="-8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liked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checking</a:t>
            </a:r>
            <a:r>
              <a:rPr dirty="0" sz="2600" spc="-8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updates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on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35">
                <a:latin typeface="Adobe Clean"/>
                <a:cs typeface="Adobe Clean"/>
              </a:rPr>
              <a:t>their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own</a:t>
            </a:r>
            <a:r>
              <a:rPr dirty="0" sz="2600" spc="-13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schedule.</a:t>
            </a:r>
            <a:endParaRPr sz="2600">
              <a:latin typeface="Adobe Clean"/>
              <a:cs typeface="Adobe Clean"/>
            </a:endParaRPr>
          </a:p>
          <a:p>
            <a:pPr marL="292735" marR="386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The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minimalist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display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felt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less </a:t>
            </a:r>
            <a:r>
              <a:rPr dirty="0" sz="2600" spc="-20">
                <a:latin typeface="Adobe Clean"/>
                <a:cs typeface="Adobe Clean"/>
              </a:rPr>
              <a:t>	</a:t>
            </a:r>
            <a:r>
              <a:rPr dirty="0" sz="2600" spc="-50">
                <a:latin typeface="Adobe Clean"/>
                <a:cs typeface="Adobe Clean"/>
              </a:rPr>
              <a:t>dramatic</a:t>
            </a:r>
            <a:r>
              <a:rPr dirty="0" sz="2600" spc="-80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than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TV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coverage.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2167" y="6281909"/>
            <a:ext cx="4618990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b="1">
                <a:latin typeface="Adobe Clean"/>
                <a:cs typeface="Adobe Clean"/>
              </a:rPr>
              <a:t>A</a:t>
            </a:r>
            <a:r>
              <a:rPr dirty="0" sz="2600" spc="-110" b="1">
                <a:latin typeface="Adobe Clean"/>
                <a:cs typeface="Adobe Clean"/>
              </a:rPr>
              <a:t> </a:t>
            </a:r>
            <a:r>
              <a:rPr dirty="0" sz="2600" spc="-35" b="1">
                <a:latin typeface="Adobe Clean"/>
                <a:cs typeface="Adobe Clean"/>
              </a:rPr>
              <a:t>calm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place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to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check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results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Participants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treated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it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as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a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neutral, </a:t>
            </a:r>
            <a:r>
              <a:rPr dirty="0" sz="2600" spc="-20">
                <a:latin typeface="Adobe Clean"/>
                <a:cs typeface="Adobe Clean"/>
              </a:rPr>
              <a:t>	</a:t>
            </a:r>
            <a:r>
              <a:rPr dirty="0" sz="2600" spc="-45">
                <a:latin typeface="Adobe Clean"/>
                <a:cs typeface="Adobe Clean"/>
              </a:rPr>
              <a:t>numbers-</a:t>
            </a:r>
            <a:r>
              <a:rPr dirty="0" sz="2600" spc="-10">
                <a:latin typeface="Adobe Clean"/>
                <a:cs typeface="Adobe Clean"/>
              </a:rPr>
              <a:t>first</a:t>
            </a:r>
            <a:r>
              <a:rPr dirty="0" sz="2600" spc="-7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reference</a:t>
            </a:r>
            <a:r>
              <a:rPr dirty="0" sz="2600" spc="-6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point.</a:t>
            </a:r>
            <a:endParaRPr sz="2600">
              <a:latin typeface="Adobe Clean"/>
              <a:cs typeface="Adobe Clean"/>
            </a:endParaRPr>
          </a:p>
          <a:p>
            <a:pPr marL="292735" marR="1651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They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used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it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to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confirm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what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they </a:t>
            </a:r>
            <a:r>
              <a:rPr dirty="0" sz="2600" spc="-20">
                <a:latin typeface="Adobe Clean"/>
                <a:cs typeface="Adobe Clean"/>
              </a:rPr>
              <a:t>	</a:t>
            </a:r>
            <a:r>
              <a:rPr dirty="0" sz="2600" spc="-30">
                <a:latin typeface="Adobe Clean"/>
                <a:cs typeface="Adobe Clean"/>
              </a:rPr>
              <a:t>were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hearing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elsewhere.</a:t>
            </a:r>
            <a:endParaRPr sz="2600">
              <a:latin typeface="Adobe Clean"/>
              <a:cs typeface="Adobe Cle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5525" y="2405557"/>
            <a:ext cx="4893348" cy="375716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80200" y="2405557"/>
            <a:ext cx="4893360" cy="3757162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4875" y="2405557"/>
            <a:ext cx="4893348" cy="3757162"/>
          </a:xfrm>
          <a:prstGeom prst="rect">
            <a:avLst/>
          </a:prstGeom>
        </p:spPr>
      </p:pic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4700" spc="-105">
                <a:latin typeface="Adobe Clean Black"/>
                <a:cs typeface="Adobe Clean Black"/>
              </a:rPr>
              <a:t>What</a:t>
            </a:r>
            <a:r>
              <a:rPr dirty="0" sz="4700" spc="-140">
                <a:latin typeface="Adobe Clean Black"/>
                <a:cs typeface="Adobe Clean Black"/>
              </a:rPr>
              <a:t> </a:t>
            </a:r>
            <a:r>
              <a:rPr dirty="0" sz="4700" spc="-80">
                <a:latin typeface="Adobe Clean Black"/>
                <a:cs typeface="Adobe Clean Black"/>
              </a:rPr>
              <a:t>Interviews</a:t>
            </a:r>
            <a:r>
              <a:rPr dirty="0" sz="4700" spc="-135">
                <a:latin typeface="Adobe Clean Black"/>
                <a:cs typeface="Adobe Clean Black"/>
              </a:rPr>
              <a:t> </a:t>
            </a:r>
            <a:r>
              <a:rPr dirty="0" sz="4700" spc="-55">
                <a:latin typeface="Adobe Clean Black"/>
                <a:cs typeface="Adobe Clean Black"/>
              </a:rPr>
              <a:t>Revealed</a:t>
            </a:r>
            <a:endParaRPr sz="47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07929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0"/>
            <a:ext cx="9144000" cy="102870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1700" y="1816003"/>
            <a:ext cx="7305040" cy="6097905"/>
          </a:xfrm>
          <a:prstGeom prst="rect">
            <a:avLst/>
          </a:prstGeom>
        </p:spPr>
        <p:txBody>
          <a:bodyPr wrap="square" lIns="0" tIns="1746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75"/>
              </a:spcBef>
            </a:pPr>
            <a:r>
              <a:rPr dirty="0" sz="2250" spc="-25" b="1">
                <a:latin typeface="Adobe Clean"/>
                <a:cs typeface="Adobe Clean"/>
              </a:rPr>
              <a:t>Uncertainty</a:t>
            </a:r>
            <a:r>
              <a:rPr dirty="0" sz="2250" spc="-95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can</a:t>
            </a:r>
            <a:r>
              <a:rPr dirty="0" sz="2250" spc="-95" b="1">
                <a:latin typeface="Adobe Clean"/>
                <a:cs typeface="Adobe Clean"/>
              </a:rPr>
              <a:t> </a:t>
            </a:r>
            <a:r>
              <a:rPr dirty="0" sz="2250" spc="-10" b="1">
                <a:latin typeface="Adobe Clean"/>
                <a:cs typeface="Adobe Clean"/>
              </a:rPr>
              <a:t>feel</a:t>
            </a:r>
            <a:r>
              <a:rPr dirty="0" sz="2250" spc="-95" b="1">
                <a:latin typeface="Adobe Clean"/>
                <a:cs typeface="Adobe Clean"/>
              </a:rPr>
              <a:t> </a:t>
            </a:r>
            <a:r>
              <a:rPr dirty="0" sz="2250" spc="-10" b="1">
                <a:latin typeface="Adobe Clean"/>
                <a:cs typeface="Adobe Clean"/>
              </a:rPr>
              <a:t>unhelpful</a:t>
            </a:r>
            <a:endParaRPr sz="2250">
              <a:latin typeface="Adobe Clean"/>
              <a:cs typeface="Adobe Clean"/>
            </a:endParaRPr>
          </a:p>
          <a:p>
            <a:pPr marL="260985" marR="292100" indent="-248920">
              <a:lnSpc>
                <a:spcPct val="100000"/>
              </a:lnSpc>
              <a:spcBef>
                <a:spcPts val="1265"/>
              </a:spcBef>
              <a:buFont typeface="Times New Roman"/>
              <a:buChar char="•"/>
              <a:tabLst>
                <a:tab pos="260985" algn="l"/>
              </a:tabLst>
            </a:pPr>
            <a:r>
              <a:rPr dirty="0" sz="2300" spc="-30">
                <a:latin typeface="Adobe Clean"/>
                <a:cs typeface="Adobe Clean"/>
              </a:rPr>
              <a:t>Early</a:t>
            </a:r>
            <a:r>
              <a:rPr dirty="0" sz="2300" spc="-90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forecasts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50">
                <a:latin typeface="Adobe Clean"/>
                <a:cs typeface="Adobe Clean"/>
              </a:rPr>
              <a:t>were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often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very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wide,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55">
                <a:latin typeface="Adobe Clean"/>
                <a:cs typeface="Adobe Clean"/>
              </a:rPr>
              <a:t>signaling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“we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still</a:t>
            </a:r>
            <a:r>
              <a:rPr dirty="0" sz="2300" spc="-8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don’t know.”</a:t>
            </a:r>
            <a:endParaRPr sz="2300">
              <a:latin typeface="Adobe Clean"/>
              <a:cs typeface="Adobe Clean"/>
            </a:endParaRPr>
          </a:p>
          <a:p>
            <a:pPr marL="260985" marR="1089025" indent="-248920">
              <a:lnSpc>
                <a:spcPct val="100000"/>
              </a:lnSpc>
              <a:spcBef>
                <a:spcPts val="320"/>
              </a:spcBef>
              <a:buFont typeface="Times New Roman"/>
              <a:buChar char="•"/>
              <a:tabLst>
                <a:tab pos="260985" algn="l"/>
              </a:tabLst>
            </a:pPr>
            <a:r>
              <a:rPr dirty="0" sz="2300" spc="-40">
                <a:latin typeface="Adobe Clean"/>
                <a:cs typeface="Adobe Clean"/>
              </a:rPr>
              <a:t>Some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viewers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understood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45">
                <a:latin typeface="Adobe Clean"/>
                <a:cs typeface="Adobe Clean"/>
              </a:rPr>
              <a:t>that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message,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but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found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it </a:t>
            </a:r>
            <a:r>
              <a:rPr dirty="0" sz="2300" spc="-10">
                <a:latin typeface="Adobe Clean"/>
                <a:cs typeface="Adobe Clean"/>
              </a:rPr>
              <a:t>unsatisfying.</a:t>
            </a:r>
            <a:endParaRPr sz="2300">
              <a:latin typeface="Adobe Clean"/>
              <a:cs typeface="Adobe Clean"/>
            </a:endParaRPr>
          </a:p>
          <a:p>
            <a:pPr marL="12700">
              <a:lnSpc>
                <a:spcPct val="100000"/>
              </a:lnSpc>
              <a:spcBef>
                <a:spcPts val="1660"/>
              </a:spcBef>
            </a:pPr>
            <a:r>
              <a:rPr dirty="0" sz="2250" spc="-20" b="1">
                <a:latin typeface="Adobe Clean"/>
                <a:cs typeface="Adobe Clean"/>
              </a:rPr>
              <a:t>Certainty</a:t>
            </a:r>
            <a:r>
              <a:rPr dirty="0" sz="2250" spc="-100" b="1">
                <a:latin typeface="Adobe Clean"/>
                <a:cs typeface="Adobe Clean"/>
              </a:rPr>
              <a:t> </a:t>
            </a:r>
            <a:r>
              <a:rPr dirty="0" sz="2250" b="1">
                <a:latin typeface="Adobe Clean"/>
                <a:cs typeface="Adobe Clean"/>
              </a:rPr>
              <a:t>can</a:t>
            </a:r>
            <a:r>
              <a:rPr dirty="0" sz="2250" spc="-95" b="1">
                <a:latin typeface="Adobe Clean"/>
                <a:cs typeface="Adobe Clean"/>
              </a:rPr>
              <a:t> </a:t>
            </a:r>
            <a:r>
              <a:rPr dirty="0" sz="2250" spc="-10" b="1">
                <a:latin typeface="Adobe Clean"/>
                <a:cs typeface="Adobe Clean"/>
              </a:rPr>
              <a:t>feel</a:t>
            </a:r>
            <a:r>
              <a:rPr dirty="0" sz="2250" spc="-95" b="1">
                <a:latin typeface="Adobe Clean"/>
                <a:cs typeface="Adobe Clean"/>
              </a:rPr>
              <a:t> </a:t>
            </a:r>
            <a:r>
              <a:rPr dirty="0" sz="2250" spc="-10" b="1">
                <a:latin typeface="Adobe Clean"/>
                <a:cs typeface="Adobe Clean"/>
              </a:rPr>
              <a:t>unnecessary</a:t>
            </a:r>
            <a:endParaRPr sz="2250">
              <a:latin typeface="Adobe Clean"/>
              <a:cs typeface="Adobe Clean"/>
            </a:endParaRPr>
          </a:p>
          <a:p>
            <a:pPr marL="260985" marR="219075" indent="-248920">
              <a:lnSpc>
                <a:spcPct val="100000"/>
              </a:lnSpc>
              <a:spcBef>
                <a:spcPts val="1265"/>
              </a:spcBef>
              <a:buFont typeface="Times New Roman"/>
              <a:buChar char="•"/>
              <a:tabLst>
                <a:tab pos="260985" algn="l"/>
              </a:tabLst>
            </a:pPr>
            <a:r>
              <a:rPr dirty="0" sz="2300" spc="-55">
                <a:latin typeface="Adobe Clean"/>
                <a:cs typeface="Adobe Clean"/>
              </a:rPr>
              <a:t>Later,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forecasts</a:t>
            </a:r>
            <a:r>
              <a:rPr dirty="0" sz="2300" spc="-65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sometimes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45">
                <a:latin typeface="Adobe Clean"/>
                <a:cs typeface="Adobe Clean"/>
              </a:rPr>
              <a:t>matched</a:t>
            </a:r>
            <a:r>
              <a:rPr dirty="0" sz="2300" spc="-65">
                <a:latin typeface="Adobe Clean"/>
                <a:cs typeface="Adobe Clean"/>
              </a:rPr>
              <a:t> </a:t>
            </a:r>
            <a:r>
              <a:rPr dirty="0" sz="2300" spc="-60">
                <a:latin typeface="Adobe Clean"/>
                <a:cs typeface="Adobe Clean"/>
              </a:rPr>
              <a:t>what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vote</a:t>
            </a:r>
            <a:r>
              <a:rPr dirty="0" sz="2300" spc="-65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totals</a:t>
            </a:r>
            <a:r>
              <a:rPr dirty="0" sz="2300" spc="-6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already suggested.</a:t>
            </a:r>
            <a:endParaRPr sz="2300">
              <a:latin typeface="Adobe Clean"/>
              <a:cs typeface="Adobe Clean"/>
            </a:endParaRPr>
          </a:p>
          <a:p>
            <a:pPr marL="260985" marR="138430" indent="-248920">
              <a:lnSpc>
                <a:spcPct val="100000"/>
              </a:lnSpc>
              <a:spcBef>
                <a:spcPts val="320"/>
              </a:spcBef>
              <a:buFont typeface="Times New Roman"/>
              <a:buChar char="•"/>
              <a:tabLst>
                <a:tab pos="260985" algn="l"/>
              </a:tabLst>
            </a:pPr>
            <a:r>
              <a:rPr dirty="0" sz="2300" spc="-45">
                <a:latin typeface="Adobe Clean"/>
                <a:cs typeface="Adobe Clean"/>
              </a:rPr>
              <a:t>Once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the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likely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50">
                <a:latin typeface="Adobe Clean"/>
                <a:cs typeface="Adobe Clean"/>
              </a:rPr>
              <a:t>winner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felt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obvious,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forecasts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added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little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new </a:t>
            </a:r>
            <a:r>
              <a:rPr dirty="0" sz="2300" spc="-10">
                <a:latin typeface="Adobe Clean"/>
                <a:cs typeface="Adobe Clean"/>
              </a:rPr>
              <a:t>value.</a:t>
            </a:r>
            <a:endParaRPr sz="2300">
              <a:latin typeface="Adobe Clean"/>
              <a:cs typeface="Adobe Clean"/>
            </a:endParaRPr>
          </a:p>
          <a:p>
            <a:pPr marL="12700">
              <a:lnSpc>
                <a:spcPct val="100000"/>
              </a:lnSpc>
              <a:spcBef>
                <a:spcPts val="1660"/>
              </a:spcBef>
            </a:pPr>
            <a:r>
              <a:rPr dirty="0" sz="2250" b="1">
                <a:latin typeface="Adobe Clean"/>
                <a:cs typeface="Adobe Clean"/>
              </a:rPr>
              <a:t>A</a:t>
            </a:r>
            <a:r>
              <a:rPr dirty="0" sz="2250" spc="-75" b="1">
                <a:latin typeface="Adobe Clean"/>
                <a:cs typeface="Adobe Clean"/>
              </a:rPr>
              <a:t> </a:t>
            </a:r>
            <a:r>
              <a:rPr dirty="0" sz="2250" spc="-30" b="1">
                <a:latin typeface="Adobe Clean"/>
                <a:cs typeface="Adobe Clean"/>
              </a:rPr>
              <a:t>design</a:t>
            </a:r>
            <a:r>
              <a:rPr dirty="0" sz="2250" spc="-75" b="1">
                <a:latin typeface="Adobe Clean"/>
                <a:cs typeface="Adobe Clean"/>
              </a:rPr>
              <a:t> </a:t>
            </a:r>
            <a:r>
              <a:rPr dirty="0" sz="2250" spc="-40" b="1">
                <a:latin typeface="Adobe Clean"/>
                <a:cs typeface="Adobe Clean"/>
              </a:rPr>
              <a:t>balancing</a:t>
            </a:r>
            <a:r>
              <a:rPr dirty="0" sz="2250" spc="-70" b="1">
                <a:latin typeface="Adobe Clean"/>
                <a:cs typeface="Adobe Clean"/>
              </a:rPr>
              <a:t> </a:t>
            </a:r>
            <a:r>
              <a:rPr dirty="0" sz="2250" spc="-25" b="1">
                <a:latin typeface="Adobe Clean"/>
                <a:cs typeface="Adobe Clean"/>
              </a:rPr>
              <a:t>act</a:t>
            </a:r>
            <a:endParaRPr sz="2250">
              <a:latin typeface="Adobe Clean"/>
              <a:cs typeface="Adobe Clean"/>
            </a:endParaRPr>
          </a:p>
          <a:p>
            <a:pPr marL="260985" indent="-248285">
              <a:lnSpc>
                <a:spcPct val="100000"/>
              </a:lnSpc>
              <a:spcBef>
                <a:spcPts val="1265"/>
              </a:spcBef>
              <a:buFont typeface="Times New Roman"/>
              <a:buChar char="•"/>
              <a:tabLst>
                <a:tab pos="260985" algn="l"/>
              </a:tabLst>
            </a:pPr>
            <a:r>
              <a:rPr dirty="0" sz="2300" spc="-40">
                <a:latin typeface="Adobe Clean"/>
                <a:cs typeface="Adobe Clean"/>
              </a:rPr>
              <a:t>Forecasts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45">
                <a:latin typeface="Adobe Clean"/>
                <a:cs typeface="Adobe Clean"/>
              </a:rPr>
              <a:t>seemed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20">
                <a:latin typeface="Adobe Clean"/>
                <a:cs typeface="Adobe Clean"/>
              </a:rPr>
              <a:t>most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“useful”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60">
                <a:latin typeface="Adobe Clean"/>
                <a:cs typeface="Adobe Clean"/>
              </a:rPr>
              <a:t>when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they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50">
                <a:latin typeface="Adobe Clean"/>
                <a:cs typeface="Adobe Clean"/>
              </a:rPr>
              <a:t>gave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>
                <a:latin typeface="Adobe Clean"/>
                <a:cs typeface="Adobe Clean"/>
              </a:rPr>
              <a:t>a</a:t>
            </a:r>
            <a:r>
              <a:rPr dirty="0" sz="2300" spc="-80">
                <a:latin typeface="Adobe Clean"/>
                <a:cs typeface="Adobe Clean"/>
              </a:rPr>
              <a:t> </a:t>
            </a:r>
            <a:r>
              <a:rPr dirty="0" sz="2300" spc="-40">
                <a:latin typeface="Adobe Clean"/>
                <a:cs typeface="Adobe Clean"/>
              </a:rPr>
              <a:t>clear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signal.</a:t>
            </a:r>
            <a:endParaRPr sz="2300">
              <a:latin typeface="Adobe Clean"/>
              <a:cs typeface="Adobe Clean"/>
            </a:endParaRPr>
          </a:p>
          <a:p>
            <a:pPr marL="260985" marR="5080" indent="-248920">
              <a:lnSpc>
                <a:spcPct val="100000"/>
              </a:lnSpc>
              <a:spcBef>
                <a:spcPts val="315"/>
              </a:spcBef>
              <a:buFont typeface="Times New Roman"/>
              <a:buChar char="•"/>
              <a:tabLst>
                <a:tab pos="260985" algn="l"/>
              </a:tabLst>
            </a:pPr>
            <a:r>
              <a:rPr dirty="0" sz="2300" spc="-40">
                <a:latin typeface="Adobe Clean"/>
                <a:cs typeface="Adobe Clean"/>
              </a:rPr>
              <a:t>But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25">
                <a:latin typeface="Adobe Clean"/>
                <a:cs typeface="Adobe Clean"/>
              </a:rPr>
              <a:t>“trustworthy”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35">
                <a:latin typeface="Adobe Clean"/>
                <a:cs typeface="Adobe Clean"/>
              </a:rPr>
              <a:t>forecasts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often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45">
                <a:latin typeface="Adobe Clean"/>
                <a:cs typeface="Adobe Clean"/>
              </a:rPr>
              <a:t>aligned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with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30">
                <a:latin typeface="Adobe Clean"/>
                <a:cs typeface="Adobe Clean"/>
              </a:rPr>
              <a:t>observed</a:t>
            </a:r>
            <a:r>
              <a:rPr dirty="0" sz="2300" spc="-70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trends </a:t>
            </a:r>
            <a:r>
              <a:rPr dirty="0" sz="2300" spc="-40">
                <a:latin typeface="Adobe Clean"/>
                <a:cs typeface="Adobe Clean"/>
              </a:rPr>
              <a:t>and</a:t>
            </a:r>
            <a:r>
              <a:rPr dirty="0" sz="2300" spc="-75">
                <a:latin typeface="Adobe Clean"/>
                <a:cs typeface="Adobe Clean"/>
              </a:rPr>
              <a:t> </a:t>
            </a:r>
            <a:r>
              <a:rPr dirty="0" sz="2300" spc="-10">
                <a:latin typeface="Adobe Clean"/>
                <a:cs typeface="Adobe Clean"/>
              </a:rPr>
              <a:t>media.</a:t>
            </a:r>
            <a:endParaRPr sz="2300">
              <a:latin typeface="Adobe Clean"/>
              <a:cs typeface="Adobe Clean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902127" y="649080"/>
            <a:ext cx="5737225" cy="665480"/>
          </a:xfrm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4200" spc="-110">
                <a:latin typeface="Adobe Clean Black"/>
                <a:cs typeface="Adobe Clean Black"/>
              </a:rPr>
              <a:t>Why</a:t>
            </a:r>
            <a:r>
              <a:rPr dirty="0" sz="4200" spc="-140">
                <a:latin typeface="Adobe Clean Black"/>
                <a:cs typeface="Adobe Clean Black"/>
              </a:rPr>
              <a:t> </a:t>
            </a:r>
            <a:r>
              <a:rPr dirty="0" sz="4200" spc="-65">
                <a:latin typeface="Adobe Clean Black"/>
                <a:cs typeface="Adobe Clean Black"/>
              </a:rPr>
              <a:t>Forecasts</a:t>
            </a:r>
            <a:r>
              <a:rPr dirty="0" sz="4200" spc="-135">
                <a:latin typeface="Adobe Clean Black"/>
                <a:cs typeface="Adobe Clean Black"/>
              </a:rPr>
              <a:t> </a:t>
            </a:r>
            <a:r>
              <a:rPr dirty="0" sz="4200" spc="-60">
                <a:latin typeface="Adobe Clean Black"/>
                <a:cs typeface="Adobe Clean Black"/>
              </a:rPr>
              <a:t>Are</a:t>
            </a:r>
            <a:r>
              <a:rPr dirty="0" sz="4200" spc="-135">
                <a:latin typeface="Adobe Clean Black"/>
                <a:cs typeface="Adobe Clean Black"/>
              </a:rPr>
              <a:t> </a:t>
            </a:r>
            <a:r>
              <a:rPr dirty="0" sz="4200" spc="-65">
                <a:latin typeface="Adobe Clean Black"/>
                <a:cs typeface="Adobe Clean Black"/>
              </a:rPr>
              <a:t>Tricky</a:t>
            </a:r>
            <a:endParaRPr sz="4200">
              <a:latin typeface="Adobe Clean Black"/>
              <a:cs typeface="Adobe Clean Blac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72233" y="9851923"/>
            <a:ext cx="258826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>
                <a:latin typeface="Adobe Clean"/>
                <a:cs typeface="Adobe Clean"/>
              </a:rPr>
              <a:t>©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2026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All Rights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Reserved.</a:t>
            </a:r>
            <a:r>
              <a:rPr dirty="0" sz="900" spc="-5">
                <a:latin typeface="Adobe Clean"/>
                <a:cs typeface="Adobe Clean"/>
              </a:rPr>
              <a:t> </a:t>
            </a:r>
            <a:r>
              <a:rPr dirty="0" sz="900">
                <a:latin typeface="Adobe Clean"/>
                <a:cs typeface="Adobe Clean"/>
              </a:rPr>
              <a:t>Adobe </a:t>
            </a:r>
            <a:r>
              <a:rPr dirty="0" sz="900" spc="-10">
                <a:latin typeface="Adobe Clean"/>
                <a:cs typeface="Adobe Clean"/>
              </a:rPr>
              <a:t>Confidential.</a:t>
            </a:r>
            <a:endParaRPr sz="900">
              <a:latin typeface="Adobe Clean"/>
              <a:cs typeface="Adobe Cle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42825" y="6083102"/>
            <a:ext cx="4885690" cy="241236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75" b="1">
                <a:latin typeface="Adobe Clean"/>
                <a:cs typeface="Adobe Clean"/>
              </a:rPr>
              <a:t>Trust</a:t>
            </a:r>
            <a:r>
              <a:rPr dirty="0" sz="2600" spc="-95" b="1">
                <a:latin typeface="Adobe Clean"/>
                <a:cs typeface="Adobe Clean"/>
              </a:rPr>
              <a:t> </a:t>
            </a:r>
            <a:r>
              <a:rPr dirty="0" sz="2600" b="1">
                <a:latin typeface="Adobe Clean"/>
                <a:cs typeface="Adobe Clean"/>
              </a:rPr>
              <a:t>is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40" b="1">
                <a:latin typeface="Adobe Clean"/>
                <a:cs typeface="Adobe Clean"/>
              </a:rPr>
              <a:t>more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45" b="1">
                <a:latin typeface="Adobe Clean"/>
                <a:cs typeface="Adobe Clean"/>
              </a:rPr>
              <a:t>than</a:t>
            </a:r>
            <a:r>
              <a:rPr dirty="0" sz="2600" spc="-90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accuracy</a:t>
            </a:r>
            <a:endParaRPr sz="2600">
              <a:latin typeface="Adobe Clean"/>
              <a:cs typeface="Adobe Clean"/>
            </a:endParaRPr>
          </a:p>
          <a:p>
            <a:pPr marL="292735" marR="48260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>
                <a:latin typeface="Adobe Clean"/>
                <a:cs typeface="Adobe Clean"/>
              </a:rPr>
              <a:t>A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calm,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“just-</a:t>
            </a:r>
            <a:r>
              <a:rPr dirty="0" sz="2600" spc="-30">
                <a:latin typeface="Adobe Clean"/>
                <a:cs typeface="Adobe Clean"/>
              </a:rPr>
              <a:t>the-</a:t>
            </a:r>
            <a:r>
              <a:rPr dirty="0" sz="2600" spc="-60">
                <a:latin typeface="Adobe Clean"/>
                <a:cs typeface="Adobe Clean"/>
              </a:rPr>
              <a:t>data”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tone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can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50">
                <a:latin typeface="Adobe Clean"/>
                <a:cs typeface="Adobe Clean"/>
              </a:rPr>
              <a:t>reduce</a:t>
            </a:r>
            <a:r>
              <a:rPr dirty="0" sz="2600" spc="-8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perceived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hype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and</a:t>
            </a:r>
            <a:r>
              <a:rPr dirty="0" sz="2600" spc="-7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bias.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6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0">
                <a:latin typeface="Adobe Clean"/>
                <a:cs typeface="Adobe Clean"/>
              </a:rPr>
              <a:t>Forecasts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must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balance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uncertainty, </a:t>
            </a:r>
            <a:r>
              <a:rPr dirty="0" sz="2600" spc="-30">
                <a:latin typeface="Adobe Clean"/>
                <a:cs typeface="Adobe Clean"/>
              </a:rPr>
              <a:t>	</a:t>
            </a:r>
            <a:r>
              <a:rPr dirty="0" sz="2600" spc="-45">
                <a:latin typeface="Adobe Clean"/>
                <a:cs typeface="Adobe Clean"/>
              </a:rPr>
              <a:t>clarity,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and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perceived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usefulness.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67492" y="6083239"/>
            <a:ext cx="4747895" cy="280987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45" b="1">
                <a:latin typeface="Adobe Clean"/>
                <a:cs typeface="Adobe Clean"/>
              </a:rPr>
              <a:t>Design</a:t>
            </a:r>
            <a:r>
              <a:rPr dirty="0" sz="2600" spc="-105" b="1">
                <a:latin typeface="Adobe Clean"/>
                <a:cs typeface="Adobe Clean"/>
              </a:rPr>
              <a:t> </a:t>
            </a:r>
            <a:r>
              <a:rPr dirty="0" sz="2600" spc="-20" b="1">
                <a:latin typeface="Adobe Clean"/>
                <a:cs typeface="Adobe Clean"/>
              </a:rPr>
              <a:t>for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40" b="1">
                <a:latin typeface="Adobe Clean"/>
                <a:cs typeface="Adobe Clean"/>
              </a:rPr>
              <a:t>real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audiences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30">
                <a:latin typeface="Adobe Clean"/>
                <a:cs typeface="Adobe Clean"/>
              </a:rPr>
              <a:t>Assume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viewers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bring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prior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beliefs, </a:t>
            </a:r>
            <a:r>
              <a:rPr dirty="0" sz="2600" spc="-10">
                <a:latin typeface="Adobe Clean"/>
                <a:cs typeface="Adobe Clean"/>
              </a:rPr>
              <a:t>	</a:t>
            </a:r>
            <a:r>
              <a:rPr dirty="0" sz="2600" spc="-40">
                <a:latin typeface="Adobe Clean"/>
                <a:cs typeface="Adobe Clean"/>
              </a:rPr>
              <a:t>emotions,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and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other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media 	narratives.</a:t>
            </a:r>
            <a:endParaRPr sz="2600">
              <a:latin typeface="Adobe Clean"/>
              <a:cs typeface="Adobe Clean"/>
            </a:endParaRPr>
          </a:p>
          <a:p>
            <a:pPr marL="292735" marR="218440" indent="-280670">
              <a:lnSpc>
                <a:spcPct val="100000"/>
              </a:lnSpc>
              <a:spcBef>
                <a:spcPts val="37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30">
                <a:latin typeface="Adobe Clean"/>
                <a:cs typeface="Adobe Clean"/>
              </a:rPr>
              <a:t>Support</a:t>
            </a:r>
            <a:r>
              <a:rPr dirty="0" sz="2600" spc="-11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agency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>
                <a:latin typeface="Adobe Clean"/>
                <a:cs typeface="Adobe Clean"/>
              </a:rPr>
              <a:t>by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letting</a:t>
            </a:r>
            <a:r>
              <a:rPr dirty="0" sz="2600" spc="-105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people </a:t>
            </a:r>
            <a:r>
              <a:rPr dirty="0" sz="2600" spc="-20">
                <a:latin typeface="Adobe Clean"/>
                <a:cs typeface="Adobe Clean"/>
              </a:rPr>
              <a:t>	</a:t>
            </a:r>
            <a:r>
              <a:rPr dirty="0" sz="2600" spc="-35">
                <a:latin typeface="Adobe Clean"/>
                <a:cs typeface="Adobe Clean"/>
              </a:rPr>
              <a:t>check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results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on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their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20">
                <a:latin typeface="Adobe Clean"/>
                <a:cs typeface="Adobe Clean"/>
              </a:rPr>
              <a:t>own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terms.</a:t>
            </a:r>
            <a:endParaRPr sz="2600">
              <a:latin typeface="Adobe Clean"/>
              <a:cs typeface="Adobe Cle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2167" y="6083237"/>
            <a:ext cx="4890135" cy="2809875"/>
          </a:xfrm>
          <a:prstGeom prst="rect">
            <a:avLst/>
          </a:prstGeom>
        </p:spPr>
        <p:txBody>
          <a:bodyPr wrap="square" lIns="0" tIns="191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dirty="0" sz="2600" spc="-45" b="1">
                <a:latin typeface="Adobe Clean"/>
                <a:cs typeface="Adobe Clean"/>
              </a:rPr>
              <a:t>Lead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35" b="1">
                <a:latin typeface="Adobe Clean"/>
                <a:cs typeface="Adobe Clean"/>
              </a:rPr>
              <a:t>with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spc="-50" b="1">
                <a:latin typeface="Adobe Clean"/>
                <a:cs typeface="Adobe Clean"/>
              </a:rPr>
              <a:t>what</a:t>
            </a:r>
            <a:r>
              <a:rPr dirty="0" sz="2600" spc="-100" b="1">
                <a:latin typeface="Adobe Clean"/>
                <a:cs typeface="Adobe Clean"/>
              </a:rPr>
              <a:t> </a:t>
            </a:r>
            <a:r>
              <a:rPr dirty="0" sz="2600" b="1">
                <a:latin typeface="Adobe Clean"/>
                <a:cs typeface="Adobe Clean"/>
              </a:rPr>
              <a:t>is</a:t>
            </a:r>
            <a:r>
              <a:rPr dirty="0" sz="2600" spc="-95" b="1">
                <a:latin typeface="Adobe Clean"/>
                <a:cs typeface="Adobe Clean"/>
              </a:rPr>
              <a:t> </a:t>
            </a:r>
            <a:r>
              <a:rPr dirty="0" sz="2600" spc="-10" b="1">
                <a:latin typeface="Adobe Clean"/>
                <a:cs typeface="Adobe Clean"/>
              </a:rPr>
              <a:t>unknown</a:t>
            </a:r>
            <a:endParaRPr sz="2600">
              <a:latin typeface="Adobe Clean"/>
              <a:cs typeface="Adobe Clean"/>
            </a:endParaRPr>
          </a:p>
          <a:p>
            <a:pPr marL="292735" marR="413384" indent="-280670">
              <a:lnSpc>
                <a:spcPct val="100000"/>
              </a:lnSpc>
              <a:spcBef>
                <a:spcPts val="1410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45">
                <a:latin typeface="Adobe Clean"/>
                <a:cs typeface="Adobe Clean"/>
              </a:rPr>
              <a:t>Make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partial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data</a:t>
            </a:r>
            <a:r>
              <a:rPr dirty="0" sz="2600" spc="-85">
                <a:latin typeface="Adobe Clean"/>
                <a:cs typeface="Adobe Clean"/>
              </a:rPr>
              <a:t> </a:t>
            </a:r>
            <a:r>
              <a:rPr dirty="0" sz="2600" spc="-40">
                <a:latin typeface="Adobe Clean"/>
                <a:cs typeface="Adobe Clean"/>
              </a:rPr>
              <a:t>and</a:t>
            </a:r>
            <a:r>
              <a:rPr dirty="0" sz="2600" spc="-9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remaining </a:t>
            </a:r>
            <a:r>
              <a:rPr dirty="0" sz="2600" spc="-45">
                <a:latin typeface="Adobe Clean"/>
                <a:cs typeface="Adobe Clean"/>
              </a:rPr>
              <a:t>	</a:t>
            </a:r>
            <a:r>
              <a:rPr dirty="0" sz="2600" spc="-30">
                <a:latin typeface="Adobe Clean"/>
                <a:cs typeface="Adobe Clean"/>
              </a:rPr>
              <a:t>work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visible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before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drawing 	conclusions.</a:t>
            </a:r>
            <a:endParaRPr sz="2600">
              <a:latin typeface="Adobe Clean"/>
              <a:cs typeface="Adobe Clean"/>
            </a:endParaRPr>
          </a:p>
          <a:p>
            <a:pPr marL="292735" marR="5080" indent="-280670">
              <a:lnSpc>
                <a:spcPct val="100000"/>
              </a:lnSpc>
              <a:spcBef>
                <a:spcPts val="375"/>
              </a:spcBef>
              <a:buFont typeface="Times New Roman"/>
              <a:buChar char="•"/>
              <a:tabLst>
                <a:tab pos="294005" algn="l"/>
              </a:tabLst>
            </a:pPr>
            <a:r>
              <a:rPr dirty="0" sz="2600" spc="-95">
                <a:latin typeface="Adobe Clean"/>
                <a:cs typeface="Adobe Clean"/>
              </a:rPr>
              <a:t>Treat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30">
                <a:latin typeface="Adobe Clean"/>
                <a:cs typeface="Adobe Clean"/>
              </a:rPr>
              <a:t>early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patterns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35">
                <a:latin typeface="Adobe Clean"/>
                <a:cs typeface="Adobe Clean"/>
              </a:rPr>
              <a:t>as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45">
                <a:latin typeface="Adobe Clean"/>
                <a:cs typeface="Adobe Clean"/>
              </a:rPr>
              <a:t>tentative,</a:t>
            </a:r>
            <a:r>
              <a:rPr dirty="0" sz="2600" spc="-95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and </a:t>
            </a:r>
            <a:r>
              <a:rPr dirty="0" sz="2600" spc="-25">
                <a:latin typeface="Adobe Clean"/>
                <a:cs typeface="Adobe Clean"/>
              </a:rPr>
              <a:t>	</a:t>
            </a:r>
            <a:r>
              <a:rPr dirty="0" sz="2600" spc="-40">
                <a:latin typeface="Adobe Clean"/>
                <a:cs typeface="Adobe Clean"/>
              </a:rPr>
              <a:t>explain</a:t>
            </a:r>
            <a:r>
              <a:rPr dirty="0" sz="2600" spc="-114">
                <a:latin typeface="Adobe Clean"/>
                <a:cs typeface="Adobe Clean"/>
              </a:rPr>
              <a:t> </a:t>
            </a:r>
            <a:r>
              <a:rPr dirty="0" sz="2600" spc="-50">
                <a:latin typeface="Adobe Clean"/>
                <a:cs typeface="Adobe Clean"/>
              </a:rPr>
              <a:t>why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25">
                <a:latin typeface="Adobe Clean"/>
                <a:cs typeface="Adobe Clean"/>
              </a:rPr>
              <a:t>they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55">
                <a:latin typeface="Adobe Clean"/>
                <a:cs typeface="Adobe Clean"/>
              </a:rPr>
              <a:t>may</a:t>
            </a:r>
            <a:r>
              <a:rPr dirty="0" sz="2600" spc="-100">
                <a:latin typeface="Adobe Clean"/>
                <a:cs typeface="Adobe Clean"/>
              </a:rPr>
              <a:t> </a:t>
            </a:r>
            <a:r>
              <a:rPr dirty="0" sz="2600" spc="-10">
                <a:latin typeface="Adobe Clean"/>
                <a:cs typeface="Adobe Clean"/>
              </a:rPr>
              <a:t>shift.</a:t>
            </a:r>
            <a:endParaRPr sz="2600">
              <a:latin typeface="Adobe Clean"/>
              <a:cs typeface="Adobe Cle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5537" y="2206883"/>
            <a:ext cx="4893360" cy="375716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80187" y="2206883"/>
            <a:ext cx="4893360" cy="375716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4875" y="2206883"/>
            <a:ext cx="4893348" cy="3757163"/>
          </a:xfrm>
          <a:prstGeom prst="rect">
            <a:avLst/>
          </a:prstGeom>
        </p:spPr>
      </p:pic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pc="-130"/>
              <a:t>Takeaways</a:t>
            </a:r>
            <a:r>
              <a:rPr dirty="0" spc="-135"/>
              <a:t> </a:t>
            </a:r>
            <a:r>
              <a:rPr dirty="0" spc="-80"/>
              <a:t>Beyond</a:t>
            </a:r>
            <a:r>
              <a:rPr dirty="0" spc="-130"/>
              <a:t> </a:t>
            </a:r>
            <a:r>
              <a:rPr dirty="0" spc="-55"/>
              <a:t>the</a:t>
            </a:r>
            <a:r>
              <a:rPr dirty="0" spc="-130"/>
              <a:t> </a:t>
            </a:r>
            <a:r>
              <a:rPr dirty="0" spc="-20"/>
              <a:t>U.S.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2026-07-08T22:45:48Z</dcterms:created>
  <dcterms:modified xsi:type="dcterms:W3CDTF">2026-07-08T22:45:48Z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v10.0.19912.1</vt:lpwstr>
  </property>
  <property fmtid="{D5CDD505-2E9C-101B-9397-08002B2CF9AE}" pid="3" name="Created">
    <vt:filetime>2026-07-08T00:00:00Z</vt:filetime>
  </property>
  <property fmtid="{D5CDD505-2E9C-101B-9397-08002B2CF9AE}" pid="4" name="CreationClient">
    <vt:lpwstr>outline-to-presentation</vt:lpwstr>
  </property>
  <property fmtid="{D5CDD505-2E9C-101B-9397-08002B2CF9AE}" pid="5" name="Creator">
    <vt:lpwstr>Adobe Express</vt:lpwstr>
  </property>
  <property fmtid="{D5CDD505-2E9C-101B-9397-08002B2CF9AE}" pid="6" name="LastSaved">
    <vt:filetime>2026-07-08T00:00:00Z</vt:filetime>
  </property>
  <property fmtid="{D5CDD505-2E9C-101B-9397-08002B2CF9AE}" pid="7" name="Producer">
    <vt:lpwstr>Adobe Express</vt:lpwstr>
  </property>
</Properties>
</file>