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8FEC2D-5FF9-1C37-8960-3C7742BA3C32}" v="1085" dt="2026-07-20T17:31:32.8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chemeClr val="tx1"/>
                </a:solidFill>
                <a:latin typeface="Adobe Clean Black"/>
                <a:cs typeface="Adobe Clean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dobe Clean"/>
                <a:cs typeface="Adobe Cle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Adobe Clean Black"/>
                <a:cs typeface="Adobe Clean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dobe Clean"/>
                <a:cs typeface="Adobe Cle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Adobe Clean Black"/>
                <a:cs typeface="Adobe Clean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15265" cy="10287000"/>
          </a:xfrm>
          <a:custGeom>
            <a:avLst/>
            <a:gdLst/>
            <a:ahLst/>
            <a:cxnLst/>
            <a:rect l="l" t="t" r="r" b="b"/>
            <a:pathLst>
              <a:path w="215265" h="10287000">
                <a:moveTo>
                  <a:pt x="215061" y="0"/>
                </a:moveTo>
                <a:lnTo>
                  <a:pt x="0" y="0"/>
                </a:lnTo>
                <a:lnTo>
                  <a:pt x="0" y="10287000"/>
                </a:lnTo>
                <a:lnTo>
                  <a:pt x="215061" y="10287000"/>
                </a:lnTo>
                <a:lnTo>
                  <a:pt x="215061" y="0"/>
                </a:lnTo>
                <a:close/>
              </a:path>
            </a:pathLst>
          </a:custGeom>
          <a:solidFill>
            <a:srgbClr val="EB1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Adobe Clean Black"/>
                <a:cs typeface="Adobe Clean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4400" y="9780257"/>
            <a:ext cx="898461" cy="21584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215265" cy="10287000"/>
          </a:xfrm>
          <a:custGeom>
            <a:avLst/>
            <a:gdLst/>
            <a:ahLst/>
            <a:cxnLst/>
            <a:rect l="l" t="t" r="r" b="b"/>
            <a:pathLst>
              <a:path w="215265" h="10287000">
                <a:moveTo>
                  <a:pt x="215061" y="0"/>
                </a:moveTo>
                <a:lnTo>
                  <a:pt x="0" y="0"/>
                </a:lnTo>
                <a:lnTo>
                  <a:pt x="0" y="10287000"/>
                </a:lnTo>
                <a:lnTo>
                  <a:pt x="215061" y="10287000"/>
                </a:lnTo>
                <a:lnTo>
                  <a:pt x="215061" y="0"/>
                </a:lnTo>
                <a:close/>
              </a:path>
            </a:pathLst>
          </a:custGeom>
          <a:solidFill>
            <a:srgbClr val="EB1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147" y="638325"/>
            <a:ext cx="6682740" cy="740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chemeClr val="tx1"/>
                </a:solidFill>
                <a:latin typeface="Adobe Clean Black"/>
                <a:cs typeface="Adobe Clean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3457" y="2466172"/>
            <a:ext cx="8369300" cy="555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dobe Clean"/>
                <a:cs typeface="Adobe Cle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EB1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9006337"/>
            <a:ext cx="1960760" cy="47103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44597" y="1955995"/>
            <a:ext cx="13072764" cy="3134265"/>
          </a:xfrm>
          <a:prstGeom prst="rect">
            <a:avLst/>
          </a:prstGeom>
        </p:spPr>
        <p:txBody>
          <a:bodyPr vert="horz" wrap="square" lIns="0" tIns="284480" rIns="0" bIns="0" rtlCol="0">
            <a:spAutoFit/>
          </a:bodyPr>
          <a:lstStyle/>
          <a:p>
            <a:pPr marL="12700" marR="19050">
              <a:lnSpc>
                <a:spcPts val="10700"/>
              </a:lnSpc>
              <a:spcBef>
                <a:spcPts val="2240"/>
              </a:spcBef>
            </a:pPr>
            <a:r>
              <a:rPr sz="10700" spc="-190" dirty="0">
                <a:solidFill>
                  <a:srgbClr val="FFFFFF"/>
                </a:solidFill>
                <a:latin typeface="Adobe Clean Black"/>
                <a:cs typeface="Adobe Clean Black"/>
              </a:rPr>
              <a:t>Designing</a:t>
            </a:r>
            <a:r>
              <a:rPr sz="10700" spc="-365" dirty="0">
                <a:solidFill>
                  <a:srgbClr val="FFFFFF"/>
                </a:solidFill>
                <a:latin typeface="Adobe Clean Black"/>
                <a:cs typeface="Adobe Clean Black"/>
              </a:rPr>
              <a:t> </a:t>
            </a:r>
            <a:r>
              <a:rPr sz="10700" spc="-150" dirty="0">
                <a:solidFill>
                  <a:srgbClr val="FFFFFF"/>
                </a:solidFill>
                <a:latin typeface="Adobe Clean Black"/>
                <a:cs typeface="Adobe Clean Black"/>
              </a:rPr>
              <a:t>Election </a:t>
            </a:r>
            <a:r>
              <a:rPr sz="10700" spc="-175" dirty="0">
                <a:solidFill>
                  <a:srgbClr val="FFFFFF"/>
                </a:solidFill>
                <a:latin typeface="Adobe Clean Black"/>
                <a:cs typeface="Adobe Clean Black"/>
              </a:rPr>
              <a:t>Dashboards</a:t>
            </a:r>
            <a:r>
              <a:rPr sz="10700" spc="-385" dirty="0">
                <a:solidFill>
                  <a:srgbClr val="FFFFFF"/>
                </a:solidFill>
                <a:latin typeface="Adobe Clean Black"/>
                <a:cs typeface="Adobe Clean Black"/>
              </a:rPr>
              <a:t> </a:t>
            </a:r>
            <a:r>
              <a:rPr sz="10700" spc="-25" dirty="0">
                <a:solidFill>
                  <a:srgbClr val="FFFFFF"/>
                </a:solidFill>
                <a:latin typeface="Adobe Clean Black"/>
                <a:cs typeface="Adobe Clean Black"/>
              </a:rPr>
              <a:t>for </a:t>
            </a:r>
            <a:r>
              <a:rPr sz="10700" spc="-459" dirty="0">
                <a:solidFill>
                  <a:srgbClr val="FFFFFF"/>
                </a:solidFill>
                <a:latin typeface="Adobe Clean Black"/>
                <a:cs typeface="Adobe Clean Black"/>
              </a:rPr>
              <a:t>T</a:t>
            </a:r>
            <a:r>
              <a:rPr sz="10700" spc="85" dirty="0">
                <a:solidFill>
                  <a:srgbClr val="FFFFFF"/>
                </a:solidFill>
                <a:latin typeface="Adobe Clean Black"/>
                <a:cs typeface="Adobe Clean Black"/>
              </a:rPr>
              <a:t>r</a:t>
            </a:r>
            <a:r>
              <a:rPr sz="10700" spc="95" dirty="0">
                <a:solidFill>
                  <a:srgbClr val="FFFFFF"/>
                </a:solidFill>
                <a:latin typeface="Adobe Clean Black"/>
                <a:cs typeface="Adobe Clean Black"/>
              </a:rPr>
              <a:t>u</a:t>
            </a:r>
            <a:r>
              <a:rPr sz="10700" spc="45" dirty="0">
                <a:solidFill>
                  <a:srgbClr val="FFFFFF"/>
                </a:solidFill>
                <a:latin typeface="Adobe Clean Black"/>
                <a:cs typeface="Adobe Clean Black"/>
              </a:rPr>
              <a:t>s</a:t>
            </a:r>
            <a:r>
              <a:rPr sz="10700" spc="185" dirty="0">
                <a:solidFill>
                  <a:srgbClr val="FFFFFF"/>
                </a:solidFill>
                <a:latin typeface="Adobe Clean Black"/>
                <a:cs typeface="Adobe Clean Black"/>
              </a:rPr>
              <a:t>t</a:t>
            </a:r>
            <a:endParaRPr sz="10700">
              <a:latin typeface="Adobe Clean Black"/>
              <a:cs typeface="Adobe Clean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804120"/>
            <a:ext cx="898461" cy="2158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215265" cy="10287000"/>
          </a:xfrm>
          <a:custGeom>
            <a:avLst/>
            <a:gdLst/>
            <a:ahLst/>
            <a:cxnLst/>
            <a:rect l="l" t="t" r="r" b="b"/>
            <a:pathLst>
              <a:path w="215265" h="10287000">
                <a:moveTo>
                  <a:pt x="215061" y="0"/>
                </a:moveTo>
                <a:lnTo>
                  <a:pt x="0" y="0"/>
                </a:lnTo>
                <a:lnTo>
                  <a:pt x="0" y="10287000"/>
                </a:lnTo>
                <a:lnTo>
                  <a:pt x="215061" y="10287000"/>
                </a:lnTo>
                <a:lnTo>
                  <a:pt x="215061" y="0"/>
                </a:lnTo>
                <a:close/>
              </a:path>
            </a:pathLst>
          </a:custGeom>
          <a:solidFill>
            <a:srgbClr val="EB1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17856" y="9856739"/>
            <a:ext cx="2588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dobe Clean"/>
                <a:cs typeface="Adobe Clean"/>
              </a:rPr>
              <a:t>©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2026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All Rights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Reserved.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 </a:t>
            </a:r>
            <a:r>
              <a:rPr sz="900" spc="-10" dirty="0">
                <a:latin typeface="Adobe Clean"/>
                <a:cs typeface="Adobe Clean"/>
              </a:rPr>
              <a:t>Confidential.</a:t>
            </a:r>
            <a:endParaRPr sz="900">
              <a:latin typeface="Adobe Clean"/>
              <a:cs typeface="Adobe Cle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061728"/>
            <a:ext cx="3927475" cy="1899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8620" indent="-322580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388620" algn="l"/>
              </a:tabLst>
            </a:pPr>
            <a:r>
              <a:rPr sz="2550" spc="-45" dirty="0">
                <a:latin typeface="Adobe Clean"/>
                <a:cs typeface="Adobe Clean"/>
              </a:rPr>
              <a:t>Background</a:t>
            </a:r>
            <a:r>
              <a:rPr sz="2550" spc="-80" dirty="0">
                <a:latin typeface="Adobe Clean"/>
                <a:cs typeface="Adobe Clean"/>
              </a:rPr>
              <a:t> </a:t>
            </a:r>
            <a:r>
              <a:rPr sz="2550" spc="-40" dirty="0">
                <a:latin typeface="Adobe Clean"/>
                <a:cs typeface="Adobe Clean"/>
              </a:rPr>
              <a:t>and</a:t>
            </a:r>
            <a:r>
              <a:rPr sz="2550" spc="-75" dirty="0">
                <a:latin typeface="Adobe Clean"/>
                <a:cs typeface="Adobe Clean"/>
              </a:rPr>
              <a:t> </a:t>
            </a:r>
            <a:r>
              <a:rPr sz="2550" spc="-10" dirty="0">
                <a:latin typeface="Adobe Clean"/>
                <a:cs typeface="Adobe Clean"/>
              </a:rPr>
              <a:t>Problem</a:t>
            </a:r>
            <a:endParaRPr sz="2550">
              <a:latin typeface="Adobe Clean"/>
              <a:cs typeface="Adobe Clean"/>
            </a:endParaRPr>
          </a:p>
          <a:p>
            <a:pPr marL="389255" indent="-372745">
              <a:lnSpc>
                <a:spcPct val="100000"/>
              </a:lnSpc>
              <a:spcBef>
                <a:spcPts val="2770"/>
              </a:spcBef>
              <a:buAutoNum type="arabicPeriod"/>
              <a:tabLst>
                <a:tab pos="389255" algn="l"/>
              </a:tabLst>
            </a:pPr>
            <a:r>
              <a:rPr sz="2550" spc="-30" dirty="0">
                <a:latin typeface="Adobe Clean"/>
                <a:cs typeface="Adobe Clean"/>
              </a:rPr>
              <a:t>Design</a:t>
            </a:r>
            <a:r>
              <a:rPr sz="2550" spc="-100" dirty="0">
                <a:latin typeface="Adobe Clean"/>
                <a:cs typeface="Adobe Clean"/>
              </a:rPr>
              <a:t> </a:t>
            </a:r>
            <a:r>
              <a:rPr sz="2550" spc="-40" dirty="0">
                <a:latin typeface="Adobe Clean"/>
                <a:cs typeface="Adobe Clean"/>
              </a:rPr>
              <a:t>and</a:t>
            </a:r>
            <a:r>
              <a:rPr sz="2550" spc="-100" dirty="0">
                <a:latin typeface="Adobe Clean"/>
                <a:cs typeface="Adobe Clean"/>
              </a:rPr>
              <a:t> </a:t>
            </a:r>
            <a:r>
              <a:rPr sz="2550" spc="-40" dirty="0">
                <a:latin typeface="Adobe Clean"/>
                <a:cs typeface="Adobe Clean"/>
              </a:rPr>
              <a:t>Study</a:t>
            </a:r>
            <a:r>
              <a:rPr sz="2550" spc="-100" dirty="0">
                <a:latin typeface="Adobe Clean"/>
                <a:cs typeface="Adobe Clean"/>
              </a:rPr>
              <a:t> </a:t>
            </a:r>
            <a:r>
              <a:rPr sz="2550" spc="-10" dirty="0">
                <a:latin typeface="Adobe Clean"/>
                <a:cs typeface="Adobe Clean"/>
              </a:rPr>
              <a:t>Execution</a:t>
            </a:r>
            <a:endParaRPr sz="2550">
              <a:latin typeface="Adobe Clean"/>
              <a:cs typeface="Adobe Clean"/>
            </a:endParaRPr>
          </a:p>
          <a:p>
            <a:pPr marL="389255" indent="-376555">
              <a:lnSpc>
                <a:spcPct val="100000"/>
              </a:lnSpc>
              <a:spcBef>
                <a:spcPts val="2775"/>
              </a:spcBef>
              <a:buAutoNum type="arabicPeriod"/>
              <a:tabLst>
                <a:tab pos="389255" algn="l"/>
              </a:tabLst>
            </a:pPr>
            <a:r>
              <a:rPr sz="2550" spc="-50" dirty="0">
                <a:latin typeface="Adobe Clean"/>
                <a:cs typeface="Adobe Clean"/>
              </a:rPr>
              <a:t>Findings</a:t>
            </a:r>
            <a:r>
              <a:rPr sz="2550" spc="-90" dirty="0">
                <a:latin typeface="Adobe Clean"/>
                <a:cs typeface="Adobe Clean"/>
              </a:rPr>
              <a:t> </a:t>
            </a:r>
            <a:r>
              <a:rPr sz="2550" spc="-40" dirty="0">
                <a:latin typeface="Adobe Clean"/>
                <a:cs typeface="Adobe Clean"/>
              </a:rPr>
              <a:t>and</a:t>
            </a:r>
            <a:r>
              <a:rPr sz="2550" spc="-90" dirty="0">
                <a:latin typeface="Adobe Clean"/>
                <a:cs typeface="Adobe Clean"/>
              </a:rPr>
              <a:t> </a:t>
            </a:r>
            <a:r>
              <a:rPr sz="2550" spc="-10" dirty="0">
                <a:latin typeface="Adobe Clean"/>
                <a:cs typeface="Adobe Clean"/>
              </a:rPr>
              <a:t>Insights</a:t>
            </a:r>
            <a:endParaRPr sz="2550">
              <a:latin typeface="Adobe Clean"/>
              <a:cs typeface="Adobe Clean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0"/>
              </a:spcBef>
            </a:pPr>
            <a:r>
              <a:rPr sz="4700" spc="-70" dirty="0">
                <a:latin typeface="Adobe Clean Black"/>
                <a:cs typeface="Adobe Clean Black"/>
              </a:rPr>
              <a:t>Agenda</a:t>
            </a:r>
            <a:endParaRPr sz="4700">
              <a:latin typeface="Adobe Clean Black"/>
              <a:cs typeface="Adobe Clean Black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38533" y="0"/>
            <a:ext cx="6449466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1700" y="4378993"/>
            <a:ext cx="13286819" cy="1277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200" spc="-125" dirty="0">
                <a:latin typeface="Adobe Clean Black"/>
                <a:cs typeface="Adobe Clean Black"/>
              </a:rPr>
              <a:t>Background</a:t>
            </a:r>
            <a:r>
              <a:rPr sz="8200" spc="-315" dirty="0">
                <a:latin typeface="Adobe Clean Black"/>
                <a:cs typeface="Adobe Clean Black"/>
              </a:rPr>
              <a:t> </a:t>
            </a:r>
            <a:r>
              <a:rPr sz="8200" spc="-100" dirty="0">
                <a:latin typeface="Adobe Clean Black"/>
                <a:cs typeface="Adobe Clean Black"/>
              </a:rPr>
              <a:t>and</a:t>
            </a:r>
            <a:r>
              <a:rPr sz="8200" spc="-310" dirty="0">
                <a:latin typeface="Adobe Clean Black"/>
                <a:cs typeface="Adobe Clean Black"/>
              </a:rPr>
              <a:t> </a:t>
            </a:r>
            <a:r>
              <a:rPr sz="8200" spc="-114" dirty="0">
                <a:latin typeface="Adobe Clean Black"/>
                <a:cs typeface="Adobe Clean Black"/>
              </a:rPr>
              <a:t>Problem</a:t>
            </a:r>
            <a:endParaRPr sz="8200">
              <a:latin typeface="Adobe Clean Black"/>
              <a:cs typeface="Adobe Clean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72233" y="9851923"/>
            <a:ext cx="2588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dobe Clean"/>
                <a:cs typeface="Adobe Clean"/>
              </a:rPr>
              <a:t>©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2026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All Rights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Reserved.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 </a:t>
            </a:r>
            <a:r>
              <a:rPr sz="900" spc="-10" dirty="0">
                <a:latin typeface="Adobe Clean"/>
                <a:cs typeface="Adobe Clean"/>
              </a:rPr>
              <a:t>Confidential.</a:t>
            </a:r>
            <a:endParaRPr sz="900">
              <a:latin typeface="Adobe Clean"/>
              <a:cs typeface="Adobe Cle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42825" y="6421289"/>
            <a:ext cx="4849495" cy="140970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2300" b="1" spc="-25" dirty="0">
                <a:latin typeface="Adobe Clean"/>
                <a:cs typeface="Adobe Clean"/>
              </a:rPr>
              <a:t>What</a:t>
            </a:r>
            <a:r>
              <a:rPr sz="2300" b="1" spc="-90" dirty="0">
                <a:latin typeface="Adobe Clean"/>
                <a:cs typeface="Adobe Clean"/>
              </a:rPr>
              <a:t> </a:t>
            </a:r>
            <a:r>
              <a:rPr sz="2300" b="1" spc="-25" dirty="0">
                <a:latin typeface="Adobe Clean"/>
                <a:cs typeface="Adobe Clean"/>
              </a:rPr>
              <a:t>this</a:t>
            </a:r>
            <a:r>
              <a:rPr sz="2300" b="1" spc="-85" dirty="0">
                <a:latin typeface="Adobe Clean"/>
                <a:cs typeface="Adobe Clean"/>
              </a:rPr>
              <a:t> </a:t>
            </a:r>
            <a:r>
              <a:rPr sz="2300" b="1" spc="-25" dirty="0">
                <a:latin typeface="Adobe Clean"/>
                <a:cs typeface="Adobe Clean"/>
              </a:rPr>
              <a:t>research</a:t>
            </a:r>
            <a:r>
              <a:rPr sz="2300" b="1" spc="-90" dirty="0">
                <a:latin typeface="Adobe Clean"/>
                <a:cs typeface="Adobe Clean"/>
              </a:rPr>
              <a:t> </a:t>
            </a:r>
            <a:r>
              <a:rPr sz="2300" b="1" spc="-20" dirty="0">
                <a:latin typeface="Adobe Clean"/>
                <a:cs typeface="Adobe Clean"/>
              </a:rPr>
              <a:t>tests</a:t>
            </a:r>
            <a:endParaRPr sz="2300">
              <a:latin typeface="Adobe Clean"/>
              <a:cs typeface="Adobe Clean"/>
            </a:endParaRPr>
          </a:p>
          <a:p>
            <a:pPr marL="264160" marR="5080" indent="-252095">
              <a:lnSpc>
                <a:spcPct val="101400"/>
              </a:lnSpc>
              <a:spcBef>
                <a:spcPts val="1250"/>
              </a:spcBef>
              <a:buFont typeface="Times New Roman"/>
              <a:buChar char="•"/>
              <a:tabLst>
                <a:tab pos="264160" algn="l"/>
              </a:tabLst>
            </a:pPr>
            <a:r>
              <a:rPr sz="2300" spc="-10" dirty="0">
                <a:latin typeface="Adobe Clean"/>
                <a:cs typeface="Adobe Clean"/>
              </a:rPr>
              <a:t>Can</a:t>
            </a:r>
            <a:r>
              <a:rPr sz="2300" spc="-95" dirty="0">
                <a:latin typeface="Adobe Clean"/>
                <a:cs typeface="Adobe Clean"/>
              </a:rPr>
              <a:t> </a:t>
            </a:r>
            <a:r>
              <a:rPr sz="2300" dirty="0">
                <a:latin typeface="Adobe Clean"/>
                <a:cs typeface="Adobe Clean"/>
              </a:rPr>
              <a:t>a</a:t>
            </a:r>
            <a:r>
              <a:rPr sz="2300" spc="-95" dirty="0">
                <a:latin typeface="Adobe Clean"/>
                <a:cs typeface="Adobe Clean"/>
              </a:rPr>
              <a:t> </a:t>
            </a:r>
            <a:r>
              <a:rPr sz="2300" spc="-30" dirty="0">
                <a:latin typeface="Adobe Clean"/>
                <a:cs typeface="Adobe Clean"/>
              </a:rPr>
              <a:t>dashboard</a:t>
            </a:r>
            <a:r>
              <a:rPr sz="2300" spc="-95" dirty="0">
                <a:latin typeface="Adobe Clean"/>
                <a:cs typeface="Adobe Clean"/>
              </a:rPr>
              <a:t> </a:t>
            </a:r>
            <a:r>
              <a:rPr sz="2300" spc="-25" dirty="0">
                <a:latin typeface="Adobe Clean"/>
                <a:cs typeface="Adobe Clean"/>
              </a:rPr>
              <a:t>that</a:t>
            </a:r>
            <a:r>
              <a:rPr sz="2300" spc="-95" dirty="0">
                <a:latin typeface="Adobe Clean"/>
                <a:cs typeface="Adobe Clean"/>
              </a:rPr>
              <a:t> </a:t>
            </a:r>
            <a:r>
              <a:rPr sz="2300" spc="-10" dirty="0">
                <a:latin typeface="Adobe Clean"/>
                <a:cs typeface="Adobe Clean"/>
              </a:rPr>
              <a:t>emphasizes </a:t>
            </a:r>
            <a:r>
              <a:rPr sz="2300" spc="-25" dirty="0">
                <a:latin typeface="Adobe Clean"/>
                <a:cs typeface="Adobe Clean"/>
              </a:rPr>
              <a:t>progress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20" dirty="0">
                <a:latin typeface="Adobe Clean"/>
                <a:cs typeface="Adobe Clean"/>
              </a:rPr>
              <a:t>and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20" dirty="0">
                <a:latin typeface="Adobe Clean"/>
                <a:cs typeface="Adobe Clean"/>
              </a:rPr>
              <a:t>uncertainty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25" dirty="0">
                <a:latin typeface="Adobe Clean"/>
                <a:cs typeface="Adobe Clean"/>
              </a:rPr>
              <a:t>improve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10" dirty="0">
                <a:latin typeface="Adobe Clean"/>
                <a:cs typeface="Adobe Clean"/>
              </a:rPr>
              <a:t>trust?</a:t>
            </a:r>
            <a:endParaRPr sz="2300">
              <a:latin typeface="Adobe Clean"/>
              <a:cs typeface="Adobe Cle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7434" y="6421273"/>
            <a:ext cx="4624070" cy="216027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2300" b="1" spc="-25" dirty="0">
                <a:latin typeface="Adobe Clean"/>
                <a:cs typeface="Adobe Clean"/>
              </a:rPr>
              <a:t>Partial</a:t>
            </a:r>
            <a:r>
              <a:rPr sz="2300" b="1" spc="-80" dirty="0">
                <a:latin typeface="Adobe Clean"/>
                <a:cs typeface="Adobe Clean"/>
              </a:rPr>
              <a:t> </a:t>
            </a:r>
            <a:r>
              <a:rPr sz="2300" b="1" spc="-25" dirty="0">
                <a:latin typeface="Adobe Clean"/>
                <a:cs typeface="Adobe Clean"/>
              </a:rPr>
              <a:t>counts</a:t>
            </a:r>
            <a:r>
              <a:rPr sz="2300" b="1" spc="-75" dirty="0">
                <a:latin typeface="Adobe Clean"/>
                <a:cs typeface="Adobe Clean"/>
              </a:rPr>
              <a:t> </a:t>
            </a:r>
            <a:r>
              <a:rPr sz="2300" b="1" spc="-35" dirty="0">
                <a:latin typeface="Adobe Clean"/>
                <a:cs typeface="Adobe Clean"/>
              </a:rPr>
              <a:t>invite</a:t>
            </a:r>
            <a:r>
              <a:rPr sz="2300" b="1" spc="-75" dirty="0">
                <a:latin typeface="Adobe Clean"/>
                <a:cs typeface="Adobe Clean"/>
              </a:rPr>
              <a:t> </a:t>
            </a:r>
            <a:r>
              <a:rPr sz="2300" b="1" spc="-10" dirty="0">
                <a:latin typeface="Adobe Clean"/>
                <a:cs typeface="Adobe Clean"/>
              </a:rPr>
              <a:t>misreadings</a:t>
            </a:r>
            <a:endParaRPr sz="2300">
              <a:latin typeface="Adobe Clean"/>
              <a:cs typeface="Adobe Clean"/>
            </a:endParaRPr>
          </a:p>
          <a:p>
            <a:pPr marL="264160" marR="315595" indent="-252095">
              <a:lnSpc>
                <a:spcPct val="101400"/>
              </a:lnSpc>
              <a:spcBef>
                <a:spcPts val="1250"/>
              </a:spcBef>
              <a:buFont typeface="Times New Roman"/>
              <a:buChar char="•"/>
              <a:tabLst>
                <a:tab pos="264160" algn="l"/>
              </a:tabLst>
            </a:pPr>
            <a:r>
              <a:rPr sz="2300" spc="-35" dirty="0">
                <a:latin typeface="Adobe Clean"/>
                <a:cs typeface="Adobe Clean"/>
              </a:rPr>
              <a:t>Visible</a:t>
            </a:r>
            <a:r>
              <a:rPr sz="2300" spc="-100" dirty="0">
                <a:latin typeface="Adobe Clean"/>
                <a:cs typeface="Adobe Clean"/>
              </a:rPr>
              <a:t> </a:t>
            </a:r>
            <a:r>
              <a:rPr sz="2300" spc="-10" dirty="0">
                <a:latin typeface="Adobe Clean"/>
                <a:cs typeface="Adobe Clean"/>
              </a:rPr>
              <a:t>shifts</a:t>
            </a:r>
            <a:r>
              <a:rPr sz="2300" spc="-110" dirty="0">
                <a:latin typeface="Adobe Clean"/>
                <a:cs typeface="Adobe Clean"/>
              </a:rPr>
              <a:t> </a:t>
            </a:r>
            <a:r>
              <a:rPr sz="2300" dirty="0">
                <a:latin typeface="Adobe Clean"/>
                <a:cs typeface="Adobe Clean"/>
              </a:rPr>
              <a:t>in</a:t>
            </a:r>
            <a:r>
              <a:rPr sz="2300" spc="-105" dirty="0">
                <a:latin typeface="Adobe Clean"/>
                <a:cs typeface="Adobe Clean"/>
              </a:rPr>
              <a:t> </a:t>
            </a:r>
            <a:r>
              <a:rPr sz="2300" spc="-25" dirty="0">
                <a:latin typeface="Adobe Clean"/>
                <a:cs typeface="Adobe Clean"/>
              </a:rPr>
              <a:t>trends</a:t>
            </a:r>
            <a:r>
              <a:rPr sz="2300" spc="-105" dirty="0">
                <a:latin typeface="Adobe Clean"/>
                <a:cs typeface="Adobe Clean"/>
              </a:rPr>
              <a:t> </a:t>
            </a:r>
            <a:r>
              <a:rPr sz="2300" dirty="0">
                <a:latin typeface="Adobe Clean"/>
                <a:cs typeface="Adobe Clean"/>
              </a:rPr>
              <a:t>can</a:t>
            </a:r>
            <a:r>
              <a:rPr sz="2300" spc="-105" dirty="0">
                <a:latin typeface="Adobe Clean"/>
                <a:cs typeface="Adobe Clean"/>
              </a:rPr>
              <a:t> </a:t>
            </a:r>
            <a:r>
              <a:rPr sz="2300" spc="-20" dirty="0">
                <a:latin typeface="Adobe Clean"/>
                <a:cs typeface="Adobe Clean"/>
              </a:rPr>
              <a:t>look </a:t>
            </a:r>
            <a:r>
              <a:rPr sz="2300" spc="-30" dirty="0">
                <a:latin typeface="Adobe Clean"/>
                <a:cs typeface="Adobe Clean"/>
              </a:rPr>
              <a:t>suspicious</a:t>
            </a:r>
            <a:r>
              <a:rPr sz="2300" spc="-90" dirty="0">
                <a:latin typeface="Adobe Clean"/>
                <a:cs typeface="Adobe Clean"/>
              </a:rPr>
              <a:t> </a:t>
            </a:r>
            <a:r>
              <a:rPr sz="2300" spc="-20" dirty="0">
                <a:latin typeface="Adobe Clean"/>
                <a:cs typeface="Adobe Clean"/>
              </a:rPr>
              <a:t>without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20" dirty="0">
                <a:latin typeface="Adobe Clean"/>
                <a:cs typeface="Adobe Clean"/>
              </a:rPr>
              <a:t>process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10" dirty="0">
                <a:latin typeface="Adobe Clean"/>
                <a:cs typeface="Adobe Clean"/>
              </a:rPr>
              <a:t>context.</a:t>
            </a:r>
            <a:endParaRPr sz="2300">
              <a:latin typeface="Adobe Clean"/>
              <a:cs typeface="Adobe Clean"/>
            </a:endParaRPr>
          </a:p>
          <a:p>
            <a:pPr marL="264160" marR="5080" indent="-252095">
              <a:lnSpc>
                <a:spcPct val="101400"/>
              </a:lnSpc>
              <a:spcBef>
                <a:spcPts val="315"/>
              </a:spcBef>
              <a:buFont typeface="Times New Roman"/>
              <a:buChar char="•"/>
              <a:tabLst>
                <a:tab pos="264160" algn="l"/>
              </a:tabLst>
            </a:pPr>
            <a:r>
              <a:rPr sz="2300" dirty="0">
                <a:latin typeface="Adobe Clean"/>
                <a:cs typeface="Adobe Clean"/>
              </a:rPr>
              <a:t>In</a:t>
            </a:r>
            <a:r>
              <a:rPr sz="2300" spc="-114" dirty="0">
                <a:latin typeface="Adobe Clean"/>
                <a:cs typeface="Adobe Clean"/>
              </a:rPr>
              <a:t> </a:t>
            </a:r>
            <a:r>
              <a:rPr sz="2300" spc="-50" dirty="0">
                <a:latin typeface="Adobe Clean"/>
                <a:cs typeface="Adobe Clean"/>
              </a:rPr>
              <a:t>2020,</a:t>
            </a:r>
            <a:r>
              <a:rPr sz="2300" spc="-90" dirty="0">
                <a:latin typeface="Adobe Clean"/>
                <a:cs typeface="Adobe Clean"/>
              </a:rPr>
              <a:t> </a:t>
            </a:r>
            <a:r>
              <a:rPr sz="2300" spc="-20" dirty="0">
                <a:latin typeface="Adobe Clean"/>
                <a:cs typeface="Adobe Clean"/>
              </a:rPr>
              <a:t>some</a:t>
            </a:r>
            <a:r>
              <a:rPr sz="2300" spc="-105" dirty="0">
                <a:latin typeface="Adobe Clean"/>
                <a:cs typeface="Adobe Clean"/>
              </a:rPr>
              <a:t> </a:t>
            </a:r>
            <a:r>
              <a:rPr sz="2300" spc="-25" dirty="0">
                <a:latin typeface="Adobe Clean"/>
                <a:cs typeface="Adobe Clean"/>
              </a:rPr>
              <a:t>late</a:t>
            </a:r>
            <a:r>
              <a:rPr sz="2300" spc="-100" dirty="0">
                <a:latin typeface="Adobe Clean"/>
                <a:cs typeface="Adobe Clean"/>
              </a:rPr>
              <a:t> </a:t>
            </a:r>
            <a:r>
              <a:rPr sz="2300" spc="-10" dirty="0">
                <a:latin typeface="Adobe Clean"/>
                <a:cs typeface="Adobe Clean"/>
              </a:rPr>
              <a:t>shifts</a:t>
            </a:r>
            <a:r>
              <a:rPr sz="2300" spc="-100" dirty="0">
                <a:latin typeface="Adobe Clean"/>
                <a:cs typeface="Adobe Clean"/>
              </a:rPr>
              <a:t> </a:t>
            </a:r>
            <a:r>
              <a:rPr sz="2300" spc="-20" dirty="0">
                <a:latin typeface="Adobe Clean"/>
                <a:cs typeface="Adobe Clean"/>
              </a:rPr>
              <a:t>were</a:t>
            </a:r>
            <a:r>
              <a:rPr sz="2300" spc="-105" dirty="0">
                <a:latin typeface="Adobe Clean"/>
                <a:cs typeface="Adobe Clean"/>
              </a:rPr>
              <a:t> </a:t>
            </a:r>
            <a:r>
              <a:rPr sz="2300" spc="-20" dirty="0">
                <a:latin typeface="Adobe Clean"/>
                <a:cs typeface="Adobe Clean"/>
              </a:rPr>
              <a:t>wrongly </a:t>
            </a:r>
            <a:r>
              <a:rPr sz="2300" spc="-25" dirty="0">
                <a:latin typeface="Adobe Clean"/>
                <a:cs typeface="Adobe Clean"/>
              </a:rPr>
              <a:t>framed</a:t>
            </a:r>
            <a:r>
              <a:rPr sz="2300" spc="-100" dirty="0">
                <a:latin typeface="Adobe Clean"/>
                <a:cs typeface="Adobe Clean"/>
              </a:rPr>
              <a:t> </a:t>
            </a:r>
            <a:r>
              <a:rPr sz="2300" dirty="0">
                <a:latin typeface="Adobe Clean"/>
                <a:cs typeface="Adobe Clean"/>
              </a:rPr>
              <a:t>as</a:t>
            </a:r>
            <a:r>
              <a:rPr sz="2300" spc="-95" dirty="0">
                <a:latin typeface="Adobe Clean"/>
                <a:cs typeface="Adobe Clean"/>
              </a:rPr>
              <a:t> </a:t>
            </a:r>
            <a:r>
              <a:rPr sz="2300" spc="-30" dirty="0">
                <a:latin typeface="Adobe Clean"/>
                <a:cs typeface="Adobe Clean"/>
              </a:rPr>
              <a:t>fraud</a:t>
            </a:r>
            <a:r>
              <a:rPr sz="2300" spc="-95" dirty="0">
                <a:latin typeface="Adobe Clean"/>
                <a:cs typeface="Adobe Clean"/>
              </a:rPr>
              <a:t> </a:t>
            </a:r>
            <a:r>
              <a:rPr sz="2300" spc="-10" dirty="0">
                <a:latin typeface="Adobe Clean"/>
                <a:cs typeface="Adobe Clean"/>
              </a:rPr>
              <a:t>signals.</a:t>
            </a:r>
            <a:endParaRPr sz="2300">
              <a:latin typeface="Adobe Clean"/>
              <a:cs typeface="Adobe Cle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108" y="6421420"/>
            <a:ext cx="4649470" cy="216027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300" b="1" spc="-10" dirty="0">
                <a:latin typeface="Adobe Clean"/>
                <a:cs typeface="Adobe Clean"/>
              </a:rPr>
              <a:t>Live</a:t>
            </a:r>
            <a:r>
              <a:rPr sz="2300" b="1" spc="-90" dirty="0">
                <a:latin typeface="Adobe Clean"/>
                <a:cs typeface="Adobe Clean"/>
              </a:rPr>
              <a:t> </a:t>
            </a:r>
            <a:r>
              <a:rPr sz="2300" b="1" spc="-20" dirty="0">
                <a:latin typeface="Adobe Clean"/>
                <a:cs typeface="Adobe Clean"/>
              </a:rPr>
              <a:t>results</a:t>
            </a:r>
            <a:r>
              <a:rPr sz="2300" b="1" spc="-85" dirty="0">
                <a:latin typeface="Adobe Clean"/>
                <a:cs typeface="Adobe Clean"/>
              </a:rPr>
              <a:t> </a:t>
            </a:r>
            <a:r>
              <a:rPr sz="2300" b="1" spc="-10" dirty="0">
                <a:latin typeface="Adobe Clean"/>
                <a:cs typeface="Adobe Clean"/>
              </a:rPr>
              <a:t>are</a:t>
            </a:r>
            <a:r>
              <a:rPr sz="2300" b="1" spc="-85" dirty="0">
                <a:latin typeface="Adobe Clean"/>
                <a:cs typeface="Adobe Clean"/>
              </a:rPr>
              <a:t> </a:t>
            </a:r>
            <a:r>
              <a:rPr sz="2300" b="1" spc="-35" dirty="0">
                <a:latin typeface="Adobe Clean"/>
                <a:cs typeface="Adobe Clean"/>
              </a:rPr>
              <a:t>inherently</a:t>
            </a:r>
            <a:r>
              <a:rPr sz="2300" b="1" spc="-85" dirty="0">
                <a:latin typeface="Adobe Clean"/>
                <a:cs typeface="Adobe Clean"/>
              </a:rPr>
              <a:t> </a:t>
            </a:r>
            <a:r>
              <a:rPr sz="2300" b="1" spc="-10" dirty="0">
                <a:latin typeface="Adobe Clean"/>
                <a:cs typeface="Adobe Clean"/>
              </a:rPr>
              <a:t>incomplete</a:t>
            </a:r>
            <a:endParaRPr sz="2300">
              <a:latin typeface="Adobe Clean"/>
              <a:cs typeface="Adobe Clean"/>
            </a:endParaRPr>
          </a:p>
          <a:p>
            <a:pPr marL="264160" marR="318770" indent="-252095">
              <a:lnSpc>
                <a:spcPct val="101400"/>
              </a:lnSpc>
              <a:spcBef>
                <a:spcPts val="1255"/>
              </a:spcBef>
              <a:buFont typeface="Times New Roman"/>
              <a:buChar char="•"/>
              <a:tabLst>
                <a:tab pos="264160" algn="l"/>
              </a:tabLst>
            </a:pPr>
            <a:r>
              <a:rPr sz="2300" spc="-20" dirty="0">
                <a:latin typeface="Adobe Clean"/>
                <a:cs typeface="Adobe Clean"/>
              </a:rPr>
              <a:t>U.S.</a:t>
            </a:r>
            <a:r>
              <a:rPr sz="2300" spc="-90" dirty="0">
                <a:latin typeface="Adobe Clean"/>
                <a:cs typeface="Adobe Clean"/>
              </a:rPr>
              <a:t> </a:t>
            </a:r>
            <a:r>
              <a:rPr sz="2300" spc="-20" dirty="0">
                <a:latin typeface="Adobe Clean"/>
                <a:cs typeface="Adobe Clean"/>
              </a:rPr>
              <a:t>vote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25" dirty="0">
                <a:latin typeface="Adobe Clean"/>
                <a:cs typeface="Adobe Clean"/>
              </a:rPr>
              <a:t>totals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30" dirty="0">
                <a:latin typeface="Adobe Clean"/>
                <a:cs typeface="Adobe Clean"/>
              </a:rPr>
              <a:t>update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dirty="0">
                <a:latin typeface="Adobe Clean"/>
                <a:cs typeface="Adobe Clean"/>
              </a:rPr>
              <a:t>in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30" dirty="0">
                <a:latin typeface="Adobe Clean"/>
                <a:cs typeface="Adobe Clean"/>
              </a:rPr>
              <a:t>batches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25" dirty="0">
                <a:latin typeface="Adobe Clean"/>
                <a:cs typeface="Adobe Clean"/>
              </a:rPr>
              <a:t>as </a:t>
            </a:r>
            <a:r>
              <a:rPr sz="2300" spc="-35" dirty="0">
                <a:latin typeface="Adobe Clean"/>
                <a:cs typeface="Adobe Clean"/>
              </a:rPr>
              <a:t>jurisdictions</a:t>
            </a:r>
            <a:r>
              <a:rPr sz="2300" spc="-65" dirty="0">
                <a:latin typeface="Adobe Clean"/>
                <a:cs typeface="Adobe Clean"/>
              </a:rPr>
              <a:t> </a:t>
            </a:r>
            <a:r>
              <a:rPr sz="2300" spc="-10" dirty="0">
                <a:latin typeface="Adobe Clean"/>
                <a:cs typeface="Adobe Clean"/>
              </a:rPr>
              <a:t>report</a:t>
            </a:r>
            <a:r>
              <a:rPr sz="2300" spc="-70" dirty="0">
                <a:latin typeface="Adobe Clean"/>
                <a:cs typeface="Adobe Clean"/>
              </a:rPr>
              <a:t> </a:t>
            </a:r>
            <a:r>
              <a:rPr sz="2300" spc="-20" dirty="0">
                <a:latin typeface="Adobe Clean"/>
                <a:cs typeface="Adobe Clean"/>
              </a:rPr>
              <a:t>over</a:t>
            </a:r>
            <a:r>
              <a:rPr sz="2300" spc="-65" dirty="0">
                <a:latin typeface="Adobe Clean"/>
                <a:cs typeface="Adobe Clean"/>
              </a:rPr>
              <a:t> </a:t>
            </a:r>
            <a:r>
              <a:rPr sz="2300" spc="-10" dirty="0">
                <a:latin typeface="Adobe Clean"/>
                <a:cs typeface="Adobe Clean"/>
              </a:rPr>
              <a:t>time.</a:t>
            </a:r>
            <a:endParaRPr sz="2300">
              <a:latin typeface="Adobe Clean"/>
              <a:cs typeface="Adobe Clean"/>
            </a:endParaRPr>
          </a:p>
          <a:p>
            <a:pPr marL="264160" marR="5080" indent="-252095">
              <a:lnSpc>
                <a:spcPct val="101400"/>
              </a:lnSpc>
              <a:spcBef>
                <a:spcPts val="310"/>
              </a:spcBef>
              <a:buFont typeface="Times New Roman"/>
              <a:buChar char="•"/>
              <a:tabLst>
                <a:tab pos="264160" algn="l"/>
              </a:tabLst>
            </a:pPr>
            <a:r>
              <a:rPr sz="2300" spc="-10" dirty="0">
                <a:latin typeface="Adobe Clean"/>
                <a:cs typeface="Adobe Clean"/>
              </a:rPr>
              <a:t>Early</a:t>
            </a:r>
            <a:r>
              <a:rPr sz="2300" spc="-114" dirty="0">
                <a:latin typeface="Adobe Clean"/>
                <a:cs typeface="Adobe Clean"/>
              </a:rPr>
              <a:t> </a:t>
            </a:r>
            <a:r>
              <a:rPr sz="2300" spc="-25" dirty="0">
                <a:latin typeface="Adobe Clean"/>
                <a:cs typeface="Adobe Clean"/>
              </a:rPr>
              <a:t>leads</a:t>
            </a:r>
            <a:r>
              <a:rPr sz="2300" spc="-105" dirty="0">
                <a:latin typeface="Adobe Clean"/>
                <a:cs typeface="Adobe Clean"/>
              </a:rPr>
              <a:t> </a:t>
            </a:r>
            <a:r>
              <a:rPr sz="2300" dirty="0">
                <a:latin typeface="Adobe Clean"/>
                <a:cs typeface="Adobe Clean"/>
              </a:rPr>
              <a:t>can</a:t>
            </a:r>
            <a:r>
              <a:rPr sz="2300" spc="-100" dirty="0">
                <a:latin typeface="Adobe Clean"/>
                <a:cs typeface="Adobe Clean"/>
              </a:rPr>
              <a:t> </a:t>
            </a:r>
            <a:r>
              <a:rPr sz="2300" dirty="0">
                <a:latin typeface="Adobe Clean"/>
                <a:cs typeface="Adobe Clean"/>
              </a:rPr>
              <a:t>be</a:t>
            </a:r>
            <a:r>
              <a:rPr sz="2300" spc="-105" dirty="0">
                <a:latin typeface="Adobe Clean"/>
                <a:cs typeface="Adobe Clean"/>
              </a:rPr>
              <a:t> </a:t>
            </a:r>
            <a:r>
              <a:rPr sz="2300" spc="-40" dirty="0">
                <a:latin typeface="Adobe Clean"/>
                <a:cs typeface="Adobe Clean"/>
              </a:rPr>
              <a:t>misleading</a:t>
            </a:r>
            <a:r>
              <a:rPr sz="2300" spc="-95" dirty="0">
                <a:latin typeface="Adobe Clean"/>
                <a:cs typeface="Adobe Clean"/>
              </a:rPr>
              <a:t> </a:t>
            </a:r>
            <a:r>
              <a:rPr sz="2300" spc="-10" dirty="0">
                <a:latin typeface="Adobe Clean"/>
                <a:cs typeface="Adobe Clean"/>
              </a:rPr>
              <a:t>because </a:t>
            </a:r>
            <a:r>
              <a:rPr sz="2300" spc="-25" dirty="0">
                <a:latin typeface="Adobe Clean"/>
                <a:cs typeface="Adobe Clean"/>
              </a:rPr>
              <a:t>many</a:t>
            </a:r>
            <a:r>
              <a:rPr sz="2300" spc="-90" dirty="0">
                <a:latin typeface="Adobe Clean"/>
                <a:cs typeface="Adobe Clean"/>
              </a:rPr>
              <a:t> </a:t>
            </a:r>
            <a:r>
              <a:rPr sz="2300" spc="-25" dirty="0">
                <a:latin typeface="Adobe Clean"/>
                <a:cs typeface="Adobe Clean"/>
              </a:rPr>
              <a:t>ballots</a:t>
            </a:r>
            <a:r>
              <a:rPr sz="2300" spc="-90" dirty="0">
                <a:latin typeface="Adobe Clean"/>
                <a:cs typeface="Adobe Clean"/>
              </a:rPr>
              <a:t> </a:t>
            </a:r>
            <a:r>
              <a:rPr sz="2300" spc="-30" dirty="0">
                <a:latin typeface="Adobe Clean"/>
                <a:cs typeface="Adobe Clean"/>
              </a:rPr>
              <a:t>remain</a:t>
            </a:r>
            <a:r>
              <a:rPr sz="2300" spc="-90" dirty="0">
                <a:latin typeface="Adobe Clean"/>
                <a:cs typeface="Adobe Clean"/>
              </a:rPr>
              <a:t> </a:t>
            </a:r>
            <a:r>
              <a:rPr sz="2300" spc="-10" dirty="0">
                <a:latin typeface="Adobe Clean"/>
                <a:cs typeface="Adobe Clean"/>
              </a:rPr>
              <a:t>uncounted.</a:t>
            </a:r>
            <a:endParaRPr sz="2300">
              <a:latin typeface="Adobe Clean"/>
              <a:cs typeface="Adobe Cle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5512" y="2520467"/>
            <a:ext cx="4893348" cy="37571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0187" y="2520467"/>
            <a:ext cx="4893360" cy="37571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875" y="2520467"/>
            <a:ext cx="4893348" cy="3757159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02147" y="638325"/>
            <a:ext cx="6682740" cy="658514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200" spc="-110">
                <a:latin typeface="Adobe Clean Black"/>
                <a:cs typeface="Adobe Clean Black"/>
              </a:rPr>
              <a:t>Why This Study </a:t>
            </a:r>
            <a:r>
              <a:rPr lang="en-US" sz="4200" spc="-110"/>
              <a:t>Matters</a:t>
            </a:r>
            <a:endParaRPr lang="en-US" sz="4200" spc="-20">
              <a:latin typeface="Adobe Clean Black"/>
              <a:cs typeface="Adobe Clean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72233" y="9851923"/>
            <a:ext cx="2588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dobe Clean"/>
                <a:cs typeface="Adobe Clean"/>
              </a:rPr>
              <a:t>©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2026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All Rights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Reserved.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 </a:t>
            </a:r>
            <a:r>
              <a:rPr sz="900" spc="-10" dirty="0">
                <a:latin typeface="Adobe Clean"/>
                <a:cs typeface="Adobe Clean"/>
              </a:rPr>
              <a:t>Confidential.</a:t>
            </a:r>
            <a:endParaRPr sz="900">
              <a:latin typeface="Adobe Clean"/>
              <a:cs typeface="Adobe Cle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51168" y="6240060"/>
            <a:ext cx="4448722" cy="2424382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spc="-50" dirty="0">
                <a:latin typeface="Adobe Clean"/>
                <a:cs typeface="Adobe Clean"/>
              </a:rPr>
              <a:t>Why</a:t>
            </a:r>
            <a:r>
              <a:rPr sz="2600" b="1" spc="-100" dirty="0">
                <a:latin typeface="Adobe Clean"/>
                <a:cs typeface="Adobe Clean"/>
              </a:rPr>
              <a:t> </a:t>
            </a:r>
            <a:r>
              <a:rPr sz="2600" b="1" spc="-45" dirty="0">
                <a:latin typeface="Adobe Clean"/>
                <a:cs typeface="Adobe Clean"/>
              </a:rPr>
              <a:t>patterns</a:t>
            </a:r>
            <a:r>
              <a:rPr sz="2600" b="1" spc="-100" dirty="0">
                <a:latin typeface="Adobe Clean"/>
                <a:cs typeface="Adobe Clean"/>
              </a:rPr>
              <a:t> </a:t>
            </a:r>
            <a:r>
              <a:rPr sz="2600" b="1" spc="-30" dirty="0">
                <a:latin typeface="Adobe Clean"/>
                <a:cs typeface="Adobe Clean"/>
              </a:rPr>
              <a:t>can</a:t>
            </a:r>
            <a:r>
              <a:rPr sz="2600" b="1" spc="-100" dirty="0">
                <a:latin typeface="Adobe Clean"/>
                <a:cs typeface="Adobe Clean"/>
              </a:rPr>
              <a:t> </a:t>
            </a:r>
            <a:r>
              <a:rPr sz="2600" b="1" spc="-35" dirty="0">
                <a:latin typeface="Adobe Clean"/>
                <a:cs typeface="Adobe Clean"/>
              </a:rPr>
              <a:t>look</a:t>
            </a:r>
            <a:r>
              <a:rPr sz="2600" b="1" spc="-100" dirty="0">
                <a:latin typeface="Adobe Clean"/>
                <a:cs typeface="Adobe Clean"/>
              </a:rPr>
              <a:t> </a:t>
            </a:r>
            <a:r>
              <a:rPr sz="2600" b="1" spc="-25" dirty="0">
                <a:latin typeface="Adobe Clean"/>
                <a:cs typeface="Adobe Clean"/>
              </a:rPr>
              <a:t>odd</a:t>
            </a:r>
            <a:endParaRPr sz="2600">
              <a:latin typeface="Adobe Clean"/>
              <a:cs typeface="Adobe Clean"/>
            </a:endParaRPr>
          </a:p>
          <a:p>
            <a:pPr marL="292735" marR="42545" indent="-280670"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dirty="0">
                <a:latin typeface="Adobe Clean"/>
                <a:cs typeface="Adobe Clean"/>
              </a:rPr>
              <a:t>As</a:t>
            </a:r>
            <a:r>
              <a:rPr sz="2600" spc="-80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vote</a:t>
            </a:r>
            <a:r>
              <a:rPr sz="2600" spc="-75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batches</a:t>
            </a:r>
            <a:r>
              <a:rPr sz="2600" spc="-75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arrive,</a:t>
            </a:r>
            <a:r>
              <a:rPr sz="2600" spc="-75" dirty="0">
                <a:latin typeface="Adobe Clean"/>
                <a:cs typeface="Adobe Clean"/>
              </a:rPr>
              <a:t> </a:t>
            </a:r>
            <a:r>
              <a:rPr sz="2600" spc="-50">
                <a:latin typeface="Adobe Clean"/>
                <a:cs typeface="Adobe Clean"/>
              </a:rPr>
              <a:t>leads</a:t>
            </a:r>
            <a:r>
              <a:rPr sz="2600" spc="-75" dirty="0">
                <a:latin typeface="Adobe Clean"/>
                <a:cs typeface="Adobe Clean"/>
              </a:rPr>
              <a:t> </a:t>
            </a:r>
            <a:r>
              <a:rPr lang="en-US" sz="2600" spc="-75">
                <a:latin typeface="Adobe Clean"/>
                <a:cs typeface="Adobe Clean"/>
              </a:rPr>
              <a:t>can shift without wrongdoing.</a:t>
            </a:r>
            <a:endParaRPr sz="2600" spc="-25">
              <a:latin typeface="Adobe Clean"/>
              <a:cs typeface="Adobe Clean"/>
            </a:endParaRPr>
          </a:p>
          <a:p>
            <a:pPr marL="292735" marR="5080" indent="-280670">
              <a:spcBef>
                <a:spcPts val="365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50" dirty="0">
                <a:latin typeface="Adobe Clean"/>
                <a:cs typeface="Adobe Clean"/>
              </a:rPr>
              <a:t>Election-</a:t>
            </a:r>
            <a:r>
              <a:rPr sz="2600" spc="-60" dirty="0">
                <a:latin typeface="Adobe Clean"/>
                <a:cs typeface="Adobe Clean"/>
              </a:rPr>
              <a:t>night</a:t>
            </a:r>
            <a:r>
              <a:rPr sz="2600" spc="-35" dirty="0">
                <a:latin typeface="Adobe Clean"/>
                <a:cs typeface="Adobe Clean"/>
              </a:rPr>
              <a:t> </a:t>
            </a:r>
            <a:r>
              <a:rPr sz="2600" spc="-40">
                <a:latin typeface="Adobe Clean"/>
                <a:cs typeface="Adobe Clean"/>
              </a:rPr>
              <a:t>numbers</a:t>
            </a:r>
            <a:r>
              <a:rPr sz="2600" spc="-30" dirty="0">
                <a:latin typeface="Adobe Clean"/>
                <a:cs typeface="Adobe Clean"/>
              </a:rPr>
              <a:t> </a:t>
            </a:r>
            <a:r>
              <a:rPr lang="en-US" sz="2600" spc="-30">
                <a:latin typeface="Adobe Clean"/>
                <a:cs typeface="Adobe Clean"/>
              </a:rPr>
              <a:t>are </a:t>
            </a:r>
            <a:r>
              <a:rPr lang="en-US" sz="2600" b="1" spc="-30">
                <a:latin typeface="Adobe Clean"/>
                <a:cs typeface="Adobe Clean"/>
              </a:rPr>
              <a:t>unofficial </a:t>
            </a:r>
            <a:r>
              <a:rPr lang="en-US" sz="2600" spc="-30">
                <a:latin typeface="Adobe Clean"/>
                <a:cs typeface="Adobe Clean"/>
              </a:rPr>
              <a:t>until certification</a:t>
            </a:r>
            <a:r>
              <a:rPr lang="en-US" sz="2600" spc="-30" dirty="0">
                <a:latin typeface="Adobe Clean"/>
                <a:cs typeface="Adobe Clean"/>
              </a:rPr>
              <a:t>.</a:t>
            </a:r>
            <a:endParaRPr sz="2600" spc="-25" dirty="0">
              <a:latin typeface="Adobe Clean"/>
              <a:cs typeface="Adobe Cle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7492" y="6281909"/>
            <a:ext cx="4675505" cy="2824491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spc="-35" dirty="0">
                <a:latin typeface="Adobe Clean"/>
                <a:cs typeface="Adobe Clean"/>
              </a:rPr>
              <a:t>How</a:t>
            </a:r>
            <a:r>
              <a:rPr sz="2600" b="1" spc="-105" dirty="0">
                <a:latin typeface="Adobe Clean"/>
                <a:cs typeface="Adobe Clean"/>
              </a:rPr>
              <a:t> </a:t>
            </a:r>
            <a:r>
              <a:rPr sz="2600" b="1" spc="-30" dirty="0">
                <a:latin typeface="Adobe Clean"/>
                <a:cs typeface="Adobe Clean"/>
              </a:rPr>
              <a:t>results</a:t>
            </a:r>
            <a:r>
              <a:rPr sz="2600" b="1" spc="-100" dirty="0">
                <a:latin typeface="Adobe Clean"/>
                <a:cs typeface="Adobe Clean"/>
              </a:rPr>
              <a:t> </a:t>
            </a:r>
            <a:r>
              <a:rPr sz="2600" b="1" spc="-40" dirty="0">
                <a:latin typeface="Adobe Clean"/>
                <a:cs typeface="Adobe Clean"/>
              </a:rPr>
              <a:t>reach</a:t>
            </a:r>
            <a:r>
              <a:rPr sz="2600" b="1" spc="-100" dirty="0">
                <a:latin typeface="Adobe Clean"/>
                <a:cs typeface="Adobe Clean"/>
              </a:rPr>
              <a:t> </a:t>
            </a:r>
            <a:r>
              <a:rPr sz="2600" b="1" spc="-35" dirty="0">
                <a:latin typeface="Adobe Clean"/>
                <a:cs typeface="Adobe Clean"/>
              </a:rPr>
              <a:t>the</a:t>
            </a:r>
            <a:r>
              <a:rPr sz="2600" b="1" spc="-100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public</a:t>
            </a:r>
            <a:endParaRPr sz="2600">
              <a:latin typeface="Adobe Clean"/>
              <a:cs typeface="Adobe Clean"/>
            </a:endParaRPr>
          </a:p>
          <a:p>
            <a:pPr marL="292735" marR="273685" indent="-280670"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40" dirty="0">
                <a:latin typeface="Adobe Clean"/>
                <a:cs typeface="Adobe Clean"/>
              </a:rPr>
              <a:t>Newsrooms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do</a:t>
            </a:r>
            <a:r>
              <a:rPr sz="2600" spc="-120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not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spc="-45" dirty="0">
                <a:latin typeface="Adobe Clean"/>
                <a:cs typeface="Adobe Clean"/>
              </a:rPr>
              <a:t>count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10">
                <a:latin typeface="Adobe Clean"/>
                <a:cs typeface="Adobe Clean"/>
              </a:rPr>
              <a:t>votes;</a:t>
            </a:r>
            <a:r>
              <a:rPr lang="en-US" sz="2600" spc="-10">
                <a:latin typeface="Adobe Clean"/>
                <a:cs typeface="Adobe Clean"/>
              </a:rPr>
              <a:t> they publish reported tallies.</a:t>
            </a:r>
            <a:endParaRPr sz="2600" spc="-25" dirty="0">
              <a:latin typeface="Adobe Clean"/>
              <a:cs typeface="Adobe Clean"/>
            </a:endParaRPr>
          </a:p>
          <a:p>
            <a:pPr marL="292735" marR="5080" indent="-280670">
              <a:spcBef>
                <a:spcPts val="365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50" dirty="0">
                <a:latin typeface="Adobe Clean"/>
                <a:cs typeface="Adobe Clean"/>
              </a:rPr>
              <a:t>Organizations</a:t>
            </a:r>
            <a:r>
              <a:rPr sz="2600" spc="-80" dirty="0">
                <a:latin typeface="Adobe Clean"/>
                <a:cs typeface="Adobe Clean"/>
              </a:rPr>
              <a:t> </a:t>
            </a:r>
            <a:r>
              <a:rPr lang="en-US" sz="2600" spc="-40">
                <a:latin typeface="Adobe Clean"/>
                <a:cs typeface="Adobe Clean"/>
              </a:rPr>
              <a:t>like</a:t>
            </a:r>
            <a:r>
              <a:rPr lang="en-US" sz="2600" spc="-75" dirty="0">
                <a:latin typeface="Adobe Clean"/>
                <a:cs typeface="Adobe Clean"/>
              </a:rPr>
              <a:t> </a:t>
            </a:r>
            <a:r>
              <a:rPr lang="en-US" sz="2600" b="1" spc="-75">
                <a:latin typeface="Adobe Clean"/>
                <a:cs typeface="Adobe Clean"/>
              </a:rPr>
              <a:t>The Associated Press</a:t>
            </a:r>
            <a:r>
              <a:rPr lang="en-US" sz="2600" spc="-75">
                <a:latin typeface="Adobe Clean"/>
                <a:cs typeface="Adobe Clean"/>
              </a:rPr>
              <a:t> aggregate local reports.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2167" y="6281909"/>
            <a:ext cx="4730115" cy="2824491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spc="-50" dirty="0">
                <a:latin typeface="Adobe Clean"/>
                <a:cs typeface="Adobe Clean"/>
              </a:rPr>
              <a:t>Decentralized</a:t>
            </a:r>
            <a:r>
              <a:rPr sz="2600" b="1" spc="-30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administration</a:t>
            </a:r>
            <a:endParaRPr sz="2600">
              <a:latin typeface="Adobe Clean"/>
              <a:cs typeface="Adobe Clean"/>
            </a:endParaRPr>
          </a:p>
          <a:p>
            <a:pPr marL="292735" marR="202565" indent="-280670"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40" dirty="0">
                <a:latin typeface="Adobe Clean"/>
                <a:cs typeface="Adobe Clean"/>
              </a:rPr>
              <a:t>Elections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are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run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dirty="0">
                <a:latin typeface="Adobe Clean"/>
                <a:cs typeface="Adobe Clean"/>
              </a:rPr>
              <a:t>by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lang="en-US" sz="2600" spc="-20">
                <a:latin typeface="Adobe Clean"/>
                <a:cs typeface="Adobe Clean"/>
              </a:rPr>
              <a:t>local </a:t>
            </a:r>
            <a:r>
              <a:rPr lang="en-US" sz="2600" spc="-40">
                <a:latin typeface="Adobe Clean"/>
                <a:cs typeface="Adobe Clean"/>
              </a:rPr>
              <a:t>jurisdictions</a:t>
            </a:r>
            <a:r>
              <a:rPr sz="2600" spc="-40" dirty="0">
                <a:latin typeface="Adobe Clean"/>
                <a:cs typeface="Adobe Clean"/>
              </a:rPr>
              <a:t>,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not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dirty="0">
                <a:latin typeface="Adobe Clean"/>
                <a:cs typeface="Adobe Clean"/>
              </a:rPr>
              <a:t>a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national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35" dirty="0">
                <a:latin typeface="Adobe Clean"/>
                <a:cs typeface="Adobe Clean"/>
              </a:rPr>
              <a:t>oﬃce.</a:t>
            </a:r>
            <a:endParaRPr sz="2600">
              <a:latin typeface="Adobe Clean"/>
              <a:cs typeface="Adobe Clean"/>
            </a:endParaRPr>
          </a:p>
          <a:p>
            <a:pPr marL="292735" marR="5080" indent="-280670">
              <a:spcBef>
                <a:spcPts val="365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55">
                <a:latin typeface="Adobe Clean"/>
                <a:cs typeface="Adobe Clean"/>
              </a:rPr>
              <a:t>Rules </a:t>
            </a:r>
            <a:r>
              <a:rPr lang="en-US" sz="2600" spc="-55">
                <a:latin typeface="Adobe Clean"/>
                <a:cs typeface="Adobe Clean"/>
              </a:rPr>
              <a:t>differ </a:t>
            </a:r>
            <a:r>
              <a:rPr sz="2600" spc="-35" dirty="0">
                <a:latin typeface="Adobe Clean"/>
                <a:cs typeface="Adobe Clean"/>
              </a:rPr>
              <a:t>across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35" dirty="0">
                <a:latin typeface="Adobe Clean"/>
                <a:cs typeface="Adobe Clean"/>
              </a:rPr>
              <a:t>states,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20" dirty="0">
                <a:latin typeface="Adobe Clean"/>
                <a:cs typeface="Adobe Clean"/>
              </a:rPr>
              <a:t>so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10">
                <a:latin typeface="Adobe Clean"/>
                <a:cs typeface="Adobe Clean"/>
              </a:rPr>
              <a:t>results</a:t>
            </a:r>
            <a:r>
              <a:rPr lang="en-US" sz="2600" spc="-10">
                <a:latin typeface="Adobe Clean"/>
                <a:cs typeface="Adobe Clean"/>
              </a:rPr>
              <a:t> arrive at different speeds.</a:t>
            </a:r>
            <a:endParaRPr lang="en-US" sz="2600" spc="-35">
              <a:latin typeface="Adobe Clean"/>
              <a:cs typeface="Adobe Cle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5525" y="2405557"/>
            <a:ext cx="4893348" cy="37571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0200" y="2405557"/>
            <a:ext cx="4893360" cy="37571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875" y="2405557"/>
            <a:ext cx="4893348" cy="3757162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02147" y="638325"/>
            <a:ext cx="8701761" cy="734817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</a:pPr>
            <a:r>
              <a:rPr lang="en-US" sz="4700" spc="-75"/>
              <a:t>The U.S. Context</a:t>
            </a:r>
            <a:endParaRPr lang="en-US" sz="4700" spc="-10">
              <a:latin typeface="Adobe Clean Black"/>
              <a:cs typeface="Adobe Clean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7929" y="9851923"/>
            <a:ext cx="2588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dobe Clean"/>
                <a:cs typeface="Adobe Clean"/>
              </a:rPr>
              <a:t>©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2026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All Rights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Reserved.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 </a:t>
            </a:r>
            <a:r>
              <a:rPr sz="900" spc="-10" dirty="0">
                <a:latin typeface="Adobe Clean"/>
                <a:cs typeface="Adobe Clean"/>
              </a:rPr>
              <a:t>Confidential.</a:t>
            </a:r>
            <a:endParaRPr sz="900">
              <a:latin typeface="Adobe Clean"/>
              <a:cs typeface="Adobe Cle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1700" y="2575698"/>
            <a:ext cx="7499350" cy="5593080"/>
          </a:xfrm>
          <a:prstGeom prst="rect">
            <a:avLst/>
          </a:prstGeom>
        </p:spPr>
        <p:txBody>
          <a:bodyPr vert="horz" wrap="square" lIns="0" tIns="1892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2550" b="1" spc="-60" dirty="0">
                <a:latin typeface="Adobe Clean"/>
                <a:cs typeface="Adobe Clean"/>
              </a:rPr>
              <a:t>Misread</a:t>
            </a:r>
            <a:r>
              <a:rPr sz="2550" b="1" spc="-85" dirty="0">
                <a:latin typeface="Adobe Clean"/>
                <a:cs typeface="Adobe Clean"/>
              </a:rPr>
              <a:t> </a:t>
            </a:r>
            <a:r>
              <a:rPr sz="2550" b="1" spc="-40" dirty="0">
                <a:latin typeface="Adobe Clean"/>
                <a:cs typeface="Adobe Clean"/>
              </a:rPr>
              <a:t>patterns</a:t>
            </a:r>
            <a:r>
              <a:rPr sz="2550" b="1" spc="-80" dirty="0">
                <a:latin typeface="Adobe Clean"/>
                <a:cs typeface="Adobe Clean"/>
              </a:rPr>
              <a:t> </a:t>
            </a:r>
            <a:r>
              <a:rPr sz="2550" b="1" spc="-30" dirty="0">
                <a:latin typeface="Adobe Clean"/>
                <a:cs typeface="Adobe Clean"/>
              </a:rPr>
              <a:t>in</a:t>
            </a:r>
            <a:r>
              <a:rPr sz="2550" b="1" spc="-85" dirty="0">
                <a:latin typeface="Adobe Clean"/>
                <a:cs typeface="Adobe Clean"/>
              </a:rPr>
              <a:t> </a:t>
            </a:r>
            <a:r>
              <a:rPr sz="2550" b="1" spc="-50" dirty="0">
                <a:latin typeface="Adobe Clean"/>
                <a:cs typeface="Adobe Clean"/>
              </a:rPr>
              <a:t>live</a:t>
            </a:r>
            <a:r>
              <a:rPr sz="2550" b="1" spc="-80" dirty="0">
                <a:latin typeface="Adobe Clean"/>
                <a:cs typeface="Adobe Clean"/>
              </a:rPr>
              <a:t> </a:t>
            </a:r>
            <a:r>
              <a:rPr sz="2550" b="1" spc="-10" dirty="0">
                <a:latin typeface="Adobe Clean"/>
                <a:cs typeface="Adobe Clean"/>
              </a:rPr>
              <a:t>counts</a:t>
            </a:r>
            <a:endParaRPr sz="2550">
              <a:latin typeface="Adobe Clean"/>
              <a:cs typeface="Adobe Clean"/>
            </a:endParaRPr>
          </a:p>
          <a:p>
            <a:pPr marL="290195" indent="-277495">
              <a:lnSpc>
                <a:spcPct val="100000"/>
              </a:lnSpc>
              <a:spcBef>
                <a:spcPts val="1430"/>
              </a:spcBef>
              <a:buFont typeface="Times New Roman"/>
              <a:buChar char="•"/>
              <a:tabLst>
                <a:tab pos="290195" algn="l"/>
              </a:tabLst>
            </a:pPr>
            <a:r>
              <a:rPr sz="2550" spc="-10" dirty="0">
                <a:latin typeface="Adobe Clean"/>
                <a:cs typeface="Adobe Clean"/>
              </a:rPr>
              <a:t>In</a:t>
            </a:r>
            <a:r>
              <a:rPr sz="2550" spc="-125" dirty="0">
                <a:latin typeface="Adobe Clean"/>
                <a:cs typeface="Adobe Clean"/>
              </a:rPr>
              <a:t> </a:t>
            </a:r>
            <a:r>
              <a:rPr sz="2550" spc="-60" dirty="0">
                <a:latin typeface="Adobe Clean"/>
                <a:cs typeface="Adobe Clean"/>
              </a:rPr>
              <a:t>2020,</a:t>
            </a:r>
            <a:r>
              <a:rPr sz="2550" spc="-100" dirty="0">
                <a:latin typeface="Adobe Clean"/>
                <a:cs typeface="Adobe Clean"/>
              </a:rPr>
              <a:t> </a:t>
            </a:r>
            <a:r>
              <a:rPr sz="2550" spc="-40" dirty="0">
                <a:latin typeface="Adobe Clean"/>
                <a:cs typeface="Adobe Clean"/>
              </a:rPr>
              <a:t>late</a:t>
            </a:r>
            <a:r>
              <a:rPr sz="2550" spc="-110" dirty="0">
                <a:latin typeface="Adobe Clean"/>
                <a:cs typeface="Adobe Clean"/>
              </a:rPr>
              <a:t> </a:t>
            </a:r>
            <a:r>
              <a:rPr sz="2550" spc="-10" dirty="0">
                <a:latin typeface="Adobe Clean"/>
                <a:cs typeface="Adobe Clean"/>
              </a:rPr>
              <a:t>shifts</a:t>
            </a:r>
            <a:r>
              <a:rPr sz="2550" spc="-105" dirty="0">
                <a:latin typeface="Adobe Clean"/>
                <a:cs typeface="Adobe Clean"/>
              </a:rPr>
              <a:t> </a:t>
            </a:r>
            <a:r>
              <a:rPr sz="2550" dirty="0">
                <a:latin typeface="Adobe Clean"/>
                <a:cs typeface="Adobe Clean"/>
              </a:rPr>
              <a:t>in</a:t>
            </a:r>
            <a:r>
              <a:rPr sz="2550" spc="-110" dirty="0">
                <a:latin typeface="Adobe Clean"/>
                <a:cs typeface="Adobe Clean"/>
              </a:rPr>
              <a:t> </a:t>
            </a:r>
            <a:r>
              <a:rPr sz="2550" spc="-40" dirty="0">
                <a:latin typeface="Adobe Clean"/>
                <a:cs typeface="Adobe Clean"/>
              </a:rPr>
              <a:t>some</a:t>
            </a:r>
            <a:r>
              <a:rPr sz="2550" spc="-110" dirty="0">
                <a:latin typeface="Adobe Clean"/>
                <a:cs typeface="Adobe Clean"/>
              </a:rPr>
              <a:t> </a:t>
            </a:r>
            <a:r>
              <a:rPr sz="2550" spc="-25" dirty="0">
                <a:latin typeface="Adobe Clean"/>
                <a:cs typeface="Adobe Clean"/>
              </a:rPr>
              <a:t>states</a:t>
            </a:r>
            <a:r>
              <a:rPr sz="2550" spc="-110" dirty="0">
                <a:latin typeface="Adobe Clean"/>
                <a:cs typeface="Adobe Clean"/>
              </a:rPr>
              <a:t> </a:t>
            </a:r>
            <a:r>
              <a:rPr sz="2550" spc="-20" dirty="0">
                <a:latin typeface="Adobe Clean"/>
                <a:cs typeface="Adobe Clean"/>
              </a:rPr>
              <a:t>were</a:t>
            </a:r>
            <a:r>
              <a:rPr sz="2550" spc="-105" dirty="0">
                <a:latin typeface="Adobe Clean"/>
                <a:cs typeface="Adobe Clean"/>
              </a:rPr>
              <a:t> </a:t>
            </a:r>
            <a:r>
              <a:rPr sz="2550" spc="-25" dirty="0">
                <a:latin typeface="Adobe Clean"/>
                <a:cs typeface="Adobe Clean"/>
              </a:rPr>
              <a:t>cited</a:t>
            </a:r>
            <a:r>
              <a:rPr sz="2550" spc="-110" dirty="0">
                <a:latin typeface="Adobe Clean"/>
                <a:cs typeface="Adobe Clean"/>
              </a:rPr>
              <a:t> </a:t>
            </a:r>
            <a:r>
              <a:rPr sz="2550" spc="-10" dirty="0">
                <a:latin typeface="Adobe Clean"/>
                <a:cs typeface="Adobe Clean"/>
              </a:rPr>
              <a:t>as</a:t>
            </a:r>
            <a:r>
              <a:rPr sz="2550" spc="-110" dirty="0">
                <a:latin typeface="Adobe Clean"/>
                <a:cs typeface="Adobe Clean"/>
              </a:rPr>
              <a:t> </a:t>
            </a:r>
            <a:r>
              <a:rPr sz="2550" spc="-10" dirty="0">
                <a:latin typeface="Adobe Clean"/>
                <a:cs typeface="Adobe Clean"/>
              </a:rPr>
              <a:t>“fraud.”</a:t>
            </a:r>
            <a:endParaRPr sz="2550">
              <a:latin typeface="Adobe Clean"/>
              <a:cs typeface="Adobe Clean"/>
            </a:endParaRPr>
          </a:p>
          <a:p>
            <a:pPr marL="290195" marR="5080" indent="-278130">
              <a:lnSpc>
                <a:spcPct val="101000"/>
              </a:lnSpc>
              <a:spcBef>
                <a:spcPts val="350"/>
              </a:spcBef>
              <a:buFont typeface="Times New Roman"/>
              <a:buChar char="•"/>
              <a:tabLst>
                <a:tab pos="290195" algn="l"/>
              </a:tabLst>
            </a:pPr>
            <a:r>
              <a:rPr sz="2550" spc="-35" dirty="0">
                <a:latin typeface="Adobe Clean"/>
                <a:cs typeface="Adobe Clean"/>
              </a:rPr>
              <a:t>But</a:t>
            </a:r>
            <a:r>
              <a:rPr sz="2550" spc="-100" dirty="0">
                <a:latin typeface="Adobe Clean"/>
                <a:cs typeface="Adobe Clean"/>
              </a:rPr>
              <a:t> </a:t>
            </a:r>
            <a:r>
              <a:rPr sz="2550" spc="-30" dirty="0">
                <a:latin typeface="Adobe Clean"/>
                <a:cs typeface="Adobe Clean"/>
              </a:rPr>
              <a:t>reporting</a:t>
            </a:r>
            <a:r>
              <a:rPr sz="2550" spc="-95" dirty="0">
                <a:latin typeface="Adobe Clean"/>
                <a:cs typeface="Adobe Clean"/>
              </a:rPr>
              <a:t> </a:t>
            </a:r>
            <a:r>
              <a:rPr sz="2550" spc="-35" dirty="0">
                <a:latin typeface="Adobe Clean"/>
                <a:cs typeface="Adobe Clean"/>
              </a:rPr>
              <a:t>delays</a:t>
            </a:r>
            <a:r>
              <a:rPr sz="2550" spc="-95" dirty="0">
                <a:latin typeface="Adobe Clean"/>
                <a:cs typeface="Adobe Clean"/>
              </a:rPr>
              <a:t> </a:t>
            </a:r>
            <a:r>
              <a:rPr sz="2550" spc="-40" dirty="0">
                <a:latin typeface="Adobe Clean"/>
                <a:cs typeface="Adobe Clean"/>
              </a:rPr>
              <a:t>and</a:t>
            </a:r>
            <a:r>
              <a:rPr sz="2550" spc="-95" dirty="0">
                <a:latin typeface="Adobe Clean"/>
                <a:cs typeface="Adobe Clean"/>
              </a:rPr>
              <a:t> </a:t>
            </a:r>
            <a:r>
              <a:rPr sz="2550" spc="-35" dirty="0">
                <a:latin typeface="Adobe Clean"/>
                <a:cs typeface="Adobe Clean"/>
              </a:rPr>
              <a:t>ballot</a:t>
            </a:r>
            <a:r>
              <a:rPr sz="2550" spc="-100" dirty="0">
                <a:latin typeface="Adobe Clean"/>
                <a:cs typeface="Adobe Clean"/>
              </a:rPr>
              <a:t> </a:t>
            </a:r>
            <a:r>
              <a:rPr sz="2550" spc="-40" dirty="0">
                <a:latin typeface="Adobe Clean"/>
                <a:cs typeface="Adobe Clean"/>
              </a:rPr>
              <a:t>processing</a:t>
            </a:r>
            <a:r>
              <a:rPr sz="2550" spc="-95" dirty="0">
                <a:latin typeface="Adobe Clean"/>
                <a:cs typeface="Adobe Clean"/>
              </a:rPr>
              <a:t> </a:t>
            </a:r>
            <a:r>
              <a:rPr sz="2550" spc="-20" dirty="0">
                <a:latin typeface="Adobe Clean"/>
                <a:cs typeface="Adobe Clean"/>
              </a:rPr>
              <a:t>can</a:t>
            </a:r>
            <a:r>
              <a:rPr sz="2550" spc="-95" dirty="0">
                <a:latin typeface="Adobe Clean"/>
                <a:cs typeface="Adobe Clean"/>
              </a:rPr>
              <a:t> </a:t>
            </a:r>
            <a:r>
              <a:rPr sz="2550" spc="-40" dirty="0">
                <a:latin typeface="Adobe Clean"/>
                <a:cs typeface="Adobe Clean"/>
              </a:rPr>
              <a:t>create</a:t>
            </a:r>
            <a:r>
              <a:rPr sz="2550" spc="-95" dirty="0">
                <a:latin typeface="Adobe Clean"/>
                <a:cs typeface="Adobe Clean"/>
              </a:rPr>
              <a:t> </a:t>
            </a:r>
            <a:r>
              <a:rPr sz="2550" spc="-20" dirty="0">
                <a:latin typeface="Adobe Clean"/>
                <a:cs typeface="Adobe Clean"/>
              </a:rPr>
              <a:t>real </a:t>
            </a:r>
            <a:r>
              <a:rPr sz="2550" spc="-10" dirty="0">
                <a:latin typeface="Adobe Clean"/>
                <a:cs typeface="Adobe Clean"/>
              </a:rPr>
              <a:t>swings.</a:t>
            </a:r>
            <a:endParaRPr sz="2550">
              <a:latin typeface="Adobe Clean"/>
              <a:cs typeface="Adobe Clean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550" b="1" spc="-40" dirty="0">
                <a:latin typeface="Adobe Clean"/>
                <a:cs typeface="Adobe Clean"/>
              </a:rPr>
              <a:t>Partial</a:t>
            </a:r>
            <a:r>
              <a:rPr sz="2550" b="1" spc="-95" dirty="0">
                <a:latin typeface="Adobe Clean"/>
                <a:cs typeface="Adobe Clean"/>
              </a:rPr>
              <a:t> </a:t>
            </a:r>
            <a:r>
              <a:rPr sz="2550" b="1" spc="-45" dirty="0">
                <a:latin typeface="Adobe Clean"/>
                <a:cs typeface="Adobe Clean"/>
              </a:rPr>
              <a:t>data</a:t>
            </a:r>
            <a:r>
              <a:rPr sz="2550" b="1" spc="-90" dirty="0">
                <a:latin typeface="Adobe Clean"/>
                <a:cs typeface="Adobe Clean"/>
              </a:rPr>
              <a:t> </a:t>
            </a:r>
            <a:r>
              <a:rPr sz="2550" b="1" spc="-30" dirty="0">
                <a:latin typeface="Adobe Clean"/>
                <a:cs typeface="Adobe Clean"/>
              </a:rPr>
              <a:t>feels</a:t>
            </a:r>
            <a:r>
              <a:rPr sz="2550" b="1" spc="-95" dirty="0">
                <a:latin typeface="Adobe Clean"/>
                <a:cs typeface="Adobe Clean"/>
              </a:rPr>
              <a:t> </a:t>
            </a:r>
            <a:r>
              <a:rPr sz="2550" b="1" spc="-10" dirty="0">
                <a:latin typeface="Adobe Clean"/>
                <a:cs typeface="Adobe Clean"/>
              </a:rPr>
              <a:t>final</a:t>
            </a:r>
            <a:endParaRPr sz="2550">
              <a:latin typeface="Adobe Clean"/>
              <a:cs typeface="Adobe Clean"/>
            </a:endParaRPr>
          </a:p>
          <a:p>
            <a:pPr marL="290195" indent="-277495">
              <a:lnSpc>
                <a:spcPct val="100000"/>
              </a:lnSpc>
              <a:spcBef>
                <a:spcPts val="1430"/>
              </a:spcBef>
              <a:buFont typeface="Times New Roman"/>
              <a:buChar char="•"/>
              <a:tabLst>
                <a:tab pos="290195" algn="l"/>
              </a:tabLst>
            </a:pPr>
            <a:r>
              <a:rPr sz="2550" spc="-30" dirty="0">
                <a:latin typeface="Adobe Clean"/>
                <a:cs typeface="Adobe Clean"/>
              </a:rPr>
              <a:t>Viewers</a:t>
            </a:r>
            <a:r>
              <a:rPr sz="2550" spc="-110" dirty="0">
                <a:latin typeface="Adobe Clean"/>
                <a:cs typeface="Adobe Clean"/>
              </a:rPr>
              <a:t> </a:t>
            </a:r>
            <a:r>
              <a:rPr sz="2550" spc="-25" dirty="0">
                <a:latin typeface="Adobe Clean"/>
                <a:cs typeface="Adobe Clean"/>
              </a:rPr>
              <a:t>often</a:t>
            </a:r>
            <a:r>
              <a:rPr sz="2550" spc="-110" dirty="0">
                <a:latin typeface="Adobe Clean"/>
                <a:cs typeface="Adobe Clean"/>
              </a:rPr>
              <a:t> </a:t>
            </a:r>
            <a:r>
              <a:rPr sz="2550" spc="-35" dirty="0">
                <a:latin typeface="Adobe Clean"/>
                <a:cs typeface="Adobe Clean"/>
              </a:rPr>
              <a:t>treat</a:t>
            </a:r>
            <a:r>
              <a:rPr sz="2550" spc="-110" dirty="0">
                <a:latin typeface="Adobe Clean"/>
                <a:cs typeface="Adobe Clean"/>
              </a:rPr>
              <a:t> </a:t>
            </a:r>
            <a:r>
              <a:rPr sz="2550" spc="-30" dirty="0">
                <a:latin typeface="Adobe Clean"/>
                <a:cs typeface="Adobe Clean"/>
              </a:rPr>
              <a:t>early</a:t>
            </a:r>
            <a:r>
              <a:rPr sz="2550" spc="-105" dirty="0">
                <a:latin typeface="Adobe Clean"/>
                <a:cs typeface="Adobe Clean"/>
              </a:rPr>
              <a:t> </a:t>
            </a:r>
            <a:r>
              <a:rPr sz="2550" spc="-30" dirty="0">
                <a:latin typeface="Adobe Clean"/>
                <a:cs typeface="Adobe Clean"/>
              </a:rPr>
              <a:t>totals</a:t>
            </a:r>
            <a:r>
              <a:rPr sz="2550" spc="-110" dirty="0">
                <a:latin typeface="Adobe Clean"/>
                <a:cs typeface="Adobe Clean"/>
              </a:rPr>
              <a:t> </a:t>
            </a:r>
            <a:r>
              <a:rPr sz="2550" spc="-10" dirty="0">
                <a:latin typeface="Adobe Clean"/>
                <a:cs typeface="Adobe Clean"/>
              </a:rPr>
              <a:t>as</a:t>
            </a:r>
            <a:r>
              <a:rPr sz="2550" spc="-110" dirty="0">
                <a:latin typeface="Adobe Clean"/>
                <a:cs typeface="Adobe Clean"/>
              </a:rPr>
              <a:t> </a:t>
            </a:r>
            <a:r>
              <a:rPr sz="2550" spc="-25" dirty="0">
                <a:latin typeface="Adobe Clean"/>
                <a:cs typeface="Adobe Clean"/>
              </a:rPr>
              <a:t>stable</a:t>
            </a:r>
            <a:r>
              <a:rPr sz="2550" spc="-105" dirty="0">
                <a:latin typeface="Adobe Clean"/>
                <a:cs typeface="Adobe Clean"/>
              </a:rPr>
              <a:t> </a:t>
            </a:r>
            <a:r>
              <a:rPr sz="2550" spc="-10" dirty="0">
                <a:latin typeface="Adobe Clean"/>
                <a:cs typeface="Adobe Clean"/>
              </a:rPr>
              <a:t>trends.</a:t>
            </a:r>
            <a:endParaRPr sz="2550">
              <a:latin typeface="Adobe Clean"/>
              <a:cs typeface="Adobe Clean"/>
            </a:endParaRPr>
          </a:p>
          <a:p>
            <a:pPr marL="290195" marR="520700" indent="-278130">
              <a:lnSpc>
                <a:spcPct val="101000"/>
              </a:lnSpc>
              <a:spcBef>
                <a:spcPts val="350"/>
              </a:spcBef>
              <a:buFont typeface="Times New Roman"/>
              <a:buChar char="•"/>
              <a:tabLst>
                <a:tab pos="290195" algn="l"/>
              </a:tabLst>
            </a:pPr>
            <a:r>
              <a:rPr lang="en-US" sz="2550" spc="-50">
                <a:latin typeface="Adobe Clean"/>
                <a:cs typeface="Adobe Clean"/>
              </a:rPr>
              <a:t>That encourages</a:t>
            </a:r>
            <a:r>
              <a:rPr sz="2550" spc="-65" dirty="0">
                <a:latin typeface="Adobe Clean"/>
                <a:cs typeface="Adobe Clean"/>
              </a:rPr>
              <a:t> </a:t>
            </a:r>
            <a:r>
              <a:rPr sz="2550" spc="-40" dirty="0">
                <a:latin typeface="Adobe Clean"/>
                <a:cs typeface="Adobe Clean"/>
              </a:rPr>
              <a:t>overconfidence</a:t>
            </a:r>
            <a:r>
              <a:rPr sz="2550" spc="-70" dirty="0">
                <a:latin typeface="Adobe Clean"/>
                <a:cs typeface="Adobe Clean"/>
              </a:rPr>
              <a:t> </a:t>
            </a:r>
            <a:r>
              <a:rPr sz="2550" spc="-40" dirty="0">
                <a:latin typeface="Adobe Clean"/>
                <a:cs typeface="Adobe Clean"/>
              </a:rPr>
              <a:t>and</a:t>
            </a:r>
            <a:r>
              <a:rPr sz="2550" spc="-65" dirty="0">
                <a:latin typeface="Adobe Clean"/>
                <a:cs typeface="Adobe Clean"/>
              </a:rPr>
              <a:t> </a:t>
            </a:r>
            <a:r>
              <a:rPr sz="2550" spc="-45" dirty="0">
                <a:latin typeface="Adobe Clean"/>
                <a:cs typeface="Adobe Clean"/>
              </a:rPr>
              <a:t>suspicion</a:t>
            </a:r>
            <a:r>
              <a:rPr sz="2550" spc="-70" dirty="0">
                <a:latin typeface="Adobe Clean"/>
                <a:cs typeface="Adobe Clean"/>
              </a:rPr>
              <a:t> </a:t>
            </a:r>
            <a:r>
              <a:rPr sz="2550" spc="-20" dirty="0">
                <a:latin typeface="Adobe Clean"/>
                <a:cs typeface="Adobe Clean"/>
              </a:rPr>
              <a:t>when </a:t>
            </a:r>
            <a:r>
              <a:rPr sz="2550" spc="-30" dirty="0">
                <a:latin typeface="Adobe Clean"/>
                <a:cs typeface="Adobe Clean"/>
              </a:rPr>
              <a:t>numbers</a:t>
            </a:r>
            <a:r>
              <a:rPr sz="2550" spc="-114" dirty="0">
                <a:latin typeface="Adobe Clean"/>
                <a:cs typeface="Adobe Clean"/>
              </a:rPr>
              <a:t> </a:t>
            </a:r>
            <a:r>
              <a:rPr sz="2550" spc="-10" dirty="0">
                <a:latin typeface="Adobe Clean"/>
                <a:cs typeface="Adobe Clean"/>
              </a:rPr>
              <a:t>change.</a:t>
            </a:r>
            <a:endParaRPr sz="2550">
              <a:latin typeface="Adobe Clean"/>
              <a:cs typeface="Adobe Clean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550" b="1" spc="-50" dirty="0">
                <a:latin typeface="Adobe Clean"/>
                <a:cs typeface="Adobe Clean"/>
              </a:rPr>
              <a:t>Design</a:t>
            </a:r>
            <a:r>
              <a:rPr sz="2550" b="1" spc="-100" dirty="0">
                <a:latin typeface="Adobe Clean"/>
                <a:cs typeface="Adobe Clean"/>
              </a:rPr>
              <a:t> </a:t>
            </a:r>
            <a:r>
              <a:rPr sz="2550" b="1" spc="-10" dirty="0">
                <a:latin typeface="Adobe Clean"/>
                <a:cs typeface="Adobe Clean"/>
              </a:rPr>
              <a:t>question</a:t>
            </a:r>
            <a:endParaRPr sz="2550">
              <a:latin typeface="Adobe Clean"/>
              <a:cs typeface="Adobe Clean"/>
            </a:endParaRPr>
          </a:p>
          <a:p>
            <a:pPr marL="290195" marR="100965" indent="-278130">
              <a:lnSpc>
                <a:spcPct val="101000"/>
              </a:lnSpc>
              <a:spcBef>
                <a:spcPts val="1400"/>
              </a:spcBef>
              <a:buFont typeface="Times New Roman"/>
              <a:buChar char="•"/>
              <a:tabLst>
                <a:tab pos="290195" algn="l"/>
              </a:tabLst>
            </a:pPr>
            <a:r>
              <a:rPr sz="2550" spc="-20" dirty="0">
                <a:latin typeface="Adobe Clean"/>
                <a:cs typeface="Adobe Clean"/>
              </a:rPr>
              <a:t>Can</a:t>
            </a:r>
            <a:r>
              <a:rPr sz="2550" spc="-105" dirty="0">
                <a:latin typeface="Adobe Clean"/>
                <a:cs typeface="Adobe Clean"/>
              </a:rPr>
              <a:t> </a:t>
            </a:r>
            <a:r>
              <a:rPr sz="2550" spc="-40" dirty="0">
                <a:latin typeface="Adobe Clean"/>
                <a:cs typeface="Adobe Clean"/>
              </a:rPr>
              <a:t>dashboards</a:t>
            </a:r>
            <a:r>
              <a:rPr sz="2550" spc="-105" dirty="0">
                <a:latin typeface="Adobe Clean"/>
                <a:cs typeface="Adobe Clean"/>
              </a:rPr>
              <a:t> </a:t>
            </a:r>
            <a:r>
              <a:rPr sz="2550" dirty="0">
                <a:latin typeface="Adobe Clean"/>
                <a:cs typeface="Adobe Clean"/>
              </a:rPr>
              <a:t>set</a:t>
            </a:r>
            <a:r>
              <a:rPr sz="2550" spc="-105" dirty="0">
                <a:latin typeface="Adobe Clean"/>
                <a:cs typeface="Adobe Clean"/>
              </a:rPr>
              <a:t> </a:t>
            </a:r>
            <a:r>
              <a:rPr sz="2550" b="1" spc="-20" dirty="0">
                <a:latin typeface="Adobe Clean"/>
                <a:cs typeface="Adobe Clean"/>
              </a:rPr>
              <a:t>better</a:t>
            </a:r>
            <a:r>
              <a:rPr sz="2550" b="1" spc="-105" dirty="0">
                <a:latin typeface="Adobe Clean"/>
                <a:cs typeface="Adobe Clean"/>
              </a:rPr>
              <a:t> </a:t>
            </a:r>
            <a:r>
              <a:rPr sz="2550" b="1" spc="-30" dirty="0">
                <a:latin typeface="Adobe Clean"/>
                <a:cs typeface="Adobe Clean"/>
              </a:rPr>
              <a:t>expectations</a:t>
            </a:r>
            <a:r>
              <a:rPr sz="2550" b="1" spc="-100" dirty="0">
                <a:latin typeface="Adobe Clean"/>
                <a:cs typeface="Adobe Clean"/>
              </a:rPr>
              <a:t> </a:t>
            </a:r>
            <a:r>
              <a:rPr sz="2550" spc="-10" dirty="0">
                <a:latin typeface="Adobe Clean"/>
                <a:cs typeface="Adobe Clean"/>
              </a:rPr>
              <a:t>as</a:t>
            </a:r>
            <a:r>
              <a:rPr sz="2550" spc="-105" dirty="0">
                <a:latin typeface="Adobe Clean"/>
                <a:cs typeface="Adobe Clean"/>
              </a:rPr>
              <a:t> </a:t>
            </a:r>
            <a:r>
              <a:rPr sz="2550" spc="-25" dirty="0">
                <a:latin typeface="Adobe Clean"/>
                <a:cs typeface="Adobe Clean"/>
              </a:rPr>
              <a:t>results</a:t>
            </a:r>
            <a:r>
              <a:rPr sz="2550" spc="-105" dirty="0">
                <a:latin typeface="Adobe Clean"/>
                <a:cs typeface="Adobe Clean"/>
              </a:rPr>
              <a:t> </a:t>
            </a:r>
            <a:r>
              <a:rPr sz="2550" spc="-10" dirty="0">
                <a:latin typeface="Adobe Clean"/>
                <a:cs typeface="Adobe Clean"/>
              </a:rPr>
              <a:t>arrive </a:t>
            </a:r>
            <a:r>
              <a:rPr sz="2550" spc="-20" dirty="0">
                <a:latin typeface="Adobe Clean"/>
                <a:cs typeface="Adobe Clean"/>
              </a:rPr>
              <a:t>over</a:t>
            </a:r>
            <a:r>
              <a:rPr sz="2550" spc="-120" dirty="0">
                <a:latin typeface="Adobe Clean"/>
                <a:cs typeface="Adobe Clean"/>
              </a:rPr>
              <a:t> </a:t>
            </a:r>
            <a:r>
              <a:rPr sz="2550" spc="-10" dirty="0">
                <a:latin typeface="Adobe Clean"/>
                <a:cs typeface="Adobe Clean"/>
              </a:rPr>
              <a:t>time?</a:t>
            </a:r>
            <a:endParaRPr sz="2550">
              <a:latin typeface="Adobe Clean"/>
              <a:cs typeface="Adobe Clean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02127" y="638325"/>
            <a:ext cx="5524000" cy="1461297"/>
          </a:xfrm>
          <a:prstGeom prst="rect">
            <a:avLst/>
          </a:prstGeom>
        </p:spPr>
        <p:txBody>
          <a:bodyPr vert="horz" wrap="square" lIns="0" tIns="24765" rIns="0" bIns="0" rtlCol="0" anchor="t">
            <a:spAutoFit/>
          </a:bodyPr>
          <a:lstStyle/>
          <a:p>
            <a:pPr marL="12700" marR="5080">
              <a:lnSpc>
                <a:spcPts val="5630"/>
              </a:lnSpc>
              <a:spcBef>
                <a:spcPts val="195"/>
              </a:spcBef>
            </a:pPr>
            <a:r>
              <a:rPr sz="4700" spc="-105" dirty="0">
                <a:latin typeface="Adobe Clean Black"/>
                <a:cs typeface="Adobe Clean Black"/>
              </a:rPr>
              <a:t>What</a:t>
            </a:r>
            <a:r>
              <a:rPr sz="4700" spc="-150" dirty="0">
                <a:latin typeface="Adobe Clean Black"/>
                <a:cs typeface="Adobe Clean Black"/>
              </a:rPr>
              <a:t> </a:t>
            </a:r>
            <a:r>
              <a:rPr sz="4700" spc="-110">
                <a:latin typeface="Adobe Clean Black"/>
                <a:cs typeface="Adobe Clean Black"/>
              </a:rPr>
              <a:t>Problem</a:t>
            </a:r>
            <a:r>
              <a:rPr lang="en-US" sz="4700" spc="-110"/>
              <a:t> They Addressed</a:t>
            </a:r>
            <a:endParaRPr lang="en-US" sz="4700" spc="-775">
              <a:latin typeface="Adobe Clean Black"/>
              <a:cs typeface="Adobe Clean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1700" y="4378993"/>
            <a:ext cx="13421767" cy="1277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200" spc="-105" dirty="0">
                <a:latin typeface="Adobe Clean Black"/>
                <a:cs typeface="Adobe Clean Black"/>
              </a:rPr>
              <a:t>Design</a:t>
            </a:r>
            <a:r>
              <a:rPr sz="8200" spc="-345" dirty="0">
                <a:latin typeface="Adobe Clean Black"/>
                <a:cs typeface="Adobe Clean Black"/>
              </a:rPr>
              <a:t> </a:t>
            </a:r>
            <a:r>
              <a:rPr sz="8200" spc="-100" dirty="0">
                <a:latin typeface="Adobe Clean Black"/>
                <a:cs typeface="Adobe Clean Black"/>
              </a:rPr>
              <a:t>and</a:t>
            </a:r>
            <a:r>
              <a:rPr sz="8200" spc="-345" dirty="0">
                <a:latin typeface="Adobe Clean Black"/>
                <a:cs typeface="Adobe Clean Black"/>
              </a:rPr>
              <a:t> </a:t>
            </a:r>
            <a:r>
              <a:rPr sz="8200" spc="-114" dirty="0">
                <a:latin typeface="Adobe Clean Black"/>
                <a:cs typeface="Adobe Clean Black"/>
              </a:rPr>
              <a:t>Study</a:t>
            </a:r>
            <a:r>
              <a:rPr sz="8200" spc="-340" dirty="0">
                <a:latin typeface="Adobe Clean Black"/>
                <a:cs typeface="Adobe Clean Black"/>
              </a:rPr>
              <a:t> </a:t>
            </a:r>
            <a:r>
              <a:rPr sz="8200" spc="-90" dirty="0">
                <a:latin typeface="Adobe Clean Black"/>
                <a:cs typeface="Adobe Clean Black"/>
              </a:rPr>
              <a:t>Execution</a:t>
            </a:r>
            <a:endParaRPr sz="8200">
              <a:latin typeface="Adobe Clean Black"/>
              <a:cs typeface="Adobe Clean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15265" cy="10287000"/>
          </a:xfrm>
          <a:custGeom>
            <a:avLst/>
            <a:gdLst/>
            <a:ahLst/>
            <a:cxnLst/>
            <a:rect l="l" t="t" r="r" b="b"/>
            <a:pathLst>
              <a:path w="215265" h="10287000">
                <a:moveTo>
                  <a:pt x="215061" y="0"/>
                </a:moveTo>
                <a:lnTo>
                  <a:pt x="0" y="0"/>
                </a:lnTo>
                <a:lnTo>
                  <a:pt x="0" y="10287000"/>
                </a:lnTo>
                <a:lnTo>
                  <a:pt x="215061" y="10287000"/>
                </a:lnTo>
                <a:lnTo>
                  <a:pt x="215061" y="0"/>
                </a:lnTo>
                <a:close/>
              </a:path>
            </a:pathLst>
          </a:custGeom>
          <a:solidFill>
            <a:srgbClr val="EB1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</a:pPr>
            <a:r>
              <a:rPr lang="en-US" sz="4700" spc="-85">
                <a:latin typeface="Adobe Clean Black"/>
                <a:cs typeface="Adobe Clean Black"/>
              </a:rPr>
              <a:t>The </a:t>
            </a:r>
            <a:r>
              <a:rPr lang="en-US" sz="4700" spc="-85"/>
              <a:t>Design</a:t>
            </a:r>
            <a:r>
              <a:rPr sz="4700" spc="-175" dirty="0">
                <a:latin typeface="Adobe Clean Black"/>
                <a:cs typeface="Adobe Clean Black"/>
              </a:rPr>
              <a:t> </a:t>
            </a:r>
            <a:r>
              <a:rPr sz="4700" spc="-30" dirty="0">
                <a:latin typeface="Adobe Clean Black"/>
                <a:cs typeface="Adobe Clean Black"/>
              </a:rPr>
              <a:t>Strategy</a:t>
            </a:r>
            <a:endParaRPr sz="4700">
              <a:latin typeface="Adobe Clean Black"/>
              <a:cs typeface="Adobe Clean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780257"/>
            <a:ext cx="898461" cy="2158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772233" y="9851923"/>
            <a:ext cx="2588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dobe Clean"/>
                <a:cs typeface="Adobe Clean"/>
              </a:rPr>
              <a:t>©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2026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All Rights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Reserved.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 </a:t>
            </a:r>
            <a:r>
              <a:rPr sz="900" spc="-10" dirty="0">
                <a:latin typeface="Adobe Clean"/>
                <a:cs typeface="Adobe Clean"/>
              </a:rPr>
              <a:t>Confidential.</a:t>
            </a:r>
            <a:endParaRPr sz="900">
              <a:latin typeface="Adobe Clean"/>
              <a:cs typeface="Adobe Cle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3457" y="2469618"/>
            <a:ext cx="8181975" cy="5632952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b="1" spc="-10" dirty="0">
                <a:latin typeface="Adobe Clean"/>
                <a:cs typeface="Adobe Clean"/>
              </a:rPr>
              <a:t>Teach</a:t>
            </a:r>
            <a:r>
              <a:rPr sz="2250" b="1" spc="35" dirty="0">
                <a:latin typeface="Adobe Clean"/>
                <a:cs typeface="Adobe Clean"/>
              </a:rPr>
              <a:t> </a:t>
            </a:r>
            <a:r>
              <a:rPr sz="2250" b="1" dirty="0">
                <a:latin typeface="Adobe Clean"/>
                <a:cs typeface="Adobe Clean"/>
              </a:rPr>
              <a:t>the</a:t>
            </a:r>
            <a:r>
              <a:rPr sz="2250" b="1" spc="40" dirty="0">
                <a:latin typeface="Adobe Clean"/>
                <a:cs typeface="Adobe Clean"/>
              </a:rPr>
              <a:t> </a:t>
            </a:r>
            <a:r>
              <a:rPr sz="2250" b="1" dirty="0">
                <a:latin typeface="Adobe Clean"/>
                <a:cs typeface="Adobe Clean"/>
              </a:rPr>
              <a:t>process,</a:t>
            </a:r>
            <a:r>
              <a:rPr sz="2250" b="1" spc="45" dirty="0">
                <a:latin typeface="Adobe Clean"/>
                <a:cs typeface="Adobe Clean"/>
              </a:rPr>
              <a:t> </a:t>
            </a:r>
            <a:r>
              <a:rPr sz="2250" b="1" dirty="0">
                <a:latin typeface="Adobe Clean"/>
                <a:cs typeface="Adobe Clean"/>
              </a:rPr>
              <a:t>not</a:t>
            </a:r>
            <a:r>
              <a:rPr sz="2250" b="1" spc="40" dirty="0">
                <a:latin typeface="Adobe Clean"/>
                <a:cs typeface="Adobe Clean"/>
              </a:rPr>
              <a:t> </a:t>
            </a:r>
            <a:r>
              <a:rPr sz="2250" b="1" dirty="0">
                <a:latin typeface="Adobe Clean"/>
                <a:cs typeface="Adobe Clean"/>
              </a:rPr>
              <a:t>the</a:t>
            </a:r>
            <a:r>
              <a:rPr sz="2250" b="1" spc="45" dirty="0">
                <a:latin typeface="Adobe Clean"/>
                <a:cs typeface="Adobe Clean"/>
              </a:rPr>
              <a:t> </a:t>
            </a:r>
            <a:r>
              <a:rPr sz="2250" b="1" spc="-20" dirty="0">
                <a:latin typeface="Adobe Clean"/>
                <a:cs typeface="Adobe Clean"/>
              </a:rPr>
              <a:t>race</a:t>
            </a:r>
            <a:endParaRPr sz="2250">
              <a:latin typeface="Adobe Clean"/>
              <a:cs typeface="Adobe Clean"/>
            </a:endParaRPr>
          </a:p>
          <a:p>
            <a:pPr marL="257810" indent="-245110">
              <a:spcBef>
                <a:spcPts val="2130"/>
              </a:spcBef>
              <a:buFont typeface="Times New Roman"/>
              <a:buChar char="•"/>
              <a:tabLst>
                <a:tab pos="257810" algn="l"/>
              </a:tabLst>
            </a:pPr>
            <a:r>
              <a:rPr lang="en-US" sz="2250">
                <a:latin typeface="Adobe Clean"/>
                <a:cs typeface="Adobe Clean"/>
              </a:rPr>
              <a:t>The dashboard</a:t>
            </a:r>
            <a:r>
              <a:rPr sz="2250" spc="7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focused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on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how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counts</a:t>
            </a:r>
            <a:r>
              <a:rPr sz="2250" spc="7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evolve,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not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only</a:t>
            </a:r>
            <a:r>
              <a:rPr sz="2250" spc="7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who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spc="-10" dirty="0">
                <a:latin typeface="Adobe Clean"/>
                <a:cs typeface="Adobe Clean"/>
              </a:rPr>
              <a:t>leads.</a:t>
            </a:r>
            <a:endParaRPr sz="2250">
              <a:latin typeface="Adobe Clean"/>
              <a:cs typeface="Adobe Clean"/>
            </a:endParaRPr>
          </a:p>
          <a:p>
            <a:pPr marL="257810" indent="-245110">
              <a:lnSpc>
                <a:spcPct val="100000"/>
              </a:lnSpc>
              <a:spcBef>
                <a:spcPts val="555"/>
              </a:spcBef>
              <a:buFont typeface="Times New Roman"/>
              <a:buChar char="•"/>
              <a:tabLst>
                <a:tab pos="257810" algn="l"/>
              </a:tabLst>
            </a:pPr>
            <a:r>
              <a:rPr sz="2250" dirty="0">
                <a:latin typeface="Adobe Clean"/>
                <a:cs typeface="Adobe Clean"/>
              </a:rPr>
              <a:t>It</a:t>
            </a:r>
            <a:r>
              <a:rPr sz="2250" spc="5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treated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live</a:t>
            </a:r>
            <a:r>
              <a:rPr sz="2250" spc="6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results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as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an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unfolding</a:t>
            </a:r>
            <a:r>
              <a:rPr sz="2250" spc="6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process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audiences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can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spc="-10" dirty="0">
                <a:latin typeface="Adobe Clean"/>
                <a:cs typeface="Adobe Clean"/>
              </a:rPr>
              <a:t>learn.</a:t>
            </a:r>
            <a:endParaRPr sz="22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2250">
              <a:latin typeface="Adobe Clean"/>
              <a:cs typeface="Adobe Clean"/>
            </a:endParaRPr>
          </a:p>
          <a:p>
            <a:pPr marL="12700">
              <a:lnSpc>
                <a:spcPct val="100000"/>
              </a:lnSpc>
            </a:pPr>
            <a:r>
              <a:rPr sz="2250" b="1" dirty="0">
                <a:latin typeface="Adobe Clean"/>
                <a:cs typeface="Adobe Clean"/>
              </a:rPr>
              <a:t>Three</a:t>
            </a:r>
            <a:r>
              <a:rPr sz="2250" b="1" spc="15" dirty="0">
                <a:latin typeface="Adobe Clean"/>
                <a:cs typeface="Adobe Clean"/>
              </a:rPr>
              <a:t> </a:t>
            </a:r>
            <a:r>
              <a:rPr sz="2250" b="1" dirty="0">
                <a:latin typeface="Adobe Clean"/>
                <a:cs typeface="Adobe Clean"/>
              </a:rPr>
              <a:t>design</a:t>
            </a:r>
            <a:r>
              <a:rPr sz="2250" b="1" spc="30" dirty="0">
                <a:latin typeface="Adobe Clean"/>
                <a:cs typeface="Adobe Clean"/>
              </a:rPr>
              <a:t> </a:t>
            </a:r>
            <a:r>
              <a:rPr sz="2250" b="1" spc="-20" dirty="0">
                <a:latin typeface="Adobe Clean"/>
                <a:cs typeface="Adobe Clean"/>
              </a:rPr>
              <a:t>goals</a:t>
            </a:r>
            <a:endParaRPr sz="2250">
              <a:latin typeface="Adobe Clean"/>
              <a:cs typeface="Adobe Clean"/>
            </a:endParaRPr>
          </a:p>
          <a:p>
            <a:pPr marL="257810" indent="-245110">
              <a:lnSpc>
                <a:spcPct val="100000"/>
              </a:lnSpc>
              <a:spcBef>
                <a:spcPts val="2130"/>
              </a:spcBef>
              <a:buFont typeface="Times New Roman"/>
              <a:buChar char="•"/>
              <a:tabLst>
                <a:tab pos="257810" algn="l"/>
              </a:tabLst>
            </a:pPr>
            <a:r>
              <a:rPr sz="2250" dirty="0">
                <a:latin typeface="Adobe Clean"/>
                <a:cs typeface="Adobe Clean"/>
              </a:rPr>
              <a:t>Make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it</a:t>
            </a:r>
            <a:r>
              <a:rPr sz="2250" spc="7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clear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that</a:t>
            </a:r>
            <a:r>
              <a:rPr sz="2250" spc="7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reported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votes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are</a:t>
            </a:r>
            <a:r>
              <a:rPr sz="2250" spc="7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still</a:t>
            </a:r>
            <a:r>
              <a:rPr sz="2250" spc="65" dirty="0">
                <a:latin typeface="Adobe Clean"/>
                <a:cs typeface="Adobe Clean"/>
              </a:rPr>
              <a:t> </a:t>
            </a:r>
            <a:r>
              <a:rPr sz="2250" b="1" spc="-10" dirty="0">
                <a:latin typeface="Adobe Clean"/>
                <a:cs typeface="Adobe Clean"/>
              </a:rPr>
              <a:t>partial</a:t>
            </a:r>
            <a:r>
              <a:rPr sz="2250" spc="-10" dirty="0">
                <a:latin typeface="Adobe Clean"/>
                <a:cs typeface="Adobe Clean"/>
              </a:rPr>
              <a:t>.</a:t>
            </a:r>
            <a:endParaRPr sz="2250">
              <a:latin typeface="Adobe Clean"/>
              <a:cs typeface="Adobe Clean"/>
            </a:endParaRPr>
          </a:p>
          <a:p>
            <a:pPr marL="257810" indent="-245110">
              <a:lnSpc>
                <a:spcPct val="100000"/>
              </a:lnSpc>
              <a:spcBef>
                <a:spcPts val="555"/>
              </a:spcBef>
              <a:buFont typeface="Times New Roman"/>
              <a:buChar char="•"/>
              <a:tabLst>
                <a:tab pos="257810" algn="l"/>
              </a:tabLst>
            </a:pPr>
            <a:r>
              <a:rPr sz="2250" dirty="0">
                <a:latin typeface="Adobe Clean"/>
                <a:cs typeface="Adobe Clean"/>
              </a:rPr>
              <a:t>Show</a:t>
            </a:r>
            <a:r>
              <a:rPr sz="2250" spc="6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that</a:t>
            </a:r>
            <a:r>
              <a:rPr sz="2250" spc="6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apparent</a:t>
            </a:r>
            <a:r>
              <a:rPr sz="2250" spc="6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trends</a:t>
            </a:r>
            <a:r>
              <a:rPr sz="2250" spc="6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can</a:t>
            </a:r>
            <a:r>
              <a:rPr sz="2250" spc="6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shift</a:t>
            </a:r>
            <a:r>
              <a:rPr sz="2250" spc="6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as</a:t>
            </a:r>
            <a:r>
              <a:rPr sz="2250" spc="6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more</a:t>
            </a:r>
            <a:r>
              <a:rPr sz="2250" spc="6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votes</a:t>
            </a:r>
            <a:r>
              <a:rPr sz="2250" spc="60" dirty="0">
                <a:latin typeface="Adobe Clean"/>
                <a:cs typeface="Adobe Clean"/>
              </a:rPr>
              <a:t> </a:t>
            </a:r>
            <a:r>
              <a:rPr sz="2250" spc="-10" dirty="0">
                <a:latin typeface="Adobe Clean"/>
                <a:cs typeface="Adobe Clean"/>
              </a:rPr>
              <a:t>arrive.</a:t>
            </a:r>
            <a:endParaRPr sz="2250">
              <a:latin typeface="Adobe Clean"/>
              <a:cs typeface="Adobe Clean"/>
            </a:endParaRPr>
          </a:p>
          <a:p>
            <a:pPr marL="257810" indent="-245110">
              <a:lnSpc>
                <a:spcPct val="100000"/>
              </a:lnSpc>
              <a:spcBef>
                <a:spcPts val="555"/>
              </a:spcBef>
              <a:buFont typeface="Times New Roman"/>
              <a:buChar char="•"/>
              <a:tabLst>
                <a:tab pos="257810" algn="l"/>
              </a:tabLst>
            </a:pPr>
            <a:r>
              <a:rPr sz="2250" dirty="0">
                <a:latin typeface="Adobe Clean"/>
                <a:cs typeface="Adobe Clean"/>
              </a:rPr>
              <a:t>Link</a:t>
            </a:r>
            <a:r>
              <a:rPr sz="2250" spc="7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visible</a:t>
            </a:r>
            <a:r>
              <a:rPr sz="2250" spc="7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shifts</a:t>
            </a:r>
            <a:r>
              <a:rPr sz="2250" spc="7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to</a:t>
            </a:r>
            <a:r>
              <a:rPr sz="2250" spc="7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counting</a:t>
            </a:r>
            <a:r>
              <a:rPr sz="2250" spc="7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procedures,</a:t>
            </a:r>
            <a:r>
              <a:rPr sz="2250" spc="7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not</a:t>
            </a:r>
            <a:r>
              <a:rPr sz="2250" spc="7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assumed</a:t>
            </a:r>
            <a:r>
              <a:rPr sz="2250" spc="70" dirty="0">
                <a:latin typeface="Adobe Clean"/>
                <a:cs typeface="Adobe Clean"/>
              </a:rPr>
              <a:t> </a:t>
            </a:r>
            <a:r>
              <a:rPr sz="2250" spc="-10" dirty="0">
                <a:latin typeface="Adobe Clean"/>
                <a:cs typeface="Adobe Clean"/>
              </a:rPr>
              <a:t>wrongdoing.</a:t>
            </a:r>
            <a:endParaRPr sz="22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2250">
              <a:latin typeface="Adobe Clean"/>
              <a:cs typeface="Adobe Cle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50" b="1" dirty="0">
                <a:latin typeface="Adobe Clean"/>
                <a:cs typeface="Adobe Clean"/>
              </a:rPr>
              <a:t>How</a:t>
            </a:r>
            <a:r>
              <a:rPr sz="2250" b="1" spc="100" dirty="0">
                <a:latin typeface="Adobe Clean"/>
                <a:cs typeface="Adobe Clean"/>
              </a:rPr>
              <a:t> </a:t>
            </a:r>
            <a:r>
              <a:rPr sz="2250" b="1" dirty="0">
                <a:latin typeface="Adobe Clean"/>
                <a:cs typeface="Adobe Clean"/>
              </a:rPr>
              <a:t>viewers</a:t>
            </a:r>
            <a:r>
              <a:rPr sz="2250" b="1" spc="100" dirty="0">
                <a:latin typeface="Adobe Clean"/>
                <a:cs typeface="Adobe Clean"/>
              </a:rPr>
              <a:t> </a:t>
            </a:r>
            <a:r>
              <a:rPr sz="2250" b="1" dirty="0">
                <a:latin typeface="Adobe Clean"/>
                <a:cs typeface="Adobe Clean"/>
              </a:rPr>
              <a:t>form</a:t>
            </a:r>
            <a:r>
              <a:rPr sz="2250" b="1" spc="100" dirty="0">
                <a:latin typeface="Adobe Clean"/>
                <a:cs typeface="Adobe Clean"/>
              </a:rPr>
              <a:t> </a:t>
            </a:r>
            <a:r>
              <a:rPr sz="2250" b="1" spc="-10" dirty="0">
                <a:latin typeface="Adobe Clean"/>
                <a:cs typeface="Adobe Clean"/>
              </a:rPr>
              <a:t>expectations</a:t>
            </a:r>
            <a:endParaRPr sz="2250">
              <a:latin typeface="Adobe Clean"/>
              <a:cs typeface="Adobe Clean"/>
            </a:endParaRPr>
          </a:p>
          <a:p>
            <a:pPr marL="257810" indent="-245110">
              <a:lnSpc>
                <a:spcPct val="100000"/>
              </a:lnSpc>
              <a:spcBef>
                <a:spcPts val="2130"/>
              </a:spcBef>
              <a:buFont typeface="Times New Roman"/>
              <a:buChar char="•"/>
              <a:tabLst>
                <a:tab pos="257810" algn="l"/>
              </a:tabLst>
            </a:pPr>
            <a:r>
              <a:rPr sz="2250" dirty="0">
                <a:latin typeface="Adobe Clean"/>
                <a:cs typeface="Adobe Clean"/>
              </a:rPr>
              <a:t>Assumed</a:t>
            </a:r>
            <a:r>
              <a:rPr sz="2250" spc="8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viewers</a:t>
            </a:r>
            <a:r>
              <a:rPr sz="2250" spc="9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enter</a:t>
            </a:r>
            <a:r>
              <a:rPr sz="2250" spc="9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with</a:t>
            </a:r>
            <a:r>
              <a:rPr sz="2250" spc="9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a</a:t>
            </a:r>
            <a:r>
              <a:rPr sz="2250" spc="9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“mental</a:t>
            </a:r>
            <a:r>
              <a:rPr sz="2250" spc="9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forecast”</a:t>
            </a:r>
            <a:r>
              <a:rPr sz="2250" spc="9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of</a:t>
            </a:r>
            <a:r>
              <a:rPr sz="2250" spc="9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the</a:t>
            </a:r>
            <a:r>
              <a:rPr sz="2250" spc="95" dirty="0">
                <a:latin typeface="Adobe Clean"/>
                <a:cs typeface="Adobe Clean"/>
              </a:rPr>
              <a:t> </a:t>
            </a:r>
            <a:r>
              <a:rPr sz="2250" spc="-10" dirty="0">
                <a:latin typeface="Adobe Clean"/>
                <a:cs typeface="Adobe Clean"/>
              </a:rPr>
              <a:t>outcome.</a:t>
            </a:r>
            <a:endParaRPr sz="2250">
              <a:latin typeface="Adobe Clean"/>
              <a:cs typeface="Adobe Clean"/>
            </a:endParaRPr>
          </a:p>
          <a:p>
            <a:pPr marL="257810" indent="-245110">
              <a:lnSpc>
                <a:spcPct val="100000"/>
              </a:lnSpc>
              <a:spcBef>
                <a:spcPts val="555"/>
              </a:spcBef>
              <a:buFont typeface="Times New Roman"/>
              <a:buChar char="•"/>
              <a:tabLst>
                <a:tab pos="257810" algn="l"/>
              </a:tabLst>
            </a:pPr>
            <a:r>
              <a:rPr sz="2250" dirty="0">
                <a:latin typeface="Adobe Clean"/>
                <a:cs typeface="Adobe Clean"/>
              </a:rPr>
              <a:t>As</a:t>
            </a:r>
            <a:r>
              <a:rPr sz="2250" spc="105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new</a:t>
            </a:r>
            <a:r>
              <a:rPr sz="2250" spc="12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batches</a:t>
            </a:r>
            <a:r>
              <a:rPr sz="2250" spc="114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report,</a:t>
            </a:r>
            <a:r>
              <a:rPr sz="2250" spc="12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viewers</a:t>
            </a:r>
            <a:r>
              <a:rPr sz="2250" spc="114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revise</a:t>
            </a:r>
            <a:r>
              <a:rPr sz="2250" spc="12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expectations</a:t>
            </a:r>
            <a:r>
              <a:rPr sz="2250" spc="114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over</a:t>
            </a:r>
            <a:r>
              <a:rPr sz="2250" spc="120" dirty="0">
                <a:latin typeface="Adobe Clean"/>
                <a:cs typeface="Adobe Clean"/>
              </a:rPr>
              <a:t> </a:t>
            </a:r>
            <a:r>
              <a:rPr sz="2250" dirty="0">
                <a:latin typeface="Adobe Clean"/>
                <a:cs typeface="Adobe Clean"/>
              </a:rPr>
              <a:t>the</a:t>
            </a:r>
            <a:r>
              <a:rPr sz="2250" spc="114" dirty="0">
                <a:latin typeface="Adobe Clean"/>
                <a:cs typeface="Adobe Clean"/>
              </a:rPr>
              <a:t> </a:t>
            </a:r>
            <a:r>
              <a:rPr sz="2250" spc="-10" dirty="0">
                <a:latin typeface="Adobe Clean"/>
                <a:cs typeface="Adobe Clean"/>
              </a:rPr>
              <a:t>night.</a:t>
            </a:r>
            <a:endParaRPr sz="2250">
              <a:latin typeface="Adobe Clean"/>
              <a:cs typeface="Adobe Cle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17814" y="2530576"/>
            <a:ext cx="7754134" cy="58156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72233" y="9851923"/>
            <a:ext cx="2588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dobe Clean"/>
                <a:cs typeface="Adobe Clean"/>
              </a:rPr>
              <a:t>©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2026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All Rights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Reserved.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 </a:t>
            </a:r>
            <a:r>
              <a:rPr sz="900" spc="-10" dirty="0">
                <a:latin typeface="Adobe Clean"/>
                <a:cs typeface="Adobe Clean"/>
              </a:rPr>
              <a:t>Confidential.</a:t>
            </a:r>
            <a:endParaRPr sz="900">
              <a:latin typeface="Adobe Clean"/>
              <a:cs typeface="Adobe Cle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42825" y="6083102"/>
            <a:ext cx="4796155" cy="2824491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spcBef>
                <a:spcPts val="1505"/>
              </a:spcBef>
            </a:pPr>
            <a:r>
              <a:rPr lang="en-US" sz="2600" b="1" spc="-35">
                <a:latin typeface="Adobe Clean"/>
                <a:cs typeface="Adobe Clean"/>
              </a:rPr>
              <a:t>Explain shifts </a:t>
            </a:r>
            <a:r>
              <a:rPr lang="en-US" sz="2600" b="1" spc="-40" dirty="0">
                <a:latin typeface="Adobe Clean"/>
                <a:cs typeface="Adobe Clean"/>
              </a:rPr>
              <a:t>without</a:t>
            </a:r>
            <a:r>
              <a:rPr sz="2600" b="1" spc="-85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drama</a:t>
            </a:r>
            <a:endParaRPr sz="2600">
              <a:latin typeface="Adobe Clean"/>
              <a:cs typeface="Adobe Clean"/>
            </a:endParaRPr>
          </a:p>
          <a:p>
            <a:pPr marL="292735" marR="29845" indent="-280670"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20" dirty="0">
                <a:latin typeface="Adobe Clean"/>
                <a:cs typeface="Adobe Clean"/>
              </a:rPr>
              <a:t>Short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text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linked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20" dirty="0">
                <a:latin typeface="Adobe Clean"/>
                <a:cs typeface="Adobe Clean"/>
              </a:rPr>
              <a:t>flips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and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surges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lang="en-US" sz="2600" spc="-25">
                <a:latin typeface="Adobe Clean"/>
                <a:cs typeface="Adobe Clean"/>
              </a:rPr>
              <a:t>to </a:t>
            </a:r>
            <a:r>
              <a:rPr lang="en-US" sz="2600" spc="-55">
                <a:latin typeface="Adobe Clean"/>
                <a:cs typeface="Adobe Clean"/>
              </a:rPr>
              <a:t>counting</a:t>
            </a:r>
            <a:r>
              <a:rPr sz="2600" spc="-80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procedures.</a:t>
            </a:r>
            <a:endParaRPr sz="2600">
              <a:latin typeface="Adobe Clean"/>
              <a:cs typeface="Adobe Clean"/>
            </a:endParaRPr>
          </a:p>
          <a:p>
            <a:pPr marL="292735" marR="5080" indent="-280670">
              <a:spcBef>
                <a:spcPts val="365"/>
              </a:spcBef>
              <a:buFont typeface="Times New Roman"/>
              <a:buChar char="•"/>
              <a:tabLst>
                <a:tab pos="294005" algn="l"/>
              </a:tabLst>
            </a:pPr>
            <a:r>
              <a:rPr lang="en-US" sz="2600" spc="-40">
                <a:latin typeface="Adobe Clean"/>
                <a:cs typeface="Adobe Clean"/>
              </a:rPr>
              <a:t>The </a:t>
            </a:r>
            <a:r>
              <a:rPr sz="2600" spc="-40">
                <a:latin typeface="Adobe Clean"/>
                <a:cs typeface="Adobe Clean"/>
              </a:rPr>
              <a:t>goal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55" dirty="0">
                <a:latin typeface="Adobe Clean"/>
                <a:cs typeface="Adobe Clean"/>
              </a:rPr>
              <a:t>was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to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reduce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lang="en-US" sz="2600" spc="-20">
                <a:latin typeface="Adobe Clean"/>
                <a:cs typeface="Adobe Clean"/>
              </a:rPr>
              <a:t>fraud assumptions from normal patterns.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67492" y="6083239"/>
            <a:ext cx="4891405" cy="3224601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spc="-45" dirty="0">
                <a:latin typeface="Adobe Clean"/>
                <a:cs typeface="Adobe Clean"/>
              </a:rPr>
              <a:t>Show</a:t>
            </a:r>
            <a:r>
              <a:rPr sz="2600" b="1" spc="-95" dirty="0">
                <a:latin typeface="Adobe Clean"/>
                <a:cs typeface="Adobe Clean"/>
              </a:rPr>
              <a:t> </a:t>
            </a:r>
            <a:r>
              <a:rPr sz="2600" b="1" spc="-50" dirty="0">
                <a:latin typeface="Adobe Clean"/>
                <a:cs typeface="Adobe Clean"/>
              </a:rPr>
              <a:t>what</a:t>
            </a:r>
            <a:r>
              <a:rPr sz="2600" b="1" spc="-90" dirty="0">
                <a:latin typeface="Adobe Clean"/>
                <a:cs typeface="Adobe Clean"/>
              </a:rPr>
              <a:t> </a:t>
            </a:r>
            <a:r>
              <a:rPr sz="2600" b="1" spc="-45" dirty="0">
                <a:latin typeface="Adobe Clean"/>
                <a:cs typeface="Adobe Clean"/>
              </a:rPr>
              <a:t>could</a:t>
            </a:r>
            <a:r>
              <a:rPr sz="2600" b="1" spc="-90" dirty="0">
                <a:latin typeface="Adobe Clean"/>
                <a:cs typeface="Adobe Clean"/>
              </a:rPr>
              <a:t> </a:t>
            </a:r>
            <a:r>
              <a:rPr sz="2600" b="1" spc="-45" dirty="0">
                <a:latin typeface="Adobe Clean"/>
                <a:cs typeface="Adobe Clean"/>
              </a:rPr>
              <a:t>happen</a:t>
            </a:r>
            <a:r>
              <a:rPr sz="2600" b="1" spc="-90" dirty="0">
                <a:latin typeface="Adobe Clean"/>
                <a:cs typeface="Adobe Clean"/>
              </a:rPr>
              <a:t> </a:t>
            </a:r>
            <a:r>
              <a:rPr sz="2600" b="1" spc="-20" dirty="0">
                <a:latin typeface="Adobe Clean"/>
                <a:cs typeface="Adobe Clean"/>
              </a:rPr>
              <a:t>next</a:t>
            </a:r>
            <a:endParaRPr sz="2600">
              <a:latin typeface="Adobe Clean"/>
              <a:cs typeface="Adobe Clean"/>
            </a:endParaRPr>
          </a:p>
          <a:p>
            <a:pPr marL="292735" marR="315595" indent="-280670">
              <a:lnSpc>
                <a:spcPct val="100000"/>
              </a:lnSpc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20" dirty="0">
                <a:latin typeface="Adobe Clean"/>
                <a:cs typeface="Adobe Clean"/>
              </a:rPr>
              <a:t>Live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30" dirty="0">
                <a:latin typeface="Adobe Clean"/>
                <a:cs typeface="Adobe Clean"/>
              </a:rPr>
              <a:t>forecasts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35" dirty="0">
                <a:latin typeface="Adobe Clean"/>
                <a:cs typeface="Adobe Clean"/>
              </a:rPr>
              <a:t>previewed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25">
                <a:latin typeface="Adobe Clean"/>
                <a:cs typeface="Adobe Clean"/>
              </a:rPr>
              <a:t>possible </a:t>
            </a:r>
            <a:r>
              <a:rPr sz="2600" spc="-40">
                <a:latin typeface="Adobe Clean"/>
                <a:cs typeface="Adobe Clean"/>
              </a:rPr>
              <a:t>paths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20" dirty="0">
                <a:latin typeface="Adobe Clean"/>
                <a:cs typeface="Adobe Clean"/>
              </a:rPr>
              <a:t>for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vote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45" dirty="0">
                <a:latin typeface="Adobe Clean"/>
                <a:cs typeface="Adobe Clean"/>
              </a:rPr>
              <a:t>share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over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time.</a:t>
            </a:r>
            <a:endParaRPr sz="2600">
              <a:latin typeface="Adobe Clean"/>
              <a:cs typeface="Adobe Clean"/>
            </a:endParaRPr>
          </a:p>
          <a:p>
            <a:pPr marL="292735" marR="5080" indent="-280670">
              <a:lnSpc>
                <a:spcPct val="100000"/>
              </a:lnSpc>
              <a:spcBef>
                <a:spcPts val="365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dirty="0">
                <a:latin typeface="Adobe Clean"/>
                <a:cs typeface="Adobe Clean"/>
              </a:rPr>
              <a:t>A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second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35" dirty="0">
                <a:latin typeface="Adobe Clean"/>
                <a:cs typeface="Adobe Clean"/>
              </a:rPr>
              <a:t>forecast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showed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10">
                <a:latin typeface="Adobe Clean"/>
                <a:cs typeface="Adobe Clean"/>
              </a:rPr>
              <a:t>expected </a:t>
            </a:r>
            <a:r>
              <a:rPr sz="2600" spc="-45">
                <a:latin typeface="Adobe Clean"/>
                <a:cs typeface="Adobe Clean"/>
              </a:rPr>
              <a:t>pace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of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spc="-55" dirty="0">
                <a:latin typeface="Adobe Clean"/>
                <a:cs typeface="Adobe Clean"/>
              </a:rPr>
              <a:t>counting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20" dirty="0">
                <a:latin typeface="Adobe Clean"/>
                <a:cs typeface="Adobe Clean"/>
              </a:rPr>
              <a:t>for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days.</a:t>
            </a:r>
            <a:endParaRPr sz="2600">
              <a:latin typeface="Adobe Clean"/>
              <a:cs typeface="Adobe Cle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167" y="6083239"/>
            <a:ext cx="4876165" cy="3224601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spc="-50" dirty="0">
                <a:latin typeface="Adobe Clean"/>
                <a:cs typeface="Adobe Clean"/>
              </a:rPr>
              <a:t>Make</a:t>
            </a:r>
            <a:r>
              <a:rPr sz="2600" b="1" spc="-95" dirty="0">
                <a:latin typeface="Adobe Clean"/>
                <a:cs typeface="Adobe Clean"/>
              </a:rPr>
              <a:t> </a:t>
            </a:r>
            <a:r>
              <a:rPr sz="2600" b="1" spc="-25" dirty="0">
                <a:latin typeface="Adobe Clean"/>
                <a:cs typeface="Adobe Clean"/>
              </a:rPr>
              <a:t>partial</a:t>
            </a:r>
            <a:r>
              <a:rPr sz="2600" b="1" spc="-95" dirty="0">
                <a:latin typeface="Adobe Clean"/>
                <a:cs typeface="Adobe Clean"/>
              </a:rPr>
              <a:t> </a:t>
            </a:r>
            <a:r>
              <a:rPr sz="2600" b="1" spc="-30" dirty="0">
                <a:latin typeface="Adobe Clean"/>
                <a:cs typeface="Adobe Clean"/>
              </a:rPr>
              <a:t>results</a:t>
            </a:r>
            <a:r>
              <a:rPr sz="2600" b="1" spc="-90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obvious</a:t>
            </a:r>
            <a:endParaRPr sz="2600">
              <a:latin typeface="Adobe Clean"/>
              <a:cs typeface="Adobe Clean"/>
            </a:endParaRPr>
          </a:p>
          <a:p>
            <a:pPr marL="292735" marR="401955" indent="-280670"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dirty="0">
                <a:latin typeface="Adobe Clean"/>
                <a:cs typeface="Adobe Clean"/>
              </a:rPr>
              <a:t>A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large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progress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20" dirty="0">
                <a:latin typeface="Adobe Clean"/>
                <a:cs typeface="Adobe Clean"/>
              </a:rPr>
              <a:t>bar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lang="en-US" sz="2600" spc="-30">
                <a:latin typeface="Adobe Clean"/>
                <a:cs typeface="Adobe Clean"/>
              </a:rPr>
              <a:t>emphasized votes</a:t>
            </a:r>
            <a:r>
              <a:rPr sz="2600" spc="-120" dirty="0">
                <a:latin typeface="Adobe Clean"/>
                <a:cs typeface="Adobe Clean"/>
              </a:rPr>
              <a:t> </a:t>
            </a:r>
            <a:r>
              <a:rPr lang="en-US" sz="2600" spc="-45" dirty="0">
                <a:latin typeface="Adobe Clean"/>
                <a:cs typeface="Adobe Clean"/>
              </a:rPr>
              <a:t>counted</a:t>
            </a:r>
            <a:r>
              <a:rPr lang="en-US" sz="2600" spc="-105" dirty="0">
                <a:latin typeface="Adobe Clean"/>
                <a:cs typeface="Adobe Clean"/>
              </a:rPr>
              <a:t> </a:t>
            </a:r>
            <a:r>
              <a:rPr lang="en-US" sz="2600" spc="-30" dirty="0">
                <a:latin typeface="Adobe Clean"/>
                <a:cs typeface="Adobe Clean"/>
              </a:rPr>
              <a:t>versus</a:t>
            </a:r>
            <a:r>
              <a:rPr lang="en-US" sz="2600" spc="-110" dirty="0">
                <a:latin typeface="Adobe Clean"/>
                <a:cs typeface="Adobe Clean"/>
              </a:rPr>
              <a:t> </a:t>
            </a:r>
            <a:r>
              <a:rPr lang="en-US" sz="2600" b="1" spc="-10">
                <a:latin typeface="Adobe Clean"/>
                <a:cs typeface="Adobe Clean"/>
              </a:rPr>
              <a:t>votes outstanding</a:t>
            </a:r>
            <a:r>
              <a:rPr lang="en-US" sz="2600" spc="-10" dirty="0">
                <a:latin typeface="Adobe Clean"/>
                <a:cs typeface="Adobe Clean"/>
              </a:rPr>
              <a:t>.</a:t>
            </a:r>
            <a:endParaRPr sz="2600" dirty="0">
              <a:latin typeface="Adobe Clean"/>
              <a:cs typeface="Adobe Clean"/>
            </a:endParaRPr>
          </a:p>
          <a:p>
            <a:pPr marL="292735" marR="5080" indent="-280670">
              <a:lnSpc>
                <a:spcPct val="100000"/>
              </a:lnSpc>
              <a:spcBef>
                <a:spcPts val="375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40" dirty="0">
                <a:latin typeface="Adobe Clean"/>
                <a:cs typeface="Adobe Clean"/>
              </a:rPr>
              <a:t>County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maps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also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10">
                <a:latin typeface="Adobe Clean"/>
                <a:cs typeface="Adobe Clean"/>
              </a:rPr>
              <a:t>showed </a:t>
            </a:r>
            <a:r>
              <a:rPr sz="2600" spc="-55">
                <a:latin typeface="Adobe Clean"/>
                <a:cs typeface="Adobe Clean"/>
              </a:rPr>
              <a:t>remaining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votes,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not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35" dirty="0">
                <a:latin typeface="Adobe Clean"/>
                <a:cs typeface="Adobe Clean"/>
              </a:rPr>
              <a:t>just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who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leads.</a:t>
            </a:r>
            <a:endParaRPr sz="2600">
              <a:latin typeface="Adobe Clean"/>
              <a:cs typeface="Adobe Cle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9202" y="2206883"/>
            <a:ext cx="4389696" cy="37571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0187" y="2206883"/>
            <a:ext cx="4893360" cy="37571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875" y="2206883"/>
            <a:ext cx="4893348" cy="3757163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02147" y="663318"/>
            <a:ext cx="6611759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85" dirty="0">
                <a:latin typeface="Adobe Clean Black"/>
                <a:cs typeface="Adobe Clean Black"/>
              </a:rPr>
              <a:t>What</a:t>
            </a:r>
            <a:r>
              <a:rPr spc="-135" dirty="0">
                <a:latin typeface="Adobe Clean Black"/>
                <a:cs typeface="Adobe Clean Black"/>
              </a:rPr>
              <a:t> </a:t>
            </a:r>
            <a:r>
              <a:rPr spc="-55" dirty="0">
                <a:latin typeface="Adobe Clean Black"/>
                <a:cs typeface="Adobe Clean Black"/>
              </a:rPr>
              <a:t>the</a:t>
            </a:r>
            <a:r>
              <a:rPr spc="-135" dirty="0">
                <a:latin typeface="Adobe Clean Black"/>
                <a:cs typeface="Adobe Clean Black"/>
              </a:rPr>
              <a:t> </a:t>
            </a:r>
            <a:r>
              <a:rPr spc="-80" dirty="0">
                <a:latin typeface="Adobe Clean Black"/>
                <a:cs typeface="Adobe Clean Black"/>
              </a:rPr>
              <a:t>Dashboard</a:t>
            </a:r>
            <a:r>
              <a:rPr spc="-135" dirty="0">
                <a:latin typeface="Adobe Clean Black"/>
                <a:cs typeface="Adobe Clean Black"/>
              </a:rPr>
              <a:t> </a:t>
            </a:r>
            <a:r>
              <a:rPr spc="-10" dirty="0">
                <a:latin typeface="Adobe Clean Black"/>
                <a:cs typeface="Adobe Clean Black"/>
              </a:rPr>
              <a:t>Added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15265" cy="10287000"/>
          </a:xfrm>
          <a:custGeom>
            <a:avLst/>
            <a:gdLst/>
            <a:ahLst/>
            <a:cxnLst/>
            <a:rect l="l" t="t" r="r" b="b"/>
            <a:pathLst>
              <a:path w="215265" h="10287000">
                <a:moveTo>
                  <a:pt x="215061" y="0"/>
                </a:moveTo>
                <a:lnTo>
                  <a:pt x="0" y="0"/>
                </a:lnTo>
                <a:lnTo>
                  <a:pt x="0" y="10287000"/>
                </a:lnTo>
                <a:lnTo>
                  <a:pt x="215061" y="10287000"/>
                </a:lnTo>
                <a:lnTo>
                  <a:pt x="215061" y="0"/>
                </a:lnTo>
                <a:close/>
              </a:path>
            </a:pathLst>
          </a:custGeom>
          <a:solidFill>
            <a:srgbClr val="EB1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700" spc="-135" dirty="0">
                <a:latin typeface="Adobe Clean Black"/>
                <a:cs typeface="Adobe Clean Black"/>
              </a:rPr>
              <a:t>How</a:t>
            </a:r>
            <a:r>
              <a:rPr sz="4700" spc="-160" dirty="0">
                <a:latin typeface="Adobe Clean Black"/>
                <a:cs typeface="Adobe Clean Black"/>
              </a:rPr>
              <a:t> </a:t>
            </a:r>
            <a:r>
              <a:rPr sz="4700" spc="-85" dirty="0">
                <a:latin typeface="Adobe Clean Black"/>
                <a:cs typeface="Adobe Clean Black"/>
              </a:rPr>
              <a:t>the</a:t>
            </a:r>
            <a:r>
              <a:rPr sz="4700" spc="-160" dirty="0">
                <a:latin typeface="Adobe Clean Black"/>
                <a:cs typeface="Adobe Clean Black"/>
              </a:rPr>
              <a:t> </a:t>
            </a:r>
            <a:r>
              <a:rPr sz="4700" spc="-100" dirty="0">
                <a:latin typeface="Adobe Clean Black"/>
                <a:cs typeface="Adobe Clean Black"/>
              </a:rPr>
              <a:t>Study</a:t>
            </a:r>
            <a:r>
              <a:rPr sz="4700" spc="-160" dirty="0">
                <a:latin typeface="Adobe Clean Black"/>
                <a:cs typeface="Adobe Clean Black"/>
              </a:rPr>
              <a:t> </a:t>
            </a:r>
            <a:r>
              <a:rPr sz="4700" spc="-25" dirty="0">
                <a:latin typeface="Adobe Clean Black"/>
                <a:cs typeface="Adobe Clean Black"/>
              </a:rPr>
              <a:t>Ran</a:t>
            </a:r>
            <a:endParaRPr sz="4700">
              <a:latin typeface="Adobe Clean Black"/>
              <a:cs typeface="Adobe Clean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780257"/>
            <a:ext cx="898461" cy="2158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772233" y="9851923"/>
            <a:ext cx="2588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dobe Clean"/>
                <a:cs typeface="Adobe Clean"/>
              </a:rPr>
              <a:t>©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2026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All Rights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Reserved.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 </a:t>
            </a:r>
            <a:r>
              <a:rPr sz="900" spc="-10" dirty="0">
                <a:latin typeface="Adobe Clean"/>
                <a:cs typeface="Adobe Clean"/>
              </a:rPr>
              <a:t>Confidential.</a:t>
            </a:r>
            <a:endParaRPr sz="900">
              <a:latin typeface="Adobe Clean"/>
              <a:cs typeface="Adobe Cle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903457" y="2466172"/>
            <a:ext cx="8369300" cy="5936177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Real-election</a:t>
            </a:r>
            <a:r>
              <a:rPr spc="229" dirty="0"/>
              <a:t> </a:t>
            </a:r>
            <a:r>
              <a:rPr spc="-10" dirty="0"/>
              <a:t>deployment</a:t>
            </a:r>
          </a:p>
          <a:p>
            <a:pPr marL="274955" indent="-262255">
              <a:spcBef>
                <a:spcPts val="2295"/>
              </a:spcBef>
              <a:buFont typeface="Times New Roman"/>
              <a:buChar char="•"/>
              <a:tabLst>
                <a:tab pos="274955" algn="l"/>
              </a:tabLst>
            </a:pPr>
            <a:r>
              <a:rPr b="0">
                <a:latin typeface="Adobe Clean"/>
                <a:cs typeface="Adobe Clean"/>
              </a:rPr>
              <a:t>The </a:t>
            </a:r>
            <a:r>
              <a:rPr lang="en-US" b="0"/>
              <a:t>dashboard</a:t>
            </a:r>
            <a:r>
              <a:rPr b="0" spc="6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ran</a:t>
            </a:r>
            <a:r>
              <a:rPr b="0" spc="6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live</a:t>
            </a:r>
            <a:r>
              <a:rPr b="0" spc="6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during</a:t>
            </a:r>
            <a:r>
              <a:rPr b="0" spc="6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the</a:t>
            </a:r>
            <a:r>
              <a:rPr b="0" spc="7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2024</a:t>
            </a:r>
            <a:r>
              <a:rPr b="0" spc="6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U.S.</a:t>
            </a:r>
            <a:r>
              <a:rPr b="0" spc="6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presidential</a:t>
            </a:r>
            <a:r>
              <a:rPr b="0" spc="65" dirty="0">
                <a:latin typeface="Adobe Clean"/>
                <a:cs typeface="Adobe Clean"/>
              </a:rPr>
              <a:t> </a:t>
            </a:r>
            <a:r>
              <a:rPr b="0" spc="-10" dirty="0">
                <a:latin typeface="Adobe Clean"/>
                <a:cs typeface="Adobe Clean"/>
              </a:rPr>
              <a:t>count.</a:t>
            </a:r>
          </a:p>
          <a:p>
            <a:pPr marL="274955" indent="-262255">
              <a:lnSpc>
                <a:spcPct val="100000"/>
              </a:lnSpc>
              <a:spcBef>
                <a:spcPts val="610"/>
              </a:spcBef>
              <a:buFont typeface="Times New Roman"/>
              <a:buChar char="•"/>
              <a:tabLst>
                <a:tab pos="274955" algn="l"/>
              </a:tabLst>
            </a:pPr>
            <a:r>
              <a:rPr b="0" dirty="0">
                <a:latin typeface="Adobe Clean"/>
                <a:cs typeface="Adobe Clean"/>
              </a:rPr>
              <a:t>It</a:t>
            </a:r>
            <a:r>
              <a:rPr b="0" spc="11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used</a:t>
            </a:r>
            <a:r>
              <a:rPr b="0" spc="114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real-time</a:t>
            </a:r>
            <a:r>
              <a:rPr b="0" spc="114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results</a:t>
            </a:r>
            <a:r>
              <a:rPr b="0" spc="114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from</a:t>
            </a:r>
            <a:r>
              <a:rPr b="0" spc="114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the</a:t>
            </a:r>
            <a:r>
              <a:rPr b="0" spc="114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Associated</a:t>
            </a:r>
            <a:r>
              <a:rPr b="0" spc="114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Press</a:t>
            </a:r>
            <a:r>
              <a:rPr b="0" spc="114" dirty="0">
                <a:latin typeface="Adobe Clean"/>
                <a:cs typeface="Adobe Clean"/>
              </a:rPr>
              <a:t> </a:t>
            </a:r>
            <a:r>
              <a:rPr b="0" spc="-10" dirty="0">
                <a:latin typeface="Adobe Clean"/>
                <a:cs typeface="Adobe Clean"/>
              </a:rPr>
              <a:t>(AP).</a:t>
            </a: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b="0" spc="-10" dirty="0">
              <a:latin typeface="Adobe Clean"/>
              <a:cs typeface="Adobe Cle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Participants</a:t>
            </a:r>
            <a:r>
              <a:rPr spc="145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spc="-10" dirty="0"/>
              <a:t>engagement</a:t>
            </a:r>
          </a:p>
          <a:p>
            <a:pPr marL="274955" indent="-262255">
              <a:lnSpc>
                <a:spcPct val="100000"/>
              </a:lnSpc>
              <a:spcBef>
                <a:spcPts val="2295"/>
              </a:spcBef>
              <a:buFont typeface="Times New Roman"/>
              <a:buChar char="•"/>
              <a:tabLst>
                <a:tab pos="274955" algn="l"/>
              </a:tabLst>
            </a:pPr>
            <a:r>
              <a:rPr dirty="0">
                <a:latin typeface="Adobe Clean"/>
                <a:cs typeface="Adobe Clean"/>
              </a:rPr>
              <a:t>795</a:t>
            </a:r>
            <a:r>
              <a:rPr b="0" spc="40" dirty="0">
                <a:latin typeface="Liberation Serif"/>
                <a:cs typeface="Liberation Serif"/>
              </a:rPr>
              <a:t> </a:t>
            </a:r>
            <a:r>
              <a:rPr b="0" dirty="0">
                <a:latin typeface="Adobe Clean"/>
                <a:cs typeface="Adobe Clean"/>
              </a:rPr>
              <a:t>U.S.</a:t>
            </a:r>
            <a:r>
              <a:rPr b="0" spc="9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adults</a:t>
            </a:r>
            <a:r>
              <a:rPr b="0" spc="9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were</a:t>
            </a:r>
            <a:r>
              <a:rPr b="0" spc="9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recruited</a:t>
            </a:r>
            <a:r>
              <a:rPr b="0" spc="8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and</a:t>
            </a:r>
            <a:r>
              <a:rPr b="0" spc="9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assigned</a:t>
            </a:r>
            <a:r>
              <a:rPr b="0" spc="9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a</a:t>
            </a:r>
            <a:r>
              <a:rPr b="0" spc="9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dashboard</a:t>
            </a:r>
            <a:r>
              <a:rPr b="0" spc="90" dirty="0">
                <a:latin typeface="Adobe Clean"/>
                <a:cs typeface="Adobe Clean"/>
              </a:rPr>
              <a:t> </a:t>
            </a:r>
            <a:r>
              <a:rPr b="0" spc="-10" dirty="0">
                <a:latin typeface="Adobe Clean"/>
                <a:cs typeface="Adobe Clean"/>
              </a:rPr>
              <a:t>version.</a:t>
            </a:r>
          </a:p>
          <a:p>
            <a:pPr marL="274955" indent="-262255">
              <a:lnSpc>
                <a:spcPct val="100000"/>
              </a:lnSpc>
              <a:spcBef>
                <a:spcPts val="605"/>
              </a:spcBef>
              <a:buFont typeface="Times New Roman"/>
              <a:buChar char="•"/>
              <a:tabLst>
                <a:tab pos="274955" algn="l"/>
              </a:tabLst>
            </a:pPr>
            <a:r>
              <a:rPr dirty="0">
                <a:latin typeface="Adobe Clean"/>
                <a:cs typeface="Adobe Clean"/>
              </a:rPr>
              <a:t>308</a:t>
            </a:r>
            <a:r>
              <a:rPr b="0" spc="40" dirty="0">
                <a:latin typeface="Liberation Serif"/>
                <a:cs typeface="Liberation Serif"/>
              </a:rPr>
              <a:t> </a:t>
            </a:r>
            <a:r>
              <a:rPr b="0" dirty="0">
                <a:latin typeface="Adobe Clean"/>
                <a:cs typeface="Adobe Clean"/>
              </a:rPr>
              <a:t>visited</a:t>
            </a:r>
            <a:r>
              <a:rPr b="0" spc="8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at</a:t>
            </a:r>
            <a:r>
              <a:rPr b="0" spc="9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least</a:t>
            </a:r>
            <a:r>
              <a:rPr b="0" spc="8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one</a:t>
            </a:r>
            <a:r>
              <a:rPr b="0" spc="9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swing-state</a:t>
            </a:r>
            <a:r>
              <a:rPr b="0" spc="8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results</a:t>
            </a:r>
            <a:r>
              <a:rPr b="0" spc="85" dirty="0">
                <a:latin typeface="Adobe Clean"/>
                <a:cs typeface="Adobe Clean"/>
              </a:rPr>
              <a:t> </a:t>
            </a:r>
            <a:r>
              <a:rPr b="0" spc="-10" dirty="0">
                <a:latin typeface="Adobe Clean"/>
                <a:cs typeface="Adobe Clean"/>
              </a:rPr>
              <a:t>page.</a:t>
            </a: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b="0" spc="-10" dirty="0">
              <a:latin typeface="Adobe Clean"/>
              <a:cs typeface="Adobe Clean"/>
            </a:endParaRPr>
          </a:p>
          <a:p>
            <a:pPr marL="12700">
              <a:lnSpc>
                <a:spcPct val="100000"/>
              </a:lnSpc>
            </a:pPr>
            <a:r>
              <a:rPr dirty="0"/>
              <a:t>Mixed-method</a:t>
            </a:r>
            <a:r>
              <a:rPr spc="220" dirty="0"/>
              <a:t> </a:t>
            </a:r>
            <a:r>
              <a:rPr spc="-10" dirty="0"/>
              <a:t>evaluation</a:t>
            </a:r>
          </a:p>
          <a:p>
            <a:pPr marL="274955" indent="-262255">
              <a:lnSpc>
                <a:spcPct val="100000"/>
              </a:lnSpc>
              <a:spcBef>
                <a:spcPts val="2295"/>
              </a:spcBef>
              <a:buFont typeface="Times New Roman"/>
              <a:buChar char="•"/>
              <a:tabLst>
                <a:tab pos="274955" algn="l"/>
              </a:tabLst>
            </a:pPr>
            <a:r>
              <a:rPr b="0" dirty="0">
                <a:latin typeface="Adobe Clean"/>
                <a:cs typeface="Adobe Clean"/>
              </a:rPr>
              <a:t>Surveys</a:t>
            </a:r>
            <a:r>
              <a:rPr b="0" spc="14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were</a:t>
            </a:r>
            <a:r>
              <a:rPr b="0" spc="15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collected</a:t>
            </a:r>
            <a:r>
              <a:rPr b="0" spc="15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before,</a:t>
            </a:r>
            <a:r>
              <a:rPr b="0" spc="15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during,</a:t>
            </a:r>
            <a:r>
              <a:rPr b="0" spc="15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and</a:t>
            </a:r>
            <a:r>
              <a:rPr b="0" spc="15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after</a:t>
            </a:r>
            <a:r>
              <a:rPr b="0" spc="15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election</a:t>
            </a:r>
            <a:r>
              <a:rPr b="0" spc="150" dirty="0">
                <a:latin typeface="Adobe Clean"/>
                <a:cs typeface="Adobe Clean"/>
              </a:rPr>
              <a:t> </a:t>
            </a:r>
            <a:r>
              <a:rPr b="0" spc="-10" dirty="0">
                <a:latin typeface="Adobe Clean"/>
                <a:cs typeface="Adobe Clean"/>
              </a:rPr>
              <a:t>night.</a:t>
            </a:r>
          </a:p>
          <a:p>
            <a:pPr marL="274320" marR="850900" indent="-262255">
              <a:lnSpc>
                <a:spcPct val="101600"/>
              </a:lnSpc>
              <a:spcBef>
                <a:spcPts val="560"/>
              </a:spcBef>
              <a:buFont typeface="Times New Roman"/>
              <a:buChar char="•"/>
              <a:tabLst>
                <a:tab pos="275590" algn="l"/>
              </a:tabLst>
            </a:pPr>
            <a:r>
              <a:rPr b="0" dirty="0">
                <a:latin typeface="Adobe Clean"/>
                <a:cs typeface="Adobe Clean"/>
              </a:rPr>
              <a:t>Usage</a:t>
            </a:r>
            <a:r>
              <a:rPr b="0" spc="13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logs</a:t>
            </a:r>
            <a:r>
              <a:rPr b="0" spc="13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plus</a:t>
            </a:r>
            <a:r>
              <a:rPr b="0" spc="135" dirty="0">
                <a:latin typeface="Adobe Clean"/>
                <a:cs typeface="Adobe Clean"/>
              </a:rPr>
              <a:t> </a:t>
            </a:r>
            <a:r>
              <a:rPr dirty="0">
                <a:latin typeface="Adobe Clean"/>
                <a:cs typeface="Adobe Clean"/>
              </a:rPr>
              <a:t>16</a:t>
            </a:r>
            <a:r>
              <a:rPr b="0" spc="90" dirty="0">
                <a:latin typeface="Liberation Serif"/>
                <a:cs typeface="Liberation Serif"/>
              </a:rPr>
              <a:t> </a:t>
            </a:r>
            <a:r>
              <a:rPr b="0" dirty="0">
                <a:latin typeface="Adobe Clean"/>
                <a:cs typeface="Adobe Clean"/>
              </a:rPr>
              <a:t>post-election</a:t>
            </a:r>
            <a:r>
              <a:rPr b="0" spc="135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interviews</a:t>
            </a:r>
            <a:r>
              <a:rPr b="0" spc="140" dirty="0">
                <a:latin typeface="Adobe Clean"/>
                <a:cs typeface="Adobe Clean"/>
              </a:rPr>
              <a:t> </a:t>
            </a:r>
            <a:r>
              <a:rPr b="0" dirty="0">
                <a:latin typeface="Adobe Clean"/>
                <a:cs typeface="Adobe Clean"/>
              </a:rPr>
              <a:t>captured</a:t>
            </a:r>
            <a:r>
              <a:rPr b="0" spc="135" dirty="0">
                <a:latin typeface="Adobe Clean"/>
                <a:cs typeface="Adobe Clean"/>
              </a:rPr>
              <a:t> </a:t>
            </a:r>
            <a:r>
              <a:rPr b="0" spc="-10">
                <a:latin typeface="Adobe Clean"/>
                <a:cs typeface="Adobe Clean"/>
              </a:rPr>
              <a:t>lived experience.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44228" y="2856725"/>
            <a:ext cx="7827466" cy="52183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1700" y="4378993"/>
            <a:ext cx="10726753" cy="1277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200" spc="-125" dirty="0">
                <a:latin typeface="Adobe Clean Black"/>
                <a:cs typeface="Adobe Clean Black"/>
              </a:rPr>
              <a:t>Findings</a:t>
            </a:r>
            <a:r>
              <a:rPr sz="8200" spc="-335" dirty="0">
                <a:latin typeface="Adobe Clean Black"/>
                <a:cs typeface="Adobe Clean Black"/>
              </a:rPr>
              <a:t> </a:t>
            </a:r>
            <a:r>
              <a:rPr sz="8200" spc="-100" dirty="0">
                <a:latin typeface="Adobe Clean Black"/>
                <a:cs typeface="Adobe Clean Black"/>
              </a:rPr>
              <a:t>and</a:t>
            </a:r>
            <a:r>
              <a:rPr sz="8200" spc="-325" dirty="0">
                <a:latin typeface="Adobe Clean Black"/>
                <a:cs typeface="Adobe Clean Black"/>
              </a:rPr>
              <a:t> </a:t>
            </a:r>
            <a:r>
              <a:rPr sz="8200" spc="-95" dirty="0">
                <a:latin typeface="Adobe Clean Black"/>
                <a:cs typeface="Adobe Clean Black"/>
              </a:rPr>
              <a:t>Insights</a:t>
            </a:r>
            <a:endParaRPr sz="8200">
              <a:latin typeface="Adobe Clean Black"/>
              <a:cs typeface="Adobe Clean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72233" y="9851923"/>
            <a:ext cx="2588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dobe Clean"/>
                <a:cs typeface="Adobe Clean"/>
              </a:rPr>
              <a:t>©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2026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All Rights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Reserved.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 </a:t>
            </a:r>
            <a:r>
              <a:rPr sz="900" spc="-10" dirty="0">
                <a:latin typeface="Adobe Clean"/>
                <a:cs typeface="Adobe Clean"/>
              </a:rPr>
              <a:t>Confidential.</a:t>
            </a:r>
            <a:endParaRPr sz="900">
              <a:latin typeface="Adobe Clean"/>
              <a:cs typeface="Adobe Cle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42825" y="6083102"/>
            <a:ext cx="4908550" cy="1972976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spc="-55" dirty="0">
                <a:latin typeface="Adobe Clean"/>
                <a:cs typeface="Adobe Clean"/>
              </a:rPr>
              <a:t>Role</a:t>
            </a:r>
            <a:r>
              <a:rPr sz="2600" b="1" spc="-105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of</a:t>
            </a:r>
            <a:r>
              <a:rPr sz="2600" b="1" spc="-114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explanations</a:t>
            </a:r>
            <a:endParaRPr sz="2600">
              <a:latin typeface="Adobe Clean"/>
              <a:cs typeface="Adobe Clean"/>
            </a:endParaRPr>
          </a:p>
          <a:p>
            <a:pPr marL="292735" marR="5080" indent="-280670"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20" dirty="0">
                <a:latin typeface="Adobe Clean"/>
                <a:cs typeface="Adobe Clean"/>
              </a:rPr>
              <a:t>Short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text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explanations</a:t>
            </a:r>
            <a:r>
              <a:rPr sz="2600" spc="-90" dirty="0">
                <a:latin typeface="Adobe Clean"/>
                <a:cs typeface="Adobe Clean"/>
              </a:rPr>
              <a:t> </a:t>
            </a:r>
            <a:r>
              <a:rPr lang="en-US" sz="2600" spc="-10">
                <a:latin typeface="Adobe Clean"/>
                <a:cs typeface="Adobe Clean"/>
              </a:rPr>
              <a:t>alone </a:t>
            </a:r>
            <a:r>
              <a:rPr lang="en-US" sz="2600" spc="-40">
                <a:latin typeface="Adobe Clean"/>
                <a:cs typeface="Adobe Clean"/>
              </a:rPr>
              <a:t>showed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no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clear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measurable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lang="en-US" sz="2600" spc="-10">
                <a:latin typeface="Adobe Clean"/>
                <a:cs typeface="Adobe Clean"/>
              </a:rPr>
              <a:t>survey effect</a:t>
            </a:r>
            <a:r>
              <a:rPr sz="2600" spc="-10" dirty="0">
                <a:latin typeface="Adobe Clean"/>
                <a:cs typeface="Adobe Clean"/>
              </a:rPr>
              <a:t>.</a:t>
            </a:r>
            <a:endParaRPr sz="2600" dirty="0">
              <a:latin typeface="Adobe Clean"/>
              <a:cs typeface="Adobe Cle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7492" y="6083082"/>
            <a:ext cx="4909185" cy="3224601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spc="-65" dirty="0">
                <a:latin typeface="Adobe Clean"/>
                <a:cs typeface="Adobe Clean"/>
              </a:rPr>
              <a:t>Fraud</a:t>
            </a:r>
            <a:r>
              <a:rPr sz="2600" b="1" spc="-105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perceptions</a:t>
            </a:r>
            <a:endParaRPr sz="2600">
              <a:latin typeface="Adobe Clean"/>
              <a:cs typeface="Adobe Clean"/>
            </a:endParaRPr>
          </a:p>
          <a:p>
            <a:pPr marL="292735" marR="5080" indent="-280670"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40" dirty="0">
                <a:latin typeface="Adobe Clean"/>
                <a:cs typeface="Adobe Clean"/>
              </a:rPr>
              <a:t>Forecasts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30" dirty="0">
                <a:latin typeface="Adobe Clean"/>
                <a:cs typeface="Adobe Clean"/>
              </a:rPr>
              <a:t>were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linked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to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slightly 	</a:t>
            </a:r>
            <a:r>
              <a:rPr sz="2600" spc="-35" dirty="0">
                <a:latin typeface="Adobe Clean"/>
                <a:cs typeface="Adobe Clean"/>
              </a:rPr>
              <a:t>lower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55" dirty="0">
                <a:latin typeface="Adobe Clean"/>
                <a:cs typeface="Adobe Clean"/>
              </a:rPr>
              <a:t>agreement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that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45">
                <a:latin typeface="Adobe Clean"/>
                <a:cs typeface="Adobe Clean"/>
              </a:rPr>
              <a:t>“spikes”</a:t>
            </a:r>
            <a:r>
              <a:rPr lang="en-US" sz="2600" spc="-45" dirty="0">
                <a:latin typeface="Adobe Clean"/>
                <a:cs typeface="Adobe Clean"/>
              </a:rPr>
              <a:t> </a:t>
            </a:r>
            <a:r>
              <a:rPr lang="en-US" sz="2600" spc="-45">
                <a:latin typeface="Adobe Clean"/>
                <a:cs typeface="Adobe Clean"/>
              </a:rPr>
              <a:t>imply fraud.</a:t>
            </a:r>
            <a:endParaRPr sz="2600" spc="-95" dirty="0">
              <a:latin typeface="Adobe Clean"/>
              <a:cs typeface="Adobe Clean"/>
            </a:endParaRPr>
          </a:p>
          <a:p>
            <a:pPr marL="292735" marR="81280" indent="-280670">
              <a:spcBef>
                <a:spcPts val="375"/>
              </a:spcBef>
              <a:buFont typeface="Times New Roman"/>
              <a:buChar char="•"/>
              <a:tabLst>
                <a:tab pos="294005" algn="l"/>
              </a:tabLst>
            </a:pPr>
            <a:r>
              <a:rPr lang="en-US" sz="2600" spc="-40">
                <a:latin typeface="Adobe Clean"/>
                <a:cs typeface="Adobe Clean"/>
              </a:rPr>
              <a:t>This </a:t>
            </a:r>
            <a:r>
              <a:rPr sz="2600" spc="-40">
                <a:latin typeface="Adobe Clean"/>
                <a:cs typeface="Adobe Clean"/>
              </a:rPr>
              <a:t>matters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35" dirty="0">
                <a:latin typeface="Adobe Clean"/>
                <a:cs typeface="Adobe Clean"/>
              </a:rPr>
              <a:t>because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partial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lang="en-US" sz="2600" spc="-10">
                <a:latin typeface="Adobe Clean"/>
                <a:cs typeface="Adobe Clean"/>
              </a:rPr>
              <a:t>counts can look suspicious without context.</a:t>
            </a:r>
            <a:endParaRPr sz="2600" spc="-10">
              <a:latin typeface="Adobe Clean"/>
              <a:cs typeface="Adobe Cle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167" y="6083237"/>
            <a:ext cx="4848860" cy="2412365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spc="-45" dirty="0">
                <a:latin typeface="Adobe Clean"/>
                <a:cs typeface="Adobe Clean"/>
              </a:rPr>
              <a:t>Confidence</a:t>
            </a:r>
            <a:r>
              <a:rPr sz="2600" b="1" spc="-90" dirty="0">
                <a:latin typeface="Adobe Clean"/>
                <a:cs typeface="Adobe Clean"/>
              </a:rPr>
              <a:t> </a:t>
            </a:r>
            <a:r>
              <a:rPr sz="2600" b="1" spc="-45" dirty="0">
                <a:latin typeface="Adobe Clean"/>
                <a:cs typeface="Adobe Clean"/>
              </a:rPr>
              <a:t>in</a:t>
            </a:r>
            <a:r>
              <a:rPr sz="2600" b="1" spc="-85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counting</a:t>
            </a:r>
            <a:endParaRPr sz="2600">
              <a:latin typeface="Adobe Clean"/>
              <a:cs typeface="Adobe Clean"/>
            </a:endParaRPr>
          </a:p>
          <a:p>
            <a:pPr marL="292735" marR="5080" indent="-280670"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45" dirty="0">
                <a:latin typeface="Adobe Clean"/>
                <a:cs typeface="Adobe Clean"/>
              </a:rPr>
              <a:t>Seeing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30" dirty="0">
                <a:latin typeface="Adobe Clean"/>
                <a:cs typeface="Adobe Clean"/>
              </a:rPr>
              <a:t>live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30" dirty="0">
                <a:latin typeface="Adobe Clean"/>
                <a:cs typeface="Adobe Clean"/>
              </a:rPr>
              <a:t>forecasts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55" dirty="0">
                <a:latin typeface="Adobe Clean"/>
                <a:cs typeface="Adobe Clean"/>
              </a:rPr>
              <a:t>was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linked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to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lang="en-US" sz="2600" spc="-50">
                <a:latin typeface="Adobe Clean"/>
                <a:cs typeface="Adobe Clean"/>
              </a:rPr>
              <a:t>a </a:t>
            </a:r>
            <a:r>
              <a:rPr lang="en-US" sz="2600" spc="-45">
                <a:latin typeface="Adobe Clean"/>
                <a:cs typeface="Adobe Clean"/>
              </a:rPr>
              <a:t>small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rise</a:t>
            </a:r>
            <a:r>
              <a:rPr sz="2600" spc="-12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in</a:t>
            </a:r>
            <a:r>
              <a:rPr sz="2600" spc="-13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confidence.</a:t>
            </a:r>
            <a:endParaRPr sz="2600">
              <a:latin typeface="Adobe Clean"/>
              <a:cs typeface="Adobe Clean"/>
            </a:endParaRPr>
          </a:p>
          <a:p>
            <a:pPr marL="292735" marR="31115" indent="-280670">
              <a:spcBef>
                <a:spcPts val="365"/>
              </a:spcBef>
              <a:buFont typeface="Times New Roman"/>
              <a:buChar char="•"/>
              <a:tabLst>
                <a:tab pos="294005" algn="l"/>
              </a:tabLst>
            </a:pPr>
            <a:r>
              <a:rPr lang="en-US" sz="2600" spc="-25">
                <a:latin typeface="Adobe Clean"/>
                <a:cs typeface="Adobe Clean"/>
              </a:rPr>
              <a:t>The size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of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the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60" dirty="0">
                <a:latin typeface="Adobe Clean"/>
                <a:cs typeface="Adobe Clean"/>
              </a:rPr>
              <a:t>change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55" dirty="0">
                <a:latin typeface="Adobe Clean"/>
                <a:cs typeface="Adobe Clean"/>
              </a:rPr>
              <a:t>was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10">
                <a:latin typeface="Adobe Clean"/>
                <a:cs typeface="Adobe Clean"/>
              </a:rPr>
              <a:t>modest, </a:t>
            </a:r>
            <a:r>
              <a:rPr lang="en-US" sz="2600" spc="-10">
                <a:latin typeface="Adobe Clean"/>
                <a:cs typeface="Adobe Clean"/>
              </a:rPr>
              <a:t>not a dramatic shift.</a:t>
            </a:r>
            <a:endParaRPr sz="2600" spc="-25" dirty="0">
              <a:latin typeface="Adobe Clean"/>
              <a:cs typeface="Adobe Cle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5537" y="2206883"/>
            <a:ext cx="4893360" cy="37571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0187" y="2206883"/>
            <a:ext cx="4893360" cy="37571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875" y="2206883"/>
            <a:ext cx="4893348" cy="3757163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02147" y="663318"/>
            <a:ext cx="4902719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85" dirty="0">
                <a:latin typeface="Adobe Clean Black"/>
                <a:cs typeface="Adobe Clean Black"/>
              </a:rPr>
              <a:t>What</a:t>
            </a:r>
            <a:r>
              <a:rPr spc="-100" dirty="0">
                <a:latin typeface="Adobe Clean Black"/>
                <a:cs typeface="Adobe Clean Black"/>
              </a:rPr>
              <a:t> </a:t>
            </a:r>
            <a:r>
              <a:rPr spc="-60" dirty="0">
                <a:latin typeface="Adobe Clean Black"/>
                <a:cs typeface="Adobe Clean Black"/>
              </a:rPr>
              <a:t>Surveys</a:t>
            </a:r>
            <a:r>
              <a:rPr spc="-100" dirty="0">
                <a:latin typeface="Adobe Clean Black"/>
                <a:cs typeface="Adobe Clean Black"/>
              </a:rPr>
              <a:t> </a:t>
            </a:r>
            <a:r>
              <a:rPr spc="-20" dirty="0">
                <a:latin typeface="Adobe Clean Black"/>
                <a:cs typeface="Adobe Clean Black"/>
              </a:rPr>
              <a:t>Suggest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72233" y="9851923"/>
            <a:ext cx="2588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dobe Clean"/>
                <a:cs typeface="Adobe Clean"/>
              </a:rPr>
              <a:t>©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2026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All Rights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Reserved.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 </a:t>
            </a:r>
            <a:r>
              <a:rPr sz="900" spc="-10" dirty="0">
                <a:latin typeface="Adobe Clean"/>
                <a:cs typeface="Adobe Clean"/>
              </a:rPr>
              <a:t>Confidential.</a:t>
            </a:r>
            <a:endParaRPr sz="900">
              <a:latin typeface="Adobe Clean"/>
              <a:cs typeface="Adobe Cle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42825" y="6281775"/>
            <a:ext cx="4855845" cy="2824491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spc="-40" dirty="0">
                <a:latin typeface="Adobe Clean"/>
                <a:cs typeface="Adobe Clean"/>
              </a:rPr>
              <a:t>Forecasts:</a:t>
            </a:r>
            <a:r>
              <a:rPr sz="2600" b="1" spc="-70" dirty="0">
                <a:latin typeface="Adobe Clean"/>
                <a:cs typeface="Adobe Clean"/>
              </a:rPr>
              <a:t> </a:t>
            </a:r>
            <a:r>
              <a:rPr sz="2600" b="1" spc="-35" dirty="0">
                <a:latin typeface="Adobe Clean"/>
                <a:cs typeface="Adobe Clean"/>
              </a:rPr>
              <a:t>trusted,</a:t>
            </a:r>
            <a:r>
              <a:rPr sz="2600" b="1" spc="-70" dirty="0">
                <a:latin typeface="Adobe Clean"/>
                <a:cs typeface="Adobe Clean"/>
              </a:rPr>
              <a:t> </a:t>
            </a:r>
            <a:r>
              <a:rPr sz="2600" b="1" spc="-35" dirty="0">
                <a:latin typeface="Adobe Clean"/>
                <a:cs typeface="Adobe Clean"/>
              </a:rPr>
              <a:t>not</a:t>
            </a:r>
            <a:r>
              <a:rPr sz="2600" b="1" spc="-70" dirty="0">
                <a:latin typeface="Adobe Clean"/>
                <a:cs typeface="Adobe Clean"/>
              </a:rPr>
              <a:t> </a:t>
            </a:r>
            <a:r>
              <a:rPr sz="2600" b="1" spc="-55" dirty="0">
                <a:latin typeface="Adobe Clean"/>
                <a:cs typeface="Adobe Clean"/>
              </a:rPr>
              <a:t>always</a:t>
            </a:r>
            <a:r>
              <a:rPr sz="2600" b="1" spc="-70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useful</a:t>
            </a:r>
            <a:endParaRPr sz="2600">
              <a:latin typeface="Adobe Clean"/>
              <a:cs typeface="Adobe Clean"/>
            </a:endParaRPr>
          </a:p>
          <a:p>
            <a:pPr marL="292735" marR="590550" indent="-280670"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50" dirty="0">
                <a:latin typeface="Adobe Clean"/>
                <a:cs typeface="Adobe Clean"/>
              </a:rPr>
              <a:t>Many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35" dirty="0">
                <a:latin typeface="Adobe Clean"/>
                <a:cs typeface="Adobe Clean"/>
              </a:rPr>
              <a:t>found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lang="en-US" sz="2600" spc="-30" dirty="0">
                <a:latin typeface="Adobe Clean"/>
                <a:cs typeface="Adobe Clean"/>
              </a:rPr>
              <a:t>early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30" dirty="0">
                <a:latin typeface="Adobe Clean"/>
                <a:cs typeface="Adobe Clean"/>
              </a:rPr>
              <a:t>forecasts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25">
                <a:latin typeface="Adobe Clean"/>
                <a:cs typeface="Adobe Clean"/>
              </a:rPr>
              <a:t>too </a:t>
            </a:r>
            <a:r>
              <a:rPr lang="en-US" sz="2600" spc="-25">
                <a:latin typeface="Adobe Clean"/>
                <a:cs typeface="Adobe Clean"/>
              </a:rPr>
              <a:t>wide to guide expectations.</a:t>
            </a:r>
            <a:endParaRPr sz="2600" spc="-40">
              <a:latin typeface="Adobe Clean"/>
              <a:cs typeface="Adobe Clean"/>
            </a:endParaRPr>
          </a:p>
          <a:p>
            <a:pPr marL="292735" marR="5080" indent="-280670">
              <a:spcBef>
                <a:spcPts val="365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60" dirty="0">
                <a:latin typeface="Adobe Clean"/>
                <a:cs typeface="Adobe Clean"/>
              </a:rPr>
              <a:t>Later,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30" dirty="0">
                <a:latin typeface="Adobe Clean"/>
                <a:cs typeface="Adobe Clean"/>
              </a:rPr>
              <a:t>forecasts</a:t>
            </a:r>
            <a:r>
              <a:rPr sz="2600" spc="-90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often</a:t>
            </a:r>
            <a:r>
              <a:rPr sz="2600" spc="-90" dirty="0">
                <a:latin typeface="Adobe Clean"/>
                <a:cs typeface="Adobe Clean"/>
              </a:rPr>
              <a:t> </a:t>
            </a:r>
            <a:r>
              <a:rPr sz="2600" spc="-45" dirty="0">
                <a:latin typeface="Adobe Clean"/>
                <a:cs typeface="Adobe Clean"/>
              </a:rPr>
              <a:t>matched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lang="en-US" sz="2600" spc="-20">
                <a:latin typeface="Adobe Clean"/>
                <a:cs typeface="Adobe Clean"/>
              </a:rPr>
              <a:t>what </a:t>
            </a:r>
            <a:r>
              <a:rPr lang="en-US" sz="2600" spc="-35">
                <a:latin typeface="Adobe Clean"/>
                <a:cs typeface="Adobe Clean"/>
              </a:rPr>
              <a:t>seemed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spc="-45" dirty="0">
                <a:latin typeface="Adobe Clean"/>
                <a:cs typeface="Adobe Clean"/>
              </a:rPr>
              <a:t>already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obvious.</a:t>
            </a:r>
            <a:endParaRPr sz="2600">
              <a:latin typeface="Adobe Clean"/>
              <a:cs typeface="Adobe Cle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7492" y="6281909"/>
            <a:ext cx="4579620" cy="2424382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spc="-40" dirty="0">
                <a:latin typeface="Adobe Clean"/>
                <a:cs typeface="Adobe Clean"/>
              </a:rPr>
              <a:t>Agency</a:t>
            </a:r>
            <a:r>
              <a:rPr sz="2600" b="1" spc="-75" dirty="0">
                <a:latin typeface="Adobe Clean"/>
                <a:cs typeface="Adobe Clean"/>
              </a:rPr>
              <a:t> </a:t>
            </a:r>
            <a:r>
              <a:rPr sz="2600" b="1" spc="-45" dirty="0">
                <a:latin typeface="Adobe Clean"/>
                <a:cs typeface="Adobe Clean"/>
              </a:rPr>
              <a:t>over</a:t>
            </a:r>
            <a:r>
              <a:rPr sz="2600" b="1" spc="-70" dirty="0">
                <a:latin typeface="Adobe Clean"/>
                <a:cs typeface="Adobe Clean"/>
              </a:rPr>
              <a:t> </a:t>
            </a:r>
            <a:r>
              <a:rPr sz="2600" b="1" spc="-60" dirty="0">
                <a:latin typeface="Adobe Clean"/>
                <a:cs typeface="Adobe Clean"/>
              </a:rPr>
              <a:t>“media</a:t>
            </a:r>
            <a:r>
              <a:rPr sz="2600" b="1" spc="-75" dirty="0">
                <a:latin typeface="Adobe Clean"/>
                <a:cs typeface="Adobe Clean"/>
              </a:rPr>
              <a:t> </a:t>
            </a:r>
            <a:r>
              <a:rPr sz="2600" b="1" spc="-20" dirty="0">
                <a:latin typeface="Adobe Clean"/>
                <a:cs typeface="Adobe Clean"/>
              </a:rPr>
              <a:t>hype”</a:t>
            </a:r>
            <a:endParaRPr sz="2600">
              <a:latin typeface="Adobe Clean"/>
              <a:cs typeface="Adobe Clean"/>
            </a:endParaRPr>
          </a:p>
          <a:p>
            <a:pPr marL="292735" marR="5080" indent="-280670">
              <a:lnSpc>
                <a:spcPct val="100000"/>
              </a:lnSpc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50" dirty="0">
                <a:latin typeface="Adobe Clean"/>
                <a:cs typeface="Adobe Clean"/>
              </a:rPr>
              <a:t>People</a:t>
            </a:r>
            <a:r>
              <a:rPr sz="2600" spc="-80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liked</a:t>
            </a:r>
            <a:r>
              <a:rPr sz="2600" spc="-75" dirty="0">
                <a:latin typeface="Adobe Clean"/>
                <a:cs typeface="Adobe Clean"/>
              </a:rPr>
              <a:t> </a:t>
            </a:r>
            <a:r>
              <a:rPr sz="2600" spc="-55" dirty="0">
                <a:latin typeface="Adobe Clean"/>
                <a:cs typeface="Adobe Clean"/>
              </a:rPr>
              <a:t>checking</a:t>
            </a:r>
            <a:r>
              <a:rPr sz="2600" spc="-80" dirty="0">
                <a:latin typeface="Adobe Clean"/>
                <a:cs typeface="Adobe Clean"/>
              </a:rPr>
              <a:t> </a:t>
            </a:r>
            <a:r>
              <a:rPr sz="2600" spc="-45" dirty="0">
                <a:latin typeface="Adobe Clean"/>
                <a:cs typeface="Adobe Clean"/>
              </a:rPr>
              <a:t>updates</a:t>
            </a:r>
            <a:r>
              <a:rPr sz="2600" spc="-75" dirty="0">
                <a:latin typeface="Adobe Clean"/>
                <a:cs typeface="Adobe Clean"/>
              </a:rPr>
              <a:t> </a:t>
            </a:r>
            <a:r>
              <a:rPr sz="2600" spc="-25">
                <a:latin typeface="Adobe Clean"/>
                <a:cs typeface="Adobe Clean"/>
              </a:rPr>
              <a:t>on </a:t>
            </a:r>
            <a:r>
              <a:rPr sz="2600" spc="-35">
                <a:latin typeface="Adobe Clean"/>
                <a:cs typeface="Adobe Clean"/>
              </a:rPr>
              <a:t>their</a:t>
            </a:r>
            <a:r>
              <a:rPr sz="2600" spc="-114" dirty="0">
                <a:latin typeface="Adobe Clean"/>
                <a:cs typeface="Adobe Clean"/>
              </a:rPr>
              <a:t> </a:t>
            </a:r>
            <a:r>
              <a:rPr sz="2600" spc="-20" dirty="0">
                <a:latin typeface="Adobe Clean"/>
                <a:cs typeface="Adobe Clean"/>
              </a:rPr>
              <a:t>own</a:t>
            </a:r>
            <a:r>
              <a:rPr sz="2600" spc="-130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schedule.</a:t>
            </a:r>
            <a:endParaRPr sz="2600">
              <a:latin typeface="Adobe Clean"/>
              <a:cs typeface="Adobe Clean"/>
            </a:endParaRPr>
          </a:p>
          <a:p>
            <a:pPr marL="292735" marR="386080" indent="-280670">
              <a:spcBef>
                <a:spcPts val="365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40" dirty="0">
                <a:latin typeface="Adobe Clean"/>
                <a:cs typeface="Adobe Clean"/>
              </a:rPr>
              <a:t>The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minimalist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display</a:t>
            </a:r>
            <a:r>
              <a:rPr sz="2600" spc="-90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felt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lang="en-US" sz="2600" spc="-20">
                <a:latin typeface="Adobe Clean"/>
                <a:cs typeface="Adobe Clean"/>
              </a:rPr>
              <a:t>less </a:t>
            </a:r>
            <a:r>
              <a:rPr lang="en-US" sz="2600" spc="-50">
                <a:latin typeface="Adobe Clean"/>
                <a:cs typeface="Adobe Clean"/>
              </a:rPr>
              <a:t>dramatic</a:t>
            </a:r>
            <a:r>
              <a:rPr sz="2600" spc="-80" dirty="0">
                <a:latin typeface="Adobe Clean"/>
                <a:cs typeface="Adobe Clean"/>
              </a:rPr>
              <a:t> </a:t>
            </a:r>
            <a:r>
              <a:rPr sz="2600" spc="-35" dirty="0">
                <a:latin typeface="Adobe Clean"/>
                <a:cs typeface="Adobe Clean"/>
              </a:rPr>
              <a:t>than</a:t>
            </a:r>
            <a:r>
              <a:rPr sz="2600" spc="-75" dirty="0">
                <a:latin typeface="Adobe Clean"/>
                <a:cs typeface="Adobe Clean"/>
              </a:rPr>
              <a:t> </a:t>
            </a:r>
            <a:r>
              <a:rPr sz="2600" dirty="0">
                <a:latin typeface="Adobe Clean"/>
                <a:cs typeface="Adobe Clean"/>
              </a:rPr>
              <a:t>TV</a:t>
            </a:r>
            <a:r>
              <a:rPr sz="2600" spc="-7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coverage.</a:t>
            </a:r>
            <a:endParaRPr sz="2600">
              <a:latin typeface="Adobe Clean"/>
              <a:cs typeface="Adobe Cle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167" y="6281909"/>
            <a:ext cx="4618990" cy="2824491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dirty="0">
                <a:latin typeface="Adobe Clean"/>
                <a:cs typeface="Adobe Clean"/>
              </a:rPr>
              <a:t>A</a:t>
            </a:r>
            <a:r>
              <a:rPr sz="2600" b="1" spc="-110" dirty="0">
                <a:latin typeface="Adobe Clean"/>
                <a:cs typeface="Adobe Clean"/>
              </a:rPr>
              <a:t> </a:t>
            </a:r>
            <a:r>
              <a:rPr sz="2600" b="1" spc="-35" dirty="0">
                <a:latin typeface="Adobe Clean"/>
                <a:cs typeface="Adobe Clean"/>
              </a:rPr>
              <a:t>calm</a:t>
            </a:r>
            <a:r>
              <a:rPr sz="2600" b="1" spc="-105" dirty="0">
                <a:latin typeface="Adobe Clean"/>
                <a:cs typeface="Adobe Clean"/>
              </a:rPr>
              <a:t> </a:t>
            </a:r>
            <a:r>
              <a:rPr sz="2600" b="1" spc="-45" dirty="0">
                <a:latin typeface="Adobe Clean"/>
                <a:cs typeface="Adobe Clean"/>
              </a:rPr>
              <a:t>place</a:t>
            </a:r>
            <a:r>
              <a:rPr sz="2600" b="1" spc="-105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to</a:t>
            </a:r>
            <a:r>
              <a:rPr sz="2600" b="1" spc="-105" dirty="0">
                <a:latin typeface="Adobe Clean"/>
                <a:cs typeface="Adobe Clean"/>
              </a:rPr>
              <a:t> </a:t>
            </a:r>
            <a:r>
              <a:rPr sz="2600" b="1" spc="-45" dirty="0">
                <a:latin typeface="Adobe Clean"/>
                <a:cs typeface="Adobe Clean"/>
              </a:rPr>
              <a:t>check</a:t>
            </a:r>
            <a:r>
              <a:rPr sz="2600" b="1" spc="-105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results</a:t>
            </a:r>
            <a:endParaRPr sz="2600">
              <a:latin typeface="Adobe Clean"/>
              <a:cs typeface="Adobe Clean"/>
            </a:endParaRPr>
          </a:p>
          <a:p>
            <a:pPr marL="292735" marR="5080" indent="-280670"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40" dirty="0">
                <a:latin typeface="Adobe Clean"/>
                <a:cs typeface="Adobe Clean"/>
              </a:rPr>
              <a:t>Participants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45" dirty="0">
                <a:latin typeface="Adobe Clean"/>
                <a:cs typeface="Adobe Clean"/>
              </a:rPr>
              <a:t>treated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dirty="0">
                <a:latin typeface="Adobe Clean"/>
                <a:cs typeface="Adobe Clean"/>
              </a:rPr>
              <a:t>it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35" dirty="0">
                <a:latin typeface="Adobe Clean"/>
                <a:cs typeface="Adobe Clean"/>
              </a:rPr>
              <a:t>as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dirty="0">
                <a:latin typeface="Adobe Clean"/>
                <a:cs typeface="Adobe Clean"/>
              </a:rPr>
              <a:t>a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20">
                <a:latin typeface="Adobe Clean"/>
                <a:cs typeface="Adobe Clean"/>
              </a:rPr>
              <a:t>neutral,</a:t>
            </a:r>
            <a:r>
              <a:rPr lang="en-US" sz="2600" spc="-20">
                <a:latin typeface="Adobe Clean"/>
                <a:cs typeface="Adobe Clean"/>
              </a:rPr>
              <a:t> numbers-first reference point.</a:t>
            </a:r>
          </a:p>
          <a:p>
            <a:pPr marL="292735" marR="16510" indent="-280670">
              <a:spcBef>
                <a:spcPts val="365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40" dirty="0">
                <a:latin typeface="Adobe Clean"/>
                <a:cs typeface="Adobe Clean"/>
              </a:rPr>
              <a:t>They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used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dirty="0">
                <a:latin typeface="Adobe Clean"/>
                <a:cs typeface="Adobe Clean"/>
              </a:rPr>
              <a:t>it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to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35" dirty="0">
                <a:latin typeface="Adobe Clean"/>
                <a:cs typeface="Adobe Clean"/>
              </a:rPr>
              <a:t>confirm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spc="-55" dirty="0">
                <a:latin typeface="Adobe Clean"/>
                <a:cs typeface="Adobe Clean"/>
              </a:rPr>
              <a:t>what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20">
                <a:latin typeface="Adobe Clean"/>
                <a:cs typeface="Adobe Clean"/>
              </a:rPr>
              <a:t>they</a:t>
            </a:r>
            <a:r>
              <a:rPr lang="en-US" sz="2600" spc="-20">
                <a:latin typeface="Adobe Clean"/>
                <a:cs typeface="Adobe Clean"/>
              </a:rPr>
              <a:t> were hearing elsewhere.</a:t>
            </a:r>
            <a:endParaRPr sz="2600" spc="-30">
              <a:latin typeface="Adobe Clean"/>
              <a:cs typeface="Adobe Cle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5525" y="2405557"/>
            <a:ext cx="4893348" cy="37571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0200" y="2405557"/>
            <a:ext cx="4893360" cy="37571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875" y="2405557"/>
            <a:ext cx="4893348" cy="3757162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02147" y="638325"/>
            <a:ext cx="7350185" cy="740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700" spc="-105" dirty="0">
                <a:latin typeface="Adobe Clean Black"/>
                <a:cs typeface="Adobe Clean Black"/>
              </a:rPr>
              <a:t>What</a:t>
            </a:r>
            <a:r>
              <a:rPr sz="4700" spc="-140" dirty="0">
                <a:latin typeface="Adobe Clean Black"/>
                <a:cs typeface="Adobe Clean Black"/>
              </a:rPr>
              <a:t> </a:t>
            </a:r>
            <a:r>
              <a:rPr sz="4700" spc="-80" dirty="0">
                <a:latin typeface="Adobe Clean Black"/>
                <a:cs typeface="Adobe Clean Black"/>
              </a:rPr>
              <a:t>Interviews</a:t>
            </a:r>
            <a:r>
              <a:rPr sz="4700" spc="-135" dirty="0">
                <a:latin typeface="Adobe Clean Black"/>
                <a:cs typeface="Adobe Clean Black"/>
              </a:rPr>
              <a:t> </a:t>
            </a:r>
            <a:r>
              <a:rPr sz="4700" spc="-55" dirty="0">
                <a:latin typeface="Adobe Clean Black"/>
                <a:cs typeface="Adobe Clean Black"/>
              </a:rPr>
              <a:t>Revealed</a:t>
            </a:r>
            <a:endParaRPr sz="4700">
              <a:latin typeface="Adobe Clean Black"/>
              <a:cs typeface="Adobe Clean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7929" y="9851923"/>
            <a:ext cx="2588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dobe Clean"/>
                <a:cs typeface="Adobe Clean"/>
              </a:rPr>
              <a:t>©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2026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All Rights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Reserved.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 </a:t>
            </a:r>
            <a:r>
              <a:rPr sz="900" spc="-10" dirty="0">
                <a:latin typeface="Adobe Clean"/>
                <a:cs typeface="Adobe Clean"/>
              </a:rPr>
              <a:t>Confidential.</a:t>
            </a:r>
            <a:endParaRPr sz="900">
              <a:latin typeface="Adobe Clean"/>
              <a:cs typeface="Adobe Cle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1700" y="1816003"/>
            <a:ext cx="7305040" cy="6513963"/>
          </a:xfrm>
          <a:prstGeom prst="rect">
            <a:avLst/>
          </a:prstGeom>
        </p:spPr>
        <p:txBody>
          <a:bodyPr vert="horz" wrap="square" lIns="0" tIns="17462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2250" b="1" spc="-25" dirty="0">
                <a:latin typeface="Adobe Clean"/>
                <a:cs typeface="Adobe Clean"/>
              </a:rPr>
              <a:t>Uncertainty</a:t>
            </a:r>
            <a:r>
              <a:rPr sz="2250" b="1" spc="-95" dirty="0">
                <a:latin typeface="Adobe Clean"/>
                <a:cs typeface="Adobe Clean"/>
              </a:rPr>
              <a:t> </a:t>
            </a:r>
            <a:r>
              <a:rPr sz="2250" b="1" dirty="0">
                <a:latin typeface="Adobe Clean"/>
                <a:cs typeface="Adobe Clean"/>
              </a:rPr>
              <a:t>can</a:t>
            </a:r>
            <a:r>
              <a:rPr sz="2250" b="1" spc="-95" dirty="0">
                <a:latin typeface="Adobe Clean"/>
                <a:cs typeface="Adobe Clean"/>
              </a:rPr>
              <a:t> </a:t>
            </a:r>
            <a:r>
              <a:rPr sz="2250" b="1" spc="-10" dirty="0">
                <a:latin typeface="Adobe Clean"/>
                <a:cs typeface="Adobe Clean"/>
              </a:rPr>
              <a:t>feel</a:t>
            </a:r>
            <a:r>
              <a:rPr sz="2250" b="1" spc="-95" dirty="0">
                <a:latin typeface="Adobe Clean"/>
                <a:cs typeface="Adobe Clean"/>
              </a:rPr>
              <a:t> </a:t>
            </a:r>
            <a:r>
              <a:rPr sz="2250" b="1" spc="-10" dirty="0">
                <a:latin typeface="Adobe Clean"/>
                <a:cs typeface="Adobe Clean"/>
              </a:rPr>
              <a:t>unhelpful</a:t>
            </a:r>
            <a:endParaRPr sz="2250">
              <a:latin typeface="Adobe Clean"/>
              <a:cs typeface="Adobe Clean"/>
            </a:endParaRPr>
          </a:p>
          <a:p>
            <a:pPr marL="260985" marR="292100" indent="-248920">
              <a:spcBef>
                <a:spcPts val="1265"/>
              </a:spcBef>
              <a:buFont typeface="Times New Roman"/>
              <a:buChar char="•"/>
              <a:tabLst>
                <a:tab pos="260985" algn="l"/>
              </a:tabLst>
            </a:pPr>
            <a:r>
              <a:rPr sz="2300" spc="-30" dirty="0">
                <a:latin typeface="Adobe Clean"/>
                <a:cs typeface="Adobe Clean"/>
              </a:rPr>
              <a:t>Early</a:t>
            </a:r>
            <a:r>
              <a:rPr sz="2300" spc="-90" dirty="0">
                <a:latin typeface="Adobe Clean"/>
                <a:cs typeface="Adobe Clean"/>
              </a:rPr>
              <a:t> </a:t>
            </a:r>
            <a:r>
              <a:rPr sz="2300" spc="-35" dirty="0">
                <a:latin typeface="Adobe Clean"/>
                <a:cs typeface="Adobe Clean"/>
              </a:rPr>
              <a:t>forecasts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50" dirty="0">
                <a:latin typeface="Adobe Clean"/>
                <a:cs typeface="Adobe Clean"/>
              </a:rPr>
              <a:t>were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30" dirty="0">
                <a:latin typeface="Adobe Clean"/>
                <a:cs typeface="Adobe Clean"/>
              </a:rPr>
              <a:t>often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dirty="0">
                <a:latin typeface="Adobe Clean"/>
                <a:cs typeface="Adobe Clean"/>
              </a:rPr>
              <a:t>very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40" dirty="0">
                <a:latin typeface="Adobe Clean"/>
                <a:cs typeface="Adobe Clean"/>
              </a:rPr>
              <a:t>wide,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55" dirty="0">
                <a:latin typeface="Adobe Clean"/>
                <a:cs typeface="Adobe Clean"/>
              </a:rPr>
              <a:t>signaling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20" dirty="0">
                <a:latin typeface="Adobe Clean"/>
                <a:cs typeface="Adobe Clean"/>
              </a:rPr>
              <a:t>“we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sz="2300" spc="-35" dirty="0">
                <a:latin typeface="Adobe Clean"/>
                <a:cs typeface="Adobe Clean"/>
              </a:rPr>
              <a:t>still</a:t>
            </a:r>
            <a:r>
              <a:rPr sz="2300" spc="-85" dirty="0">
                <a:latin typeface="Adobe Clean"/>
                <a:cs typeface="Adobe Clean"/>
              </a:rPr>
              <a:t> </a:t>
            </a:r>
            <a:r>
              <a:rPr lang="en-US" sz="2300" spc="-10">
                <a:latin typeface="Adobe Clean"/>
                <a:cs typeface="Adobe Clean"/>
              </a:rPr>
              <a:t>don’t know</a:t>
            </a:r>
            <a:r>
              <a:rPr sz="2300" spc="-10">
                <a:latin typeface="Adobe Clean"/>
                <a:cs typeface="Adobe Clean"/>
              </a:rPr>
              <a:t>.”</a:t>
            </a:r>
            <a:endParaRPr sz="2300">
              <a:latin typeface="Adobe Clean"/>
              <a:cs typeface="Adobe Clean"/>
            </a:endParaRPr>
          </a:p>
          <a:p>
            <a:pPr marL="260985" marR="1089025" indent="-248920">
              <a:lnSpc>
                <a:spcPct val="100000"/>
              </a:lnSpc>
              <a:spcBef>
                <a:spcPts val="320"/>
              </a:spcBef>
              <a:buFont typeface="Times New Roman"/>
              <a:buChar char="•"/>
              <a:tabLst>
                <a:tab pos="260985" algn="l"/>
              </a:tabLst>
            </a:pPr>
            <a:r>
              <a:rPr sz="2300" spc="-40" dirty="0">
                <a:latin typeface="Adobe Clean"/>
                <a:cs typeface="Adobe Clean"/>
              </a:rPr>
              <a:t>Some</a:t>
            </a:r>
            <a:r>
              <a:rPr sz="2300" spc="-75" dirty="0">
                <a:latin typeface="Adobe Clean"/>
                <a:cs typeface="Adobe Clean"/>
              </a:rPr>
              <a:t> </a:t>
            </a:r>
            <a:r>
              <a:rPr sz="2300" spc="-35" dirty="0">
                <a:latin typeface="Adobe Clean"/>
                <a:cs typeface="Adobe Clean"/>
              </a:rPr>
              <a:t>viewers</a:t>
            </a:r>
            <a:r>
              <a:rPr sz="2300" spc="-70" dirty="0">
                <a:latin typeface="Adobe Clean"/>
                <a:cs typeface="Adobe Clean"/>
              </a:rPr>
              <a:t> </a:t>
            </a:r>
            <a:r>
              <a:rPr sz="2300" spc="-35" dirty="0">
                <a:latin typeface="Adobe Clean"/>
                <a:cs typeface="Adobe Clean"/>
              </a:rPr>
              <a:t>understood</a:t>
            </a:r>
            <a:r>
              <a:rPr sz="2300" spc="-75" dirty="0">
                <a:latin typeface="Adobe Clean"/>
                <a:cs typeface="Adobe Clean"/>
              </a:rPr>
              <a:t> </a:t>
            </a:r>
            <a:r>
              <a:rPr sz="2300" spc="-45" dirty="0">
                <a:latin typeface="Adobe Clean"/>
                <a:cs typeface="Adobe Clean"/>
              </a:rPr>
              <a:t>that</a:t>
            </a:r>
            <a:r>
              <a:rPr sz="2300" spc="-70" dirty="0">
                <a:latin typeface="Adobe Clean"/>
                <a:cs typeface="Adobe Clean"/>
              </a:rPr>
              <a:t> </a:t>
            </a:r>
            <a:r>
              <a:rPr sz="2300" spc="-40" dirty="0">
                <a:latin typeface="Adobe Clean"/>
                <a:cs typeface="Adobe Clean"/>
              </a:rPr>
              <a:t>message,</a:t>
            </a:r>
            <a:r>
              <a:rPr sz="2300" spc="-75" dirty="0">
                <a:latin typeface="Adobe Clean"/>
                <a:cs typeface="Adobe Clean"/>
              </a:rPr>
              <a:t> </a:t>
            </a:r>
            <a:r>
              <a:rPr sz="2300" spc="-30" dirty="0">
                <a:latin typeface="Adobe Clean"/>
                <a:cs typeface="Adobe Clean"/>
              </a:rPr>
              <a:t>but</a:t>
            </a:r>
            <a:r>
              <a:rPr sz="2300" spc="-70" dirty="0">
                <a:latin typeface="Adobe Clean"/>
                <a:cs typeface="Adobe Clean"/>
              </a:rPr>
              <a:t> </a:t>
            </a:r>
            <a:r>
              <a:rPr sz="2300" spc="-40" dirty="0">
                <a:latin typeface="Adobe Clean"/>
                <a:cs typeface="Adobe Clean"/>
              </a:rPr>
              <a:t>found</a:t>
            </a:r>
            <a:r>
              <a:rPr sz="2300" spc="-75" dirty="0">
                <a:latin typeface="Adobe Clean"/>
                <a:cs typeface="Adobe Clean"/>
              </a:rPr>
              <a:t> </a:t>
            </a:r>
            <a:r>
              <a:rPr sz="2300" spc="-25" dirty="0">
                <a:latin typeface="Adobe Clean"/>
                <a:cs typeface="Adobe Clean"/>
              </a:rPr>
              <a:t>it </a:t>
            </a:r>
            <a:r>
              <a:rPr sz="2300" spc="-10" dirty="0">
                <a:latin typeface="Adobe Clean"/>
                <a:cs typeface="Adobe Clean"/>
              </a:rPr>
              <a:t>unsatisfying.</a:t>
            </a:r>
            <a:endParaRPr sz="2300" dirty="0">
              <a:latin typeface="Adobe Clean"/>
              <a:cs typeface="Adobe Clean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250" b="1" spc="-20" dirty="0">
                <a:latin typeface="Adobe Clean"/>
                <a:cs typeface="Adobe Clean"/>
              </a:rPr>
              <a:t>Certainty</a:t>
            </a:r>
            <a:r>
              <a:rPr sz="2250" b="1" spc="-100" dirty="0">
                <a:latin typeface="Adobe Clean"/>
                <a:cs typeface="Adobe Clean"/>
              </a:rPr>
              <a:t> </a:t>
            </a:r>
            <a:r>
              <a:rPr sz="2250" b="1" dirty="0">
                <a:latin typeface="Adobe Clean"/>
                <a:cs typeface="Adobe Clean"/>
              </a:rPr>
              <a:t>can</a:t>
            </a:r>
            <a:r>
              <a:rPr sz="2250" b="1" spc="-95" dirty="0">
                <a:latin typeface="Adobe Clean"/>
                <a:cs typeface="Adobe Clean"/>
              </a:rPr>
              <a:t> </a:t>
            </a:r>
            <a:r>
              <a:rPr sz="2250" b="1" spc="-10" dirty="0">
                <a:latin typeface="Adobe Clean"/>
                <a:cs typeface="Adobe Clean"/>
              </a:rPr>
              <a:t>feel</a:t>
            </a:r>
            <a:r>
              <a:rPr sz="2250" b="1" spc="-95" dirty="0">
                <a:latin typeface="Adobe Clean"/>
                <a:cs typeface="Adobe Clean"/>
              </a:rPr>
              <a:t> </a:t>
            </a:r>
            <a:r>
              <a:rPr sz="2250" b="1" spc="-10" dirty="0">
                <a:latin typeface="Adobe Clean"/>
                <a:cs typeface="Adobe Clean"/>
              </a:rPr>
              <a:t>unnecessary</a:t>
            </a:r>
            <a:endParaRPr sz="2250">
              <a:latin typeface="Adobe Clean"/>
              <a:cs typeface="Adobe Clean"/>
            </a:endParaRPr>
          </a:p>
          <a:p>
            <a:pPr marL="260985" marR="219075" indent="-248920">
              <a:spcBef>
                <a:spcPts val="1265"/>
              </a:spcBef>
              <a:buFont typeface="Times New Roman"/>
              <a:buChar char="•"/>
              <a:tabLst>
                <a:tab pos="260985" algn="l"/>
              </a:tabLst>
            </a:pPr>
            <a:r>
              <a:rPr sz="2300" spc="-55" dirty="0">
                <a:latin typeface="Adobe Clean"/>
                <a:cs typeface="Adobe Clean"/>
              </a:rPr>
              <a:t>Later,</a:t>
            </a:r>
            <a:r>
              <a:rPr sz="2300" spc="-70" dirty="0">
                <a:latin typeface="Adobe Clean"/>
                <a:cs typeface="Adobe Clean"/>
              </a:rPr>
              <a:t> </a:t>
            </a:r>
            <a:r>
              <a:rPr sz="2300" spc="-35" dirty="0">
                <a:latin typeface="Adobe Clean"/>
                <a:cs typeface="Adobe Clean"/>
              </a:rPr>
              <a:t>forecasts</a:t>
            </a:r>
            <a:r>
              <a:rPr sz="2300" spc="-65" dirty="0">
                <a:latin typeface="Adobe Clean"/>
                <a:cs typeface="Adobe Clean"/>
              </a:rPr>
              <a:t> </a:t>
            </a:r>
            <a:r>
              <a:rPr sz="2300" spc="-40" dirty="0">
                <a:latin typeface="Adobe Clean"/>
                <a:cs typeface="Adobe Clean"/>
              </a:rPr>
              <a:t>sometimes</a:t>
            </a:r>
            <a:r>
              <a:rPr sz="2300" spc="-70" dirty="0">
                <a:latin typeface="Adobe Clean"/>
                <a:cs typeface="Adobe Clean"/>
              </a:rPr>
              <a:t> </a:t>
            </a:r>
            <a:r>
              <a:rPr sz="2300" spc="-45" dirty="0">
                <a:latin typeface="Adobe Clean"/>
                <a:cs typeface="Adobe Clean"/>
              </a:rPr>
              <a:t>matched</a:t>
            </a:r>
            <a:r>
              <a:rPr sz="2300" spc="-65" dirty="0">
                <a:latin typeface="Adobe Clean"/>
                <a:cs typeface="Adobe Clean"/>
              </a:rPr>
              <a:t> </a:t>
            </a:r>
            <a:r>
              <a:rPr sz="2300" spc="-60" dirty="0">
                <a:latin typeface="Adobe Clean"/>
                <a:cs typeface="Adobe Clean"/>
              </a:rPr>
              <a:t>what</a:t>
            </a:r>
            <a:r>
              <a:rPr sz="2300" spc="-70" dirty="0">
                <a:latin typeface="Adobe Clean"/>
                <a:cs typeface="Adobe Clean"/>
              </a:rPr>
              <a:t> </a:t>
            </a:r>
            <a:r>
              <a:rPr sz="2300" spc="-40" dirty="0">
                <a:latin typeface="Adobe Clean"/>
                <a:cs typeface="Adobe Clean"/>
              </a:rPr>
              <a:t>vote</a:t>
            </a:r>
            <a:r>
              <a:rPr sz="2300" spc="-65" dirty="0">
                <a:latin typeface="Adobe Clean"/>
                <a:cs typeface="Adobe Clean"/>
              </a:rPr>
              <a:t> </a:t>
            </a:r>
            <a:r>
              <a:rPr sz="2300" spc="-35" dirty="0">
                <a:latin typeface="Adobe Clean"/>
                <a:cs typeface="Adobe Clean"/>
              </a:rPr>
              <a:t>totals</a:t>
            </a:r>
            <a:r>
              <a:rPr sz="2300" spc="-65" dirty="0">
                <a:latin typeface="Adobe Clean"/>
                <a:cs typeface="Adobe Clean"/>
              </a:rPr>
              <a:t> </a:t>
            </a:r>
            <a:r>
              <a:rPr lang="en-US" sz="2300" spc="-10">
                <a:latin typeface="Adobe Clean"/>
                <a:cs typeface="Adobe Clean"/>
              </a:rPr>
              <a:t>already suggested</a:t>
            </a:r>
            <a:r>
              <a:rPr sz="2300" spc="-10">
                <a:latin typeface="Adobe Clean"/>
                <a:cs typeface="Adobe Clean"/>
              </a:rPr>
              <a:t>.</a:t>
            </a:r>
            <a:endParaRPr sz="2300">
              <a:latin typeface="Adobe Clean"/>
              <a:cs typeface="Adobe Clean"/>
            </a:endParaRPr>
          </a:p>
          <a:p>
            <a:pPr marL="260985" marR="138430" indent="-248920">
              <a:spcBef>
                <a:spcPts val="320"/>
              </a:spcBef>
              <a:buFont typeface="Times New Roman"/>
              <a:buChar char="•"/>
              <a:tabLst>
                <a:tab pos="260985" algn="l"/>
              </a:tabLst>
            </a:pPr>
            <a:r>
              <a:rPr sz="2300" spc="-45" dirty="0">
                <a:latin typeface="Adobe Clean"/>
                <a:cs typeface="Adobe Clean"/>
              </a:rPr>
              <a:t>Once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sz="2300" spc="-40" dirty="0">
                <a:latin typeface="Adobe Clean"/>
                <a:cs typeface="Adobe Clean"/>
              </a:rPr>
              <a:t>the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sz="2300" spc="-40" dirty="0">
                <a:latin typeface="Adobe Clean"/>
                <a:cs typeface="Adobe Clean"/>
              </a:rPr>
              <a:t>likely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sz="2300" spc="-50" dirty="0">
                <a:latin typeface="Adobe Clean"/>
                <a:cs typeface="Adobe Clean"/>
              </a:rPr>
              <a:t>winner</a:t>
            </a:r>
            <a:r>
              <a:rPr sz="2300" spc="-75" dirty="0">
                <a:latin typeface="Adobe Clean"/>
                <a:cs typeface="Adobe Clean"/>
              </a:rPr>
              <a:t> </a:t>
            </a:r>
            <a:r>
              <a:rPr sz="2300" spc="-20" dirty="0">
                <a:latin typeface="Adobe Clean"/>
                <a:cs typeface="Adobe Clean"/>
              </a:rPr>
              <a:t>felt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sz="2300" spc="-35" dirty="0">
                <a:latin typeface="Adobe Clean"/>
                <a:cs typeface="Adobe Clean"/>
              </a:rPr>
              <a:t>obvious,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sz="2300" spc="-35" dirty="0">
                <a:latin typeface="Adobe Clean"/>
                <a:cs typeface="Adobe Clean"/>
              </a:rPr>
              <a:t>forecasts</a:t>
            </a:r>
            <a:r>
              <a:rPr sz="2300" spc="-75" dirty="0">
                <a:latin typeface="Adobe Clean"/>
                <a:cs typeface="Adobe Clean"/>
              </a:rPr>
              <a:t> </a:t>
            </a:r>
            <a:r>
              <a:rPr sz="2300" spc="-40" dirty="0">
                <a:latin typeface="Adobe Clean"/>
                <a:cs typeface="Adobe Clean"/>
              </a:rPr>
              <a:t>added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sz="2300" spc="-30" dirty="0">
                <a:latin typeface="Adobe Clean"/>
                <a:cs typeface="Adobe Clean"/>
              </a:rPr>
              <a:t>little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lang="en-US" sz="2300" spc="-25">
                <a:latin typeface="Adobe Clean"/>
                <a:cs typeface="Adobe Clean"/>
              </a:rPr>
              <a:t>new </a:t>
            </a:r>
            <a:r>
              <a:rPr lang="en-US" sz="2300" spc="-10">
                <a:latin typeface="Adobe Clean"/>
                <a:cs typeface="Adobe Clean"/>
              </a:rPr>
              <a:t>value</a:t>
            </a:r>
            <a:r>
              <a:rPr sz="2300" spc="-10" dirty="0">
                <a:latin typeface="Adobe Clean"/>
                <a:cs typeface="Adobe Clean"/>
              </a:rPr>
              <a:t>.</a:t>
            </a:r>
            <a:endParaRPr sz="2300" dirty="0">
              <a:latin typeface="Adobe Clean"/>
              <a:cs typeface="Adobe Clean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250" b="1" dirty="0">
                <a:latin typeface="Adobe Clean"/>
                <a:cs typeface="Adobe Clean"/>
              </a:rPr>
              <a:t>A</a:t>
            </a:r>
            <a:r>
              <a:rPr sz="2250" b="1" spc="-75" dirty="0">
                <a:latin typeface="Adobe Clean"/>
                <a:cs typeface="Adobe Clean"/>
              </a:rPr>
              <a:t> </a:t>
            </a:r>
            <a:r>
              <a:rPr sz="2250" b="1" spc="-30" dirty="0">
                <a:latin typeface="Adobe Clean"/>
                <a:cs typeface="Adobe Clean"/>
              </a:rPr>
              <a:t>design</a:t>
            </a:r>
            <a:r>
              <a:rPr sz="2250" b="1" spc="-75" dirty="0">
                <a:latin typeface="Adobe Clean"/>
                <a:cs typeface="Adobe Clean"/>
              </a:rPr>
              <a:t> </a:t>
            </a:r>
            <a:r>
              <a:rPr sz="2250" b="1" spc="-40" dirty="0">
                <a:latin typeface="Adobe Clean"/>
                <a:cs typeface="Adobe Clean"/>
              </a:rPr>
              <a:t>balancing</a:t>
            </a:r>
            <a:r>
              <a:rPr sz="2250" b="1" spc="-70" dirty="0">
                <a:latin typeface="Adobe Clean"/>
                <a:cs typeface="Adobe Clean"/>
              </a:rPr>
              <a:t> </a:t>
            </a:r>
            <a:r>
              <a:rPr sz="2250" b="1" spc="-25" dirty="0">
                <a:latin typeface="Adobe Clean"/>
                <a:cs typeface="Adobe Clean"/>
              </a:rPr>
              <a:t>act</a:t>
            </a:r>
            <a:endParaRPr sz="2250">
              <a:latin typeface="Adobe Clean"/>
              <a:cs typeface="Adobe Clean"/>
            </a:endParaRPr>
          </a:p>
          <a:p>
            <a:pPr marL="260985" indent="-248285">
              <a:lnSpc>
                <a:spcPct val="100000"/>
              </a:lnSpc>
              <a:spcBef>
                <a:spcPts val="1265"/>
              </a:spcBef>
              <a:buFont typeface="Times New Roman"/>
              <a:buChar char="•"/>
              <a:tabLst>
                <a:tab pos="260985" algn="l"/>
              </a:tabLst>
            </a:pPr>
            <a:r>
              <a:rPr sz="2300" spc="-40" dirty="0">
                <a:latin typeface="Adobe Clean"/>
                <a:cs typeface="Adobe Clean"/>
              </a:rPr>
              <a:t>Forecasts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sz="2300" spc="-45" dirty="0">
                <a:latin typeface="Adobe Clean"/>
                <a:cs typeface="Adobe Clean"/>
              </a:rPr>
              <a:t>seemed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sz="2300" spc="-20" dirty="0">
                <a:latin typeface="Adobe Clean"/>
                <a:cs typeface="Adobe Clean"/>
              </a:rPr>
              <a:t>most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sz="2300" spc="-35" dirty="0">
                <a:latin typeface="Adobe Clean"/>
                <a:cs typeface="Adobe Clean"/>
              </a:rPr>
              <a:t>“useful”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sz="2300" spc="-60" dirty="0">
                <a:latin typeface="Adobe Clean"/>
                <a:cs typeface="Adobe Clean"/>
              </a:rPr>
              <a:t>when</a:t>
            </a:r>
            <a:r>
              <a:rPr sz="2300" spc="-75" dirty="0">
                <a:latin typeface="Adobe Clean"/>
                <a:cs typeface="Adobe Clean"/>
              </a:rPr>
              <a:t> </a:t>
            </a:r>
            <a:r>
              <a:rPr sz="2300" spc="-40" dirty="0">
                <a:latin typeface="Adobe Clean"/>
                <a:cs typeface="Adobe Clean"/>
              </a:rPr>
              <a:t>they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sz="2300" spc="-50" dirty="0">
                <a:latin typeface="Adobe Clean"/>
                <a:cs typeface="Adobe Clean"/>
              </a:rPr>
              <a:t>gave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sz="2300" dirty="0">
                <a:latin typeface="Adobe Clean"/>
                <a:cs typeface="Adobe Clean"/>
              </a:rPr>
              <a:t>a</a:t>
            </a:r>
            <a:r>
              <a:rPr sz="2300" spc="-80" dirty="0">
                <a:latin typeface="Adobe Clean"/>
                <a:cs typeface="Adobe Clean"/>
              </a:rPr>
              <a:t> </a:t>
            </a:r>
            <a:r>
              <a:rPr sz="2300" spc="-40" dirty="0">
                <a:latin typeface="Adobe Clean"/>
                <a:cs typeface="Adobe Clean"/>
              </a:rPr>
              <a:t>clear</a:t>
            </a:r>
            <a:r>
              <a:rPr sz="2300" spc="-75" dirty="0">
                <a:latin typeface="Adobe Clean"/>
                <a:cs typeface="Adobe Clean"/>
              </a:rPr>
              <a:t> </a:t>
            </a:r>
            <a:r>
              <a:rPr sz="2300" spc="-10" dirty="0">
                <a:latin typeface="Adobe Clean"/>
                <a:cs typeface="Adobe Clean"/>
              </a:rPr>
              <a:t>signal.</a:t>
            </a:r>
            <a:endParaRPr sz="2300">
              <a:latin typeface="Adobe Clean"/>
              <a:cs typeface="Adobe Clean"/>
            </a:endParaRPr>
          </a:p>
          <a:p>
            <a:pPr marL="260985" marR="5080" indent="-248920">
              <a:spcBef>
                <a:spcPts val="315"/>
              </a:spcBef>
              <a:buFont typeface="Times New Roman"/>
              <a:buChar char="•"/>
              <a:tabLst>
                <a:tab pos="260985" algn="l"/>
              </a:tabLst>
            </a:pPr>
            <a:r>
              <a:rPr sz="2300" spc="-40" dirty="0">
                <a:latin typeface="Adobe Clean"/>
                <a:cs typeface="Adobe Clean"/>
              </a:rPr>
              <a:t>But</a:t>
            </a:r>
            <a:r>
              <a:rPr sz="2300" spc="-75" dirty="0">
                <a:latin typeface="Adobe Clean"/>
                <a:cs typeface="Adobe Clean"/>
              </a:rPr>
              <a:t> </a:t>
            </a:r>
            <a:r>
              <a:rPr sz="2300" spc="-25" dirty="0">
                <a:latin typeface="Adobe Clean"/>
                <a:cs typeface="Adobe Clean"/>
              </a:rPr>
              <a:t>“trustworthy”</a:t>
            </a:r>
            <a:r>
              <a:rPr sz="2300" spc="-70" dirty="0">
                <a:latin typeface="Adobe Clean"/>
                <a:cs typeface="Adobe Clean"/>
              </a:rPr>
              <a:t> </a:t>
            </a:r>
            <a:r>
              <a:rPr sz="2300" spc="-35" dirty="0">
                <a:latin typeface="Adobe Clean"/>
                <a:cs typeface="Adobe Clean"/>
              </a:rPr>
              <a:t>forecasts</a:t>
            </a:r>
            <a:r>
              <a:rPr sz="2300" spc="-70" dirty="0">
                <a:latin typeface="Adobe Clean"/>
                <a:cs typeface="Adobe Clean"/>
              </a:rPr>
              <a:t> </a:t>
            </a:r>
            <a:r>
              <a:rPr sz="2300" spc="-30" dirty="0">
                <a:latin typeface="Adobe Clean"/>
                <a:cs typeface="Adobe Clean"/>
              </a:rPr>
              <a:t>often</a:t>
            </a:r>
            <a:r>
              <a:rPr sz="2300" spc="-70" dirty="0">
                <a:latin typeface="Adobe Clean"/>
                <a:cs typeface="Adobe Clean"/>
              </a:rPr>
              <a:t> </a:t>
            </a:r>
            <a:r>
              <a:rPr sz="2300" spc="-45" dirty="0">
                <a:latin typeface="Adobe Clean"/>
                <a:cs typeface="Adobe Clean"/>
              </a:rPr>
              <a:t>aligned</a:t>
            </a:r>
            <a:r>
              <a:rPr sz="2300" spc="-70" dirty="0">
                <a:latin typeface="Adobe Clean"/>
                <a:cs typeface="Adobe Clean"/>
              </a:rPr>
              <a:t> </a:t>
            </a:r>
            <a:r>
              <a:rPr sz="2300" spc="-30" dirty="0">
                <a:latin typeface="Adobe Clean"/>
                <a:cs typeface="Adobe Clean"/>
              </a:rPr>
              <a:t>with</a:t>
            </a:r>
            <a:r>
              <a:rPr sz="2300" spc="-70" dirty="0">
                <a:latin typeface="Adobe Clean"/>
                <a:cs typeface="Adobe Clean"/>
              </a:rPr>
              <a:t> </a:t>
            </a:r>
            <a:r>
              <a:rPr sz="2300" spc="-30" dirty="0">
                <a:latin typeface="Adobe Clean"/>
                <a:cs typeface="Adobe Clean"/>
              </a:rPr>
              <a:t>observed</a:t>
            </a:r>
            <a:r>
              <a:rPr sz="2300" spc="-70" dirty="0">
                <a:latin typeface="Adobe Clean"/>
                <a:cs typeface="Adobe Clean"/>
              </a:rPr>
              <a:t> </a:t>
            </a:r>
            <a:r>
              <a:rPr lang="en-US" sz="2300" spc="-10">
                <a:latin typeface="Adobe Clean"/>
                <a:cs typeface="Adobe Clean"/>
              </a:rPr>
              <a:t>trends </a:t>
            </a:r>
            <a:r>
              <a:rPr lang="en-US" sz="2300" spc="-40">
                <a:latin typeface="Adobe Clean"/>
                <a:cs typeface="Adobe Clean"/>
              </a:rPr>
              <a:t>and</a:t>
            </a:r>
            <a:r>
              <a:rPr sz="2300" spc="-75" dirty="0">
                <a:latin typeface="Adobe Clean"/>
                <a:cs typeface="Adobe Clean"/>
              </a:rPr>
              <a:t> </a:t>
            </a:r>
            <a:r>
              <a:rPr sz="2300" spc="-10" dirty="0">
                <a:latin typeface="Adobe Clean"/>
                <a:cs typeface="Adobe Clean"/>
              </a:rPr>
              <a:t>media.</a:t>
            </a:r>
            <a:endParaRPr sz="2300">
              <a:latin typeface="Adobe Clean"/>
              <a:cs typeface="Adobe Clean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02127" y="649080"/>
            <a:ext cx="651313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200" spc="-110" dirty="0">
                <a:latin typeface="Adobe Clean Black"/>
                <a:cs typeface="Adobe Clean Black"/>
              </a:rPr>
              <a:t>Why</a:t>
            </a:r>
            <a:r>
              <a:rPr sz="4200" spc="-140" dirty="0">
                <a:latin typeface="Adobe Clean Black"/>
                <a:cs typeface="Adobe Clean Black"/>
              </a:rPr>
              <a:t> </a:t>
            </a:r>
            <a:r>
              <a:rPr sz="4200" spc="-65" dirty="0">
                <a:latin typeface="Adobe Clean Black"/>
                <a:cs typeface="Adobe Clean Black"/>
              </a:rPr>
              <a:t>Forecasts</a:t>
            </a:r>
            <a:r>
              <a:rPr sz="4200" spc="-135" dirty="0">
                <a:latin typeface="Adobe Clean Black"/>
                <a:cs typeface="Adobe Clean Black"/>
              </a:rPr>
              <a:t> </a:t>
            </a:r>
            <a:r>
              <a:rPr sz="4200" spc="-60" dirty="0">
                <a:latin typeface="Adobe Clean Black"/>
                <a:cs typeface="Adobe Clean Black"/>
              </a:rPr>
              <a:t>Are</a:t>
            </a:r>
            <a:r>
              <a:rPr sz="4200" spc="-135" dirty="0">
                <a:latin typeface="Adobe Clean Black"/>
                <a:cs typeface="Adobe Clean Black"/>
              </a:rPr>
              <a:t> </a:t>
            </a:r>
            <a:r>
              <a:rPr sz="4200" spc="-65" dirty="0">
                <a:latin typeface="Adobe Clean Black"/>
                <a:cs typeface="Adobe Clean Black"/>
              </a:rPr>
              <a:t>Tricky</a:t>
            </a:r>
            <a:endParaRPr sz="4200">
              <a:latin typeface="Adobe Clean Black"/>
              <a:cs typeface="Adobe Clean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72233" y="9851923"/>
            <a:ext cx="2588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dobe Clean"/>
                <a:cs typeface="Adobe Clean"/>
              </a:rPr>
              <a:t>©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2026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All Rights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Reserved.</a:t>
            </a:r>
            <a:r>
              <a:rPr sz="900" spc="-5" dirty="0">
                <a:latin typeface="Adobe Clean"/>
                <a:cs typeface="Adobe Clean"/>
              </a:rPr>
              <a:t> </a:t>
            </a:r>
            <a:r>
              <a:rPr sz="900" dirty="0">
                <a:latin typeface="Adobe Clean"/>
                <a:cs typeface="Adobe Clean"/>
              </a:rPr>
              <a:t>Adobe </a:t>
            </a:r>
            <a:r>
              <a:rPr sz="900" spc="-10" dirty="0">
                <a:latin typeface="Adobe Clean"/>
                <a:cs typeface="Adobe Clean"/>
              </a:rPr>
              <a:t>Confidential.</a:t>
            </a:r>
            <a:endParaRPr sz="900">
              <a:latin typeface="Adobe Clean"/>
              <a:cs typeface="Adobe Cle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42825" y="6083102"/>
            <a:ext cx="4885690" cy="3224601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spc="-75" dirty="0">
                <a:latin typeface="Adobe Clean"/>
                <a:cs typeface="Adobe Clean"/>
              </a:rPr>
              <a:t>Trust</a:t>
            </a:r>
            <a:r>
              <a:rPr sz="2600" b="1" spc="-95" dirty="0">
                <a:latin typeface="Adobe Clean"/>
                <a:cs typeface="Adobe Clean"/>
              </a:rPr>
              <a:t> </a:t>
            </a:r>
            <a:r>
              <a:rPr sz="2600" b="1" dirty="0">
                <a:latin typeface="Adobe Clean"/>
                <a:cs typeface="Adobe Clean"/>
              </a:rPr>
              <a:t>is</a:t>
            </a:r>
            <a:r>
              <a:rPr sz="2600" b="1" spc="-90" dirty="0">
                <a:latin typeface="Adobe Clean"/>
                <a:cs typeface="Adobe Clean"/>
              </a:rPr>
              <a:t> </a:t>
            </a:r>
            <a:r>
              <a:rPr sz="2600" b="1" spc="-40" dirty="0">
                <a:latin typeface="Adobe Clean"/>
                <a:cs typeface="Adobe Clean"/>
              </a:rPr>
              <a:t>more</a:t>
            </a:r>
            <a:r>
              <a:rPr sz="2600" b="1" spc="-90" dirty="0">
                <a:latin typeface="Adobe Clean"/>
                <a:cs typeface="Adobe Clean"/>
              </a:rPr>
              <a:t> </a:t>
            </a:r>
            <a:r>
              <a:rPr sz="2600" b="1" spc="-45" dirty="0">
                <a:latin typeface="Adobe Clean"/>
                <a:cs typeface="Adobe Clean"/>
              </a:rPr>
              <a:t>than</a:t>
            </a:r>
            <a:r>
              <a:rPr sz="2600" b="1" spc="-90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accuracy</a:t>
            </a:r>
            <a:endParaRPr sz="2600">
              <a:latin typeface="Adobe Clean"/>
              <a:cs typeface="Adobe Clean"/>
            </a:endParaRPr>
          </a:p>
          <a:p>
            <a:pPr marL="292735" marR="482600" indent="-280670"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dirty="0">
                <a:latin typeface="Adobe Clean"/>
                <a:cs typeface="Adobe Clean"/>
              </a:rPr>
              <a:t>A</a:t>
            </a:r>
            <a:r>
              <a:rPr sz="2600" spc="-90" dirty="0">
                <a:latin typeface="Adobe Clean"/>
                <a:cs typeface="Adobe Clean"/>
              </a:rPr>
              <a:t> </a:t>
            </a:r>
            <a:r>
              <a:rPr sz="2600" spc="-30" dirty="0">
                <a:latin typeface="Adobe Clean"/>
                <a:cs typeface="Adobe Clean"/>
              </a:rPr>
              <a:t>calm,</a:t>
            </a:r>
            <a:r>
              <a:rPr sz="2600" spc="-85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“just-</a:t>
            </a:r>
            <a:r>
              <a:rPr sz="2600" spc="-30" dirty="0">
                <a:latin typeface="Adobe Clean"/>
                <a:cs typeface="Adobe Clean"/>
              </a:rPr>
              <a:t>the-</a:t>
            </a:r>
            <a:r>
              <a:rPr sz="2600" spc="-60" dirty="0">
                <a:latin typeface="Adobe Clean"/>
                <a:cs typeface="Adobe Clean"/>
              </a:rPr>
              <a:t>data”</a:t>
            </a:r>
            <a:r>
              <a:rPr sz="2600" spc="-90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tone</a:t>
            </a:r>
            <a:r>
              <a:rPr sz="2600" spc="-85" dirty="0">
                <a:latin typeface="Adobe Clean"/>
                <a:cs typeface="Adobe Clean"/>
              </a:rPr>
              <a:t> </a:t>
            </a:r>
            <a:r>
              <a:rPr lang="en-US" sz="2600" spc="-25">
                <a:latin typeface="Adobe Clean"/>
                <a:cs typeface="Adobe Clean"/>
              </a:rPr>
              <a:t>can </a:t>
            </a:r>
            <a:r>
              <a:rPr lang="en-US" sz="2600" spc="-50">
                <a:latin typeface="Adobe Clean"/>
                <a:cs typeface="Adobe Clean"/>
              </a:rPr>
              <a:t>reduce</a:t>
            </a:r>
            <a:r>
              <a:rPr sz="2600" spc="-80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perceived</a:t>
            </a:r>
            <a:r>
              <a:rPr sz="2600" spc="-75" dirty="0">
                <a:latin typeface="Adobe Clean"/>
                <a:cs typeface="Adobe Clean"/>
              </a:rPr>
              <a:t> </a:t>
            </a:r>
            <a:r>
              <a:rPr sz="2600" spc="-45" dirty="0">
                <a:latin typeface="Adobe Clean"/>
                <a:cs typeface="Adobe Clean"/>
              </a:rPr>
              <a:t>hype</a:t>
            </a:r>
            <a:r>
              <a:rPr sz="2600" spc="-75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and</a:t>
            </a:r>
            <a:r>
              <a:rPr sz="2600" spc="-7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bias.</a:t>
            </a:r>
            <a:endParaRPr sz="2600">
              <a:latin typeface="Adobe Clean"/>
              <a:cs typeface="Adobe Clean"/>
            </a:endParaRPr>
          </a:p>
          <a:p>
            <a:pPr marL="292735" marR="5080" indent="-280670">
              <a:spcBef>
                <a:spcPts val="365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40" dirty="0">
                <a:latin typeface="Adobe Clean"/>
                <a:cs typeface="Adobe Clean"/>
              </a:rPr>
              <a:t>Forecasts</a:t>
            </a:r>
            <a:r>
              <a:rPr sz="2600" spc="-90" dirty="0">
                <a:latin typeface="Adobe Clean"/>
                <a:cs typeface="Adobe Clean"/>
              </a:rPr>
              <a:t> </a:t>
            </a:r>
            <a:r>
              <a:rPr sz="2600" spc="-30" dirty="0">
                <a:latin typeface="Adobe Clean"/>
                <a:cs typeface="Adobe Clean"/>
              </a:rPr>
              <a:t>must</a:t>
            </a:r>
            <a:r>
              <a:rPr sz="2600" spc="-90" dirty="0">
                <a:latin typeface="Adobe Clean"/>
                <a:cs typeface="Adobe Clean"/>
              </a:rPr>
              <a:t> </a:t>
            </a:r>
            <a:r>
              <a:rPr sz="2600" spc="-45" dirty="0">
                <a:latin typeface="Adobe Clean"/>
                <a:cs typeface="Adobe Clean"/>
              </a:rPr>
              <a:t>balance</a:t>
            </a:r>
            <a:r>
              <a:rPr sz="2600" spc="-90" dirty="0">
                <a:latin typeface="Adobe Clean"/>
                <a:cs typeface="Adobe Clean"/>
              </a:rPr>
              <a:t> </a:t>
            </a:r>
            <a:r>
              <a:rPr sz="2600" spc="-30">
                <a:latin typeface="Adobe Clean"/>
                <a:cs typeface="Adobe Clean"/>
              </a:rPr>
              <a:t>uncertainty,</a:t>
            </a:r>
            <a:r>
              <a:rPr lang="en-US" sz="2600" spc="-30" dirty="0">
                <a:latin typeface="Adobe Clean"/>
                <a:cs typeface="Adobe Clean"/>
              </a:rPr>
              <a:t> </a:t>
            </a:r>
            <a:r>
              <a:rPr sz="2600" spc="-45">
                <a:latin typeface="Adobe Clean"/>
                <a:cs typeface="Adobe Clean"/>
              </a:rPr>
              <a:t>clarity,</a:t>
            </a:r>
            <a:r>
              <a:rPr sz="2600" spc="-90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and</a:t>
            </a:r>
            <a:r>
              <a:rPr sz="2600" spc="-85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perceived</a:t>
            </a:r>
            <a:r>
              <a:rPr sz="2600" spc="-85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usefulness.</a:t>
            </a:r>
            <a:endParaRPr sz="2600">
              <a:latin typeface="Adobe Clean"/>
              <a:cs typeface="Adobe Cle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7492" y="6083239"/>
            <a:ext cx="4747895" cy="3224601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spc="-45" dirty="0">
                <a:latin typeface="Adobe Clean"/>
                <a:cs typeface="Adobe Clean"/>
              </a:rPr>
              <a:t>Design</a:t>
            </a:r>
            <a:r>
              <a:rPr sz="2600" b="1" spc="-105" dirty="0">
                <a:latin typeface="Adobe Clean"/>
                <a:cs typeface="Adobe Clean"/>
              </a:rPr>
              <a:t> </a:t>
            </a:r>
            <a:r>
              <a:rPr sz="2600" b="1" spc="-20" dirty="0">
                <a:latin typeface="Adobe Clean"/>
                <a:cs typeface="Adobe Clean"/>
              </a:rPr>
              <a:t>for</a:t>
            </a:r>
            <a:r>
              <a:rPr sz="2600" b="1" spc="-100" dirty="0">
                <a:latin typeface="Adobe Clean"/>
                <a:cs typeface="Adobe Clean"/>
              </a:rPr>
              <a:t> </a:t>
            </a:r>
            <a:r>
              <a:rPr sz="2600" b="1" spc="-40" dirty="0">
                <a:latin typeface="Adobe Clean"/>
                <a:cs typeface="Adobe Clean"/>
              </a:rPr>
              <a:t>real</a:t>
            </a:r>
            <a:r>
              <a:rPr sz="2600" b="1" spc="-100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audiences</a:t>
            </a:r>
            <a:endParaRPr sz="2600">
              <a:latin typeface="Adobe Clean"/>
              <a:cs typeface="Adobe Clean"/>
            </a:endParaRPr>
          </a:p>
          <a:p>
            <a:pPr marL="292735" marR="5080" indent="-280670"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30" dirty="0">
                <a:latin typeface="Adobe Clean"/>
                <a:cs typeface="Adobe Clean"/>
              </a:rPr>
              <a:t>Assume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30" dirty="0">
                <a:latin typeface="Adobe Clean"/>
                <a:cs typeface="Adobe Clean"/>
              </a:rPr>
              <a:t>viewers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bring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prior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10">
                <a:latin typeface="Adobe Clean"/>
                <a:cs typeface="Adobe Clean"/>
              </a:rPr>
              <a:t>beliefs, </a:t>
            </a:r>
            <a:r>
              <a:rPr sz="2600" spc="-40">
                <a:latin typeface="Adobe Clean"/>
                <a:cs typeface="Adobe Clean"/>
              </a:rPr>
              <a:t>emotions,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and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other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lang="en-US" sz="2600" spc="-10">
                <a:latin typeface="Adobe Clean"/>
                <a:cs typeface="Adobe Clean"/>
              </a:rPr>
              <a:t>media narratives</a:t>
            </a:r>
            <a:r>
              <a:rPr sz="2600" spc="-10" dirty="0">
                <a:latin typeface="Adobe Clean"/>
                <a:cs typeface="Adobe Clean"/>
              </a:rPr>
              <a:t>.</a:t>
            </a:r>
            <a:endParaRPr sz="2600" dirty="0">
              <a:latin typeface="Adobe Clean"/>
              <a:cs typeface="Adobe Clean"/>
            </a:endParaRPr>
          </a:p>
          <a:p>
            <a:pPr marL="292735" marR="218440" indent="-280670">
              <a:lnSpc>
                <a:spcPct val="100000"/>
              </a:lnSpc>
              <a:spcBef>
                <a:spcPts val="375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30" dirty="0">
                <a:latin typeface="Adobe Clean"/>
                <a:cs typeface="Adobe Clean"/>
              </a:rPr>
              <a:t>Support</a:t>
            </a:r>
            <a:r>
              <a:rPr sz="2600" spc="-110" dirty="0">
                <a:latin typeface="Adobe Clean"/>
                <a:cs typeface="Adobe Clean"/>
              </a:rPr>
              <a:t> </a:t>
            </a:r>
            <a:r>
              <a:rPr sz="2600" spc="-45" dirty="0">
                <a:latin typeface="Adobe Clean"/>
                <a:cs typeface="Adobe Clean"/>
              </a:rPr>
              <a:t>agency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dirty="0">
                <a:latin typeface="Adobe Clean"/>
                <a:cs typeface="Adobe Clean"/>
              </a:rPr>
              <a:t>by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45" dirty="0">
                <a:latin typeface="Adobe Clean"/>
                <a:cs typeface="Adobe Clean"/>
              </a:rPr>
              <a:t>letting</a:t>
            </a:r>
            <a:r>
              <a:rPr sz="2600" spc="-105" dirty="0">
                <a:latin typeface="Adobe Clean"/>
                <a:cs typeface="Adobe Clean"/>
              </a:rPr>
              <a:t> </a:t>
            </a:r>
            <a:r>
              <a:rPr sz="2600" spc="-20">
                <a:latin typeface="Adobe Clean"/>
                <a:cs typeface="Adobe Clean"/>
              </a:rPr>
              <a:t>people </a:t>
            </a:r>
            <a:r>
              <a:rPr sz="2600" spc="-35">
                <a:latin typeface="Adobe Clean"/>
                <a:cs typeface="Adobe Clean"/>
              </a:rPr>
              <a:t>check</a:t>
            </a:r>
            <a:r>
              <a:rPr sz="2600" spc="-114" dirty="0">
                <a:latin typeface="Adobe Clean"/>
                <a:cs typeface="Adobe Clean"/>
              </a:rPr>
              <a:t> </a:t>
            </a:r>
            <a:r>
              <a:rPr sz="2600" spc="-30" dirty="0">
                <a:latin typeface="Adobe Clean"/>
                <a:cs typeface="Adobe Clean"/>
              </a:rPr>
              <a:t>results</a:t>
            </a:r>
            <a:r>
              <a:rPr sz="2600" spc="-114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on</a:t>
            </a:r>
            <a:r>
              <a:rPr sz="2600" spc="-114" dirty="0">
                <a:latin typeface="Adobe Clean"/>
                <a:cs typeface="Adobe Clean"/>
              </a:rPr>
              <a:t> </a:t>
            </a:r>
            <a:r>
              <a:rPr sz="2600" spc="-35" dirty="0">
                <a:latin typeface="Adobe Clean"/>
                <a:cs typeface="Adobe Clean"/>
              </a:rPr>
              <a:t>their</a:t>
            </a:r>
            <a:r>
              <a:rPr sz="2600" spc="-114" dirty="0">
                <a:latin typeface="Adobe Clean"/>
                <a:cs typeface="Adobe Clean"/>
              </a:rPr>
              <a:t> </a:t>
            </a:r>
            <a:r>
              <a:rPr sz="2600" spc="-20" dirty="0">
                <a:latin typeface="Adobe Clean"/>
                <a:cs typeface="Adobe Clean"/>
              </a:rPr>
              <a:t>own</a:t>
            </a:r>
            <a:r>
              <a:rPr sz="2600" spc="-114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terms.</a:t>
            </a:r>
            <a:endParaRPr sz="2600">
              <a:latin typeface="Adobe Clean"/>
              <a:cs typeface="Adobe Cle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167" y="6083237"/>
            <a:ext cx="4890135" cy="2809875"/>
          </a:xfrm>
          <a:prstGeom prst="rect">
            <a:avLst/>
          </a:prstGeom>
        </p:spPr>
        <p:txBody>
          <a:bodyPr vert="horz" wrap="square" lIns="0" tIns="191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600" b="1" spc="-45" dirty="0">
                <a:latin typeface="Adobe Clean"/>
                <a:cs typeface="Adobe Clean"/>
              </a:rPr>
              <a:t>Lead</a:t>
            </a:r>
            <a:r>
              <a:rPr sz="2600" b="1" spc="-100" dirty="0">
                <a:latin typeface="Adobe Clean"/>
                <a:cs typeface="Adobe Clean"/>
              </a:rPr>
              <a:t> </a:t>
            </a:r>
            <a:r>
              <a:rPr sz="2600" b="1" spc="-35" dirty="0">
                <a:latin typeface="Adobe Clean"/>
                <a:cs typeface="Adobe Clean"/>
              </a:rPr>
              <a:t>with</a:t>
            </a:r>
            <a:r>
              <a:rPr sz="2600" b="1" spc="-100" dirty="0">
                <a:latin typeface="Adobe Clean"/>
                <a:cs typeface="Adobe Clean"/>
              </a:rPr>
              <a:t> </a:t>
            </a:r>
            <a:r>
              <a:rPr sz="2600" b="1" spc="-50" dirty="0">
                <a:latin typeface="Adobe Clean"/>
                <a:cs typeface="Adobe Clean"/>
              </a:rPr>
              <a:t>what</a:t>
            </a:r>
            <a:r>
              <a:rPr sz="2600" b="1" spc="-100" dirty="0">
                <a:latin typeface="Adobe Clean"/>
                <a:cs typeface="Adobe Clean"/>
              </a:rPr>
              <a:t> </a:t>
            </a:r>
            <a:r>
              <a:rPr sz="2600" b="1" dirty="0">
                <a:latin typeface="Adobe Clean"/>
                <a:cs typeface="Adobe Clean"/>
              </a:rPr>
              <a:t>is</a:t>
            </a:r>
            <a:r>
              <a:rPr sz="2600" b="1" spc="-95" dirty="0">
                <a:latin typeface="Adobe Clean"/>
                <a:cs typeface="Adobe Clean"/>
              </a:rPr>
              <a:t> </a:t>
            </a:r>
            <a:r>
              <a:rPr sz="2600" b="1" spc="-10" dirty="0">
                <a:latin typeface="Adobe Clean"/>
                <a:cs typeface="Adobe Clean"/>
              </a:rPr>
              <a:t>unknown</a:t>
            </a:r>
            <a:endParaRPr sz="2600">
              <a:latin typeface="Adobe Clean"/>
              <a:cs typeface="Adobe Clean"/>
            </a:endParaRPr>
          </a:p>
          <a:p>
            <a:pPr marL="292735" marR="412750" indent="-280670">
              <a:spcBef>
                <a:spcPts val="14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45" dirty="0">
                <a:latin typeface="Adobe Clean"/>
                <a:cs typeface="Adobe Clean"/>
              </a:rPr>
              <a:t>Make</a:t>
            </a:r>
            <a:r>
              <a:rPr sz="2600" spc="-90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partial</a:t>
            </a:r>
            <a:r>
              <a:rPr sz="2600" spc="-90" dirty="0">
                <a:latin typeface="Adobe Clean"/>
                <a:cs typeface="Adobe Clean"/>
              </a:rPr>
              <a:t> </a:t>
            </a:r>
            <a:r>
              <a:rPr sz="2600" spc="-45" dirty="0">
                <a:latin typeface="Adobe Clean"/>
                <a:cs typeface="Adobe Clean"/>
              </a:rPr>
              <a:t>data</a:t>
            </a:r>
            <a:r>
              <a:rPr sz="2600" spc="-85" dirty="0">
                <a:latin typeface="Adobe Clean"/>
                <a:cs typeface="Adobe Clean"/>
              </a:rPr>
              <a:t> </a:t>
            </a:r>
            <a:r>
              <a:rPr sz="2600" spc="-40" dirty="0">
                <a:latin typeface="Adobe Clean"/>
                <a:cs typeface="Adobe Clean"/>
              </a:rPr>
              <a:t>and</a:t>
            </a:r>
            <a:r>
              <a:rPr sz="2600" spc="-90" dirty="0">
                <a:latin typeface="Adobe Clean"/>
                <a:cs typeface="Adobe Clean"/>
              </a:rPr>
              <a:t> </a:t>
            </a:r>
            <a:r>
              <a:rPr sz="2600" spc="-45">
                <a:latin typeface="Adobe Clean"/>
                <a:cs typeface="Adobe Clean"/>
              </a:rPr>
              <a:t>remaining </a:t>
            </a:r>
            <a:r>
              <a:rPr sz="2600" spc="-30">
                <a:latin typeface="Adobe Clean"/>
                <a:cs typeface="Adobe Clean"/>
              </a:rPr>
              <a:t>work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45" dirty="0">
                <a:latin typeface="Adobe Clean"/>
                <a:cs typeface="Adobe Clean"/>
              </a:rPr>
              <a:t>visible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30" dirty="0">
                <a:latin typeface="Adobe Clean"/>
                <a:cs typeface="Adobe Clean"/>
              </a:rPr>
              <a:t>before</a:t>
            </a:r>
            <a:r>
              <a:rPr sz="2600" spc="-95">
                <a:latin typeface="Adobe Clean"/>
                <a:cs typeface="Adobe Clean"/>
              </a:rPr>
              <a:t> </a:t>
            </a:r>
            <a:r>
              <a:rPr lang="en-US" sz="2600" spc="-10">
                <a:latin typeface="Adobe Clean"/>
                <a:cs typeface="Adobe Clean"/>
              </a:rPr>
              <a:t>drawing conclusions</a:t>
            </a:r>
            <a:r>
              <a:rPr sz="2600" spc="-10" dirty="0">
                <a:latin typeface="Adobe Clean"/>
                <a:cs typeface="Adobe Clean"/>
              </a:rPr>
              <a:t>.</a:t>
            </a:r>
            <a:endParaRPr sz="2600" dirty="0">
              <a:latin typeface="Adobe Clean"/>
              <a:cs typeface="Adobe Clean"/>
            </a:endParaRPr>
          </a:p>
          <a:p>
            <a:pPr marL="292735" marR="5080" indent="-280670">
              <a:spcBef>
                <a:spcPts val="375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2600" spc="-95" dirty="0">
                <a:latin typeface="Adobe Clean"/>
                <a:cs typeface="Adobe Clean"/>
              </a:rPr>
              <a:t>Treat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30" dirty="0">
                <a:latin typeface="Adobe Clean"/>
                <a:cs typeface="Adobe Clean"/>
              </a:rPr>
              <a:t>early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45" dirty="0">
                <a:latin typeface="Adobe Clean"/>
                <a:cs typeface="Adobe Clean"/>
              </a:rPr>
              <a:t>patterns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35" dirty="0">
                <a:latin typeface="Adobe Clean"/>
                <a:cs typeface="Adobe Clean"/>
              </a:rPr>
              <a:t>as</a:t>
            </a:r>
            <a:r>
              <a:rPr sz="2600" spc="-95" dirty="0">
                <a:latin typeface="Adobe Clean"/>
                <a:cs typeface="Adobe Clean"/>
              </a:rPr>
              <a:t> </a:t>
            </a:r>
            <a:r>
              <a:rPr sz="2600" spc="-45">
                <a:latin typeface="Adobe Clean"/>
                <a:cs typeface="Adobe Clean"/>
              </a:rPr>
              <a:t>tentative, </a:t>
            </a:r>
            <a:r>
              <a:rPr lang="en-US" sz="2600" spc="-95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and </a:t>
            </a:r>
            <a:r>
              <a:rPr sz="2600" spc="-40" dirty="0">
                <a:latin typeface="Adobe Clean"/>
                <a:cs typeface="Adobe Clean"/>
              </a:rPr>
              <a:t>explain</a:t>
            </a:r>
            <a:r>
              <a:rPr sz="2600" spc="-114" dirty="0">
                <a:latin typeface="Adobe Clean"/>
                <a:cs typeface="Adobe Clean"/>
              </a:rPr>
              <a:t> </a:t>
            </a:r>
            <a:r>
              <a:rPr sz="2600" spc="-50" dirty="0">
                <a:latin typeface="Adobe Clean"/>
                <a:cs typeface="Adobe Clean"/>
              </a:rPr>
              <a:t>why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25" dirty="0">
                <a:latin typeface="Adobe Clean"/>
                <a:cs typeface="Adobe Clean"/>
              </a:rPr>
              <a:t>they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55" dirty="0">
                <a:latin typeface="Adobe Clean"/>
                <a:cs typeface="Adobe Clean"/>
              </a:rPr>
              <a:t>may</a:t>
            </a:r>
            <a:r>
              <a:rPr sz="2600" spc="-100" dirty="0">
                <a:latin typeface="Adobe Clean"/>
                <a:cs typeface="Adobe Clean"/>
              </a:rPr>
              <a:t> </a:t>
            </a:r>
            <a:r>
              <a:rPr sz="2600" spc="-10" dirty="0">
                <a:latin typeface="Adobe Clean"/>
                <a:cs typeface="Adobe Clean"/>
              </a:rPr>
              <a:t>shift.</a:t>
            </a:r>
            <a:endParaRPr sz="2600">
              <a:latin typeface="Adobe Clean"/>
              <a:cs typeface="Adobe Cle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5537" y="2206883"/>
            <a:ext cx="4893360" cy="37571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0187" y="2206883"/>
            <a:ext cx="4893360" cy="37571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875" y="2206883"/>
            <a:ext cx="4893348" cy="3757163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30" dirty="0"/>
              <a:t>Takeaways</a:t>
            </a:r>
            <a:r>
              <a:rPr spc="-135" dirty="0"/>
              <a:t> </a:t>
            </a:r>
            <a:r>
              <a:rPr spc="-80" dirty="0"/>
              <a:t>Beyond</a:t>
            </a:r>
            <a:r>
              <a:rPr spc="-130" dirty="0"/>
              <a:t> </a:t>
            </a:r>
            <a:r>
              <a:rPr spc="-55" dirty="0"/>
              <a:t>the</a:t>
            </a:r>
            <a:r>
              <a:rPr spc="-130" dirty="0"/>
              <a:t> </a:t>
            </a:r>
            <a:r>
              <a:rPr spc="-20" dirty="0"/>
              <a:t>U.S.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Designing Election Dashboards for Trust</vt:lpstr>
      <vt:lpstr>Agenda</vt:lpstr>
      <vt:lpstr>Background and Problem</vt:lpstr>
      <vt:lpstr>Why This Study Matters</vt:lpstr>
      <vt:lpstr>The U.S. Context</vt:lpstr>
      <vt:lpstr>What Problem They Addressed</vt:lpstr>
      <vt:lpstr>Design and Study Execution</vt:lpstr>
      <vt:lpstr>The Design Strategy</vt:lpstr>
      <vt:lpstr>What the Dashboard Added</vt:lpstr>
      <vt:lpstr>How the Study Ran</vt:lpstr>
      <vt:lpstr>Findings and Insights</vt:lpstr>
      <vt:lpstr>What Surveys Suggest</vt:lpstr>
      <vt:lpstr>What Interviews Revealed</vt:lpstr>
      <vt:lpstr>Why Forecasts Are Tricky</vt:lpstr>
      <vt:lpstr>Takeaways Beyond the U.S.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106</cp:revision>
  <dcterms:created xsi:type="dcterms:W3CDTF">2026-07-08T22:45:48Z</dcterms:created>
  <dcterms:modified xsi:type="dcterms:W3CDTF">2026-07-20T19:42:43Z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2026-07-08T00:00:00Z</vt:filetime>
  </property>
  <property fmtid="{D5CDD505-2E9C-101B-9397-08002B2CF9AE}" pid="4" name="CreationClient">
    <vt:lpwstr>outline-to-presentation</vt:lpwstr>
  </property>
  <property fmtid="{D5CDD505-2E9C-101B-9397-08002B2CF9AE}" pid="5" name="Creator">
    <vt:lpwstr>Adobe Express</vt:lpwstr>
  </property>
  <property fmtid="{D5CDD505-2E9C-101B-9397-08002B2CF9AE}" pid="6" name="LastSaved">
    <vt:filetime>2026-07-08T00:00:00Z</vt:filetime>
  </property>
  <property fmtid="{D5CDD505-2E9C-101B-9397-08002B2CF9AE}" pid="7" name="Producer">
    <vt:lpwstr>Adobe Express</vt:lpwstr>
  </property>
</Properties>
</file>